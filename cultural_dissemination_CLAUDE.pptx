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209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0235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2A5BAD">
              <a:alpha val="30000"/>
            </a:srgbClr>
          </a:solidFill>
          <a:ln w="12700">
            <a:solidFill>
              <a:srgbClr val="2A5BAD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286000"/>
            <a:ext cx="2286000" cy="2286000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SYSTEMS  •  AGENT-BASED MODELING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86868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Cultural Dissemination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8D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Agent-Based Model with Social Influence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C8D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Extended Interaction Rules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85800" y="2606040"/>
            <a:ext cx="594360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743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on: Nguyen et al. (2021) — JASSS 24(4)5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Dissemination: An Agent-Based Model with Social Influence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Sriraj  |  Complex Systems  •  IIST Trivandrum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566928"/>
          </a:xfrm>
          <a:prstGeom prst="rect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study cultural dissemination computationally?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26517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1887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🌐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143000" y="1874520"/>
            <a:ext cx="100584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99339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Cultural Spread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450592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Ideas, opinions and cultural traits propagate through societies via peer interactions — a fundamental feature of human civilization.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46120" y="1051560"/>
            <a:ext cx="26517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46120" y="11887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🔗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069080" y="1874520"/>
            <a:ext cx="100584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99339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Influence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450592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don't just copy neighbors blindly; they weigh local consensus. Neighborhood context shapes whether change occurs.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1051560"/>
            <a:ext cx="26517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72200" y="11887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📡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6995160" y="1874520"/>
            <a:ext cx="100584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99339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Stakes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55080" y="2450592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Polarization, echo chambers, radicalization — these emergent phenomena arise from simple local interaction rules.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0040" y="45262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replicates two baseline models and introduces two novel extensions to explore how interaction rules shape cultural outcomes.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566928"/>
          </a:xfrm>
          <a:prstGeom prst="rect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Background: The Axelrod Model (1997)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principles: Homophily + Assimilation → Absorbing states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45720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789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5B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Concepts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429768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on 2D grid, each with F features, each feature taking one of Q traits
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Homophily: interaction probability ∝ fraction of shared features
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Assimilation: when agents interact, one adopts the other's trait on a random unshared feature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Absorbing state: regions of identical agents, no further interaction possible — the system "freezes"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74920" y="1005840"/>
            <a:ext cx="3749040" cy="3383280"/>
          </a:xfrm>
          <a:prstGeom prst="rect">
            <a:avLst/>
          </a:prstGeom>
          <a:solidFill>
            <a:srgbClr val="EEF3FA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212080" y="10789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5B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Von Neumann Neighborhood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23560" y="1508760"/>
            <a:ext cx="448056" cy="448056"/>
          </a:xfrm>
          <a:prstGeom prst="rect">
            <a:avLst/>
          </a:prstGeom>
          <a:solidFill>
            <a:srgbClr val="E0E8F4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9048" y="1508760"/>
            <a:ext cx="448056" cy="448056"/>
          </a:xfrm>
          <a:prstGeom prst="rect">
            <a:avLst/>
          </a:prstGeom>
          <a:solidFill>
            <a:srgbClr val="E0E8F4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74536" y="1508760"/>
            <a:ext cx="448056" cy="448056"/>
          </a:xfrm>
          <a:prstGeom prst="rect">
            <a:avLst/>
          </a:prstGeom>
          <a:solidFill>
            <a:srgbClr val="E0E8F4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50024" y="1508760"/>
            <a:ext cx="448056" cy="448056"/>
          </a:xfrm>
          <a:prstGeom prst="rect">
            <a:avLst/>
          </a:prstGeom>
          <a:solidFill>
            <a:srgbClr val="E0E8F4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25512" y="1508760"/>
            <a:ext cx="448056" cy="448056"/>
          </a:xfrm>
          <a:prstGeom prst="rect">
            <a:avLst/>
          </a:prstGeom>
          <a:solidFill>
            <a:srgbClr val="E0E8F4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23560" y="1984248"/>
            <a:ext cx="448056" cy="448056"/>
          </a:xfrm>
          <a:prstGeom prst="rect">
            <a:avLst/>
          </a:prstGeom>
          <a:solidFill>
            <a:srgbClr val="E0E8F4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9048" y="1984248"/>
            <a:ext cx="448056" cy="448056"/>
          </a:xfrm>
          <a:prstGeom prst="rect">
            <a:avLst/>
          </a:prstGeom>
          <a:solidFill>
            <a:srgbClr val="E0E8F4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74536" y="1984248"/>
            <a:ext cx="448056" cy="448056"/>
          </a:xfrm>
          <a:prstGeom prst="rect">
            <a:avLst/>
          </a:prstGeom>
          <a:solidFill>
            <a:srgbClr val="F5A623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50024" y="1984248"/>
            <a:ext cx="448056" cy="448056"/>
          </a:xfrm>
          <a:prstGeom prst="rect">
            <a:avLst/>
          </a:prstGeom>
          <a:solidFill>
            <a:srgbClr val="E0E8F4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25512" y="1984248"/>
            <a:ext cx="448056" cy="448056"/>
          </a:xfrm>
          <a:prstGeom prst="rect">
            <a:avLst/>
          </a:prstGeom>
          <a:solidFill>
            <a:srgbClr val="E0E8F4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23560" y="2459736"/>
            <a:ext cx="448056" cy="448056"/>
          </a:xfrm>
          <a:prstGeom prst="rect">
            <a:avLst/>
          </a:prstGeom>
          <a:solidFill>
            <a:srgbClr val="E0E8F4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99048" y="2459736"/>
            <a:ext cx="448056" cy="448056"/>
          </a:xfrm>
          <a:prstGeom prst="rect">
            <a:avLst/>
          </a:prstGeom>
          <a:solidFill>
            <a:srgbClr val="F5A623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74536" y="2459736"/>
            <a:ext cx="448056" cy="448056"/>
          </a:xfrm>
          <a:prstGeom prst="rect">
            <a:avLst/>
          </a:prstGeom>
          <a:solidFill>
            <a:srgbClr val="111C3A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50024" y="2459736"/>
            <a:ext cx="448056" cy="448056"/>
          </a:xfrm>
          <a:prstGeom prst="rect">
            <a:avLst/>
          </a:prstGeom>
          <a:solidFill>
            <a:srgbClr val="F5A623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25512" y="2459736"/>
            <a:ext cx="448056" cy="448056"/>
          </a:xfrm>
          <a:prstGeom prst="rect">
            <a:avLst/>
          </a:prstGeom>
          <a:solidFill>
            <a:srgbClr val="E0E8F4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23560" y="2935224"/>
            <a:ext cx="448056" cy="448056"/>
          </a:xfrm>
          <a:prstGeom prst="rect">
            <a:avLst/>
          </a:prstGeom>
          <a:solidFill>
            <a:srgbClr val="E0E8F4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99048" y="2935224"/>
            <a:ext cx="448056" cy="448056"/>
          </a:xfrm>
          <a:prstGeom prst="rect">
            <a:avLst/>
          </a:prstGeom>
          <a:solidFill>
            <a:srgbClr val="E0E8F4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74536" y="2935224"/>
            <a:ext cx="448056" cy="448056"/>
          </a:xfrm>
          <a:prstGeom prst="rect">
            <a:avLst/>
          </a:prstGeom>
          <a:solidFill>
            <a:srgbClr val="F5A623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50024" y="2935224"/>
            <a:ext cx="448056" cy="448056"/>
          </a:xfrm>
          <a:prstGeom prst="rect">
            <a:avLst/>
          </a:prstGeom>
          <a:solidFill>
            <a:srgbClr val="E0E8F4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25512" y="2935224"/>
            <a:ext cx="448056" cy="448056"/>
          </a:xfrm>
          <a:prstGeom prst="rect">
            <a:avLst/>
          </a:prstGeom>
          <a:solidFill>
            <a:srgbClr val="E0E8F4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23560" y="3410712"/>
            <a:ext cx="448056" cy="448056"/>
          </a:xfrm>
          <a:prstGeom prst="rect">
            <a:avLst/>
          </a:prstGeom>
          <a:solidFill>
            <a:srgbClr val="E0E8F4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99048" y="3410712"/>
            <a:ext cx="448056" cy="448056"/>
          </a:xfrm>
          <a:prstGeom prst="rect">
            <a:avLst/>
          </a:prstGeom>
          <a:solidFill>
            <a:srgbClr val="E0E8F4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74536" y="3410712"/>
            <a:ext cx="448056" cy="448056"/>
          </a:xfrm>
          <a:prstGeom prst="rect">
            <a:avLst/>
          </a:prstGeom>
          <a:solidFill>
            <a:srgbClr val="E0E8F4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50024" y="3410712"/>
            <a:ext cx="448056" cy="448056"/>
          </a:xfrm>
          <a:prstGeom prst="rect">
            <a:avLst/>
          </a:prstGeom>
          <a:solidFill>
            <a:srgbClr val="E0E8F4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25512" y="3410712"/>
            <a:ext cx="448056" cy="448056"/>
          </a:xfrm>
          <a:prstGeom prst="rect">
            <a:avLst/>
          </a:prstGeom>
          <a:solidFill>
            <a:srgbClr val="E0E8F4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3977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Agent   ■ Neighbors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74920" y="4160520"/>
            <a:ext cx="3749040" cy="502920"/>
          </a:xfrm>
          <a:prstGeom prst="rect">
            <a:avLst/>
          </a:prstGeom>
          <a:solidFill>
            <a:srgbClr val="E8EFF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6360" y="42062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5B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P(i,j) = overlap(i,j) / F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566928"/>
          </a:xfrm>
          <a:prstGeom prst="rect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the Axelrod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 in the baseline?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4160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" y="1216152"/>
            <a:ext cx="457200" cy="457200"/>
          </a:xfrm>
          <a:prstGeom prst="ellipse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216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33272" y="12161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Pairwise Interaction Only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" y="160020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considers only one neighbor at a time. The broader local consensus has no effect on whether a trait is adopted.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4160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28032" y="1216152"/>
            <a:ext cx="457200" cy="457200"/>
          </a:xfrm>
          <a:prstGeom prst="ellipse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12161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76672" y="12161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Neighborhood Influence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28032" y="160020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agent i is surrounded by 4 neighbors all sharing trait q, it still adopts neighbor j's trait with probability 1 if they interact — ignoring the majority view.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880360"/>
            <a:ext cx="4160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" y="3044952"/>
            <a:ext cx="457200" cy="457200"/>
          </a:xfrm>
          <a:prstGeom prst="ellipse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3044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33272" y="30449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Monotone Convergence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" y="342900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grid size leads to fewer frozen zones, eventually producing a mono-culture — counter-intuitive given real-world persistent diversity.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2880360"/>
            <a:ext cx="4160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28032" y="3044952"/>
            <a:ext cx="457200" cy="457200"/>
          </a:xfrm>
          <a:prstGeom prst="ellipse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3044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76672" y="30449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One-to-One Communication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28032" y="342900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societies involve 'many-to-one' influence: what your entire social circle believes shapes your opinion, not just one interaction partner.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0040" y="4709160"/>
            <a:ext cx="8503920" cy="246888"/>
          </a:xfrm>
          <a:prstGeom prst="rect">
            <a:avLst/>
          </a:prstGeom>
          <a:solidFill>
            <a:srgbClr val="FFF3E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727448"/>
            <a:ext cx="83210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Social Influence Model addresses these limitations by incorporating neighborhood-level trait support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566928"/>
          </a:xfrm>
          <a:prstGeom prst="rect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Influence Model (Baseline)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Nguyen et al., JASSS 2021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502920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7899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5B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Modification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agent i automatically adopting neighbor j's trait on interaction, agent i now surveys its local neighborhood and computes a switching probability.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4663440" cy="1005840"/>
          </a:xfrm>
          <a:prstGeom prst="rect">
            <a:avLst/>
          </a:prstGeom>
          <a:solidFill>
            <a:srgbClr val="EBF0FB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860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5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Probability: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57860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C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Q(i→j) = O_i(σ_j) / [O_i(σ_i) + O_i(σ_j)]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27355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O_i(σ) = count of neighbors of i sharing trait σ (including i itself)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639312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switch probability if agent is in the majority
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switch probability if agent is an outlier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Probabilistic: some 'stubbornness' is built 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32120" y="1005840"/>
            <a:ext cx="3291840" cy="3520440"/>
          </a:xfrm>
          <a:prstGeom prst="rect">
            <a:avLst/>
          </a:prstGeom>
          <a:solidFill>
            <a:srgbClr val="EEF3FA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0" y="107899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5B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Result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0" y="1572768"/>
            <a:ext cx="3017520" cy="1051560"/>
          </a:xfrm>
          <a:prstGeom prst="rect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1682496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~8.0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715000" y="223113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frozen zones (SI)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0" y="2807208"/>
            <a:ext cx="3017520" cy="1051560"/>
          </a:xfrm>
          <a:prstGeom prst="rect">
            <a:avLst/>
          </a:prstGeom>
          <a:solidFill>
            <a:srgbClr val="E8EFF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0" y="2916936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A5B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~1.3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715000" y="346557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frozen zones (Axelrod)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0" y="407822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30×30 grid, F=5, Q=10, 100 runs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0" y="43434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9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Social Influence amplifies cultural heterogeneity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566928"/>
          </a:xfrm>
          <a:prstGeom prst="rect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Algorithm: Baseline Social Influence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update procedure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41605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" y="1353312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353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9848" y="111556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Event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69848" y="146304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pick agent i and one of its neighbors j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395728" y="2148840"/>
            <a:ext cx="0" cy="155448"/>
          </a:xfrm>
          <a:prstGeom prst="line">
            <a:avLst/>
          </a:prstGeom>
          <a:noFill/>
          <a:ln w="19050">
            <a:solidFill>
              <a:srgbClr val="2A5BA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005840"/>
            <a:ext cx="41605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82312" y="1353312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2312" y="1353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67528" y="111556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Overlap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67528" y="146304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interaction probability P(i,j) = overlap(i,j) / F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693408" y="2148840"/>
            <a:ext cx="0" cy="155448"/>
          </a:xfrm>
          <a:prstGeom prst="line">
            <a:avLst/>
          </a:prstGeom>
          <a:noFill/>
          <a:ln w="19050">
            <a:solidFill>
              <a:srgbClr val="2A5BA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304288"/>
            <a:ext cx="41605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" y="265176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69848" y="2414016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Interaction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69848" y="276148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random number. If interaction occurs, pick a random unshared feature f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395728" y="3447288"/>
            <a:ext cx="0" cy="155448"/>
          </a:xfrm>
          <a:prstGeom prst="line">
            <a:avLst/>
          </a:prstGeom>
          <a:noFill/>
          <a:ln w="19050">
            <a:solidFill>
              <a:srgbClr val="2A5BA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2304288"/>
            <a:ext cx="41605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82312" y="265176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82312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67528" y="2414016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Survey Neighborhood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67528" y="276148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O_i(σ_i^f) and O_i(σ_j^f) in i's full neighborhood (including i)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693408" y="3447288"/>
            <a:ext cx="0" cy="155448"/>
          </a:xfrm>
          <a:prstGeom prst="line">
            <a:avLst/>
          </a:prstGeom>
          <a:noFill/>
          <a:ln w="19050">
            <a:solidFill>
              <a:srgbClr val="2A5BA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602736"/>
            <a:ext cx="41605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" y="3950208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" y="3950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69848" y="3712464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Q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69848" y="4059936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probability Q = O_i(σ_j^f) / [O_i(σ_i^f) + O_i(σ_j^f)]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617720" y="3602736"/>
            <a:ext cx="41605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82312" y="3950208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82312" y="3950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367528" y="3712464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67528" y="4059936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 adopts σ_j^f with probability Q. Repeat until absorbing state.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solidFill>
            <a:srgbClr val="E8F0FB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773168"/>
            <a:ext cx="83210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5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loop runs until an absorbing state is reached — no further trait switches are possible across any active link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566928"/>
          </a:xfrm>
          <a:prstGeom prst="rect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parameters, runs, and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416052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789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5B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Parameters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3840480" cy="438912"/>
          </a:xfrm>
          <a:prstGeom prst="rect">
            <a:avLst/>
          </a:prstGeom>
          <a:solidFill>
            <a:srgbClr val="F4F7FB"/>
          </a:solidFill>
          <a:ln w="12700">
            <a:solidFill>
              <a:srgbClr val="E0E8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819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size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0116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cs typeface="Calibri" pitchFamily="34" charset="-120"/>
              </a:rPr>
              <a:t>[5, 10, 15, 20, 25,30]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1984248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574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(F)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011680" y="20574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459736"/>
            <a:ext cx="3840480" cy="438912"/>
          </a:xfrm>
          <a:prstGeom prst="rect">
            <a:avLst/>
          </a:prstGeom>
          <a:solidFill>
            <a:srgbClr val="F4F7FB"/>
          </a:solidFill>
          <a:ln w="12700">
            <a:solidFill>
              <a:srgbClr val="E0E8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5328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Traits per feature (Q)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011680" y="253288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2935224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0083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011680" y="30083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410712"/>
            <a:ext cx="3840480" cy="438912"/>
          </a:xfrm>
          <a:prstGeom prst="rect">
            <a:avLst/>
          </a:prstGeom>
          <a:solidFill>
            <a:srgbClr val="F4F7FB"/>
          </a:solidFill>
          <a:ln w="12700">
            <a:solidFill>
              <a:srgbClr val="E0E8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4838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011680" y="34838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 100 independent runs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9593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011680" y="39593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Absorbing state reached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63440" y="1005840"/>
            <a:ext cx="4160520" cy="3566160"/>
          </a:xfrm>
          <a:prstGeom prst="rect">
            <a:avLst/>
          </a:prstGeom>
          <a:solidFill>
            <a:srgbClr val="EEF3FA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00600" y="10789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5B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Tracked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00600" y="150876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230368" y="152704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frozen zones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30368" y="178308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culturally isolated regions at absorbing state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0600" y="2130552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230368" y="214884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zone fraction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30368" y="240487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of dominant cultural region / total agents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00600" y="2752344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⏱️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230368" y="27706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to absorption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30368" y="302666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agent-neighbor selection attempts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00600" y="3374136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230368" y="339242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 to absorption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30368" y="364845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trait-switching events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00600" y="3995928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🧩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230368" y="401421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size distribution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30368" y="427024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of frozen zone sizes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566928"/>
          </a:xfrm>
          <a:prstGeom prst="rect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Replication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Influence vs. Axelrod — 30×30 grid, F=5, Q=10, 100 runs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05840"/>
          <a:ext cx="8503920" cy="2304288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Influence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B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Axelrod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7D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frozen zones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 ± 0.3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1.34 ± 0.06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events to absorption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~23,534,000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~7,413,000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interactions to absorption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~376,200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~1,821,000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Single-agent zones per 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Mono-culture frequency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(of 100 runs)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~74% (of 100 runs)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3886200"/>
            <a:ext cx="4160520" cy="868680"/>
          </a:xfrm>
          <a:prstGeom prst="rect">
            <a:avLst/>
          </a:prstGeom>
          <a:solidFill>
            <a:srgbClr val="E8F5E9"/>
          </a:solidFill>
          <a:ln w="12700">
            <a:solidFill>
              <a:srgbClr val="1E9E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95020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SI Model produces 6× more frozen zones and avoids mono-culture entirely</a:t>
            </a:r>
            <a:endParaRPr lang="en-US" sz="1150" dirty="0"/>
          </a:p>
        </p:txBody>
      </p:sp>
      <p:sp>
        <p:nvSpPr>
          <p:cNvPr id="6" name="Shape 6"/>
          <p:cNvSpPr/>
          <p:nvPr/>
        </p:nvSpPr>
        <p:spPr>
          <a:xfrm>
            <a:off x="4617720" y="3886200"/>
            <a:ext cx="4206240" cy="868680"/>
          </a:xfrm>
          <a:prstGeom prst="rect">
            <a:avLst/>
          </a:prstGeom>
          <a:solidFill>
            <a:srgbClr val="FFF3E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4880" y="395020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SI Model requires 3× more events but 5× fewer actual interactions — zones resist change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566928"/>
          </a:xfrm>
          <a:prstGeom prst="rect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Insight: Why Social Influence Increases Diversity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 behind heterogeneity amplification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Competing Effects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3931920" cy="2011680"/>
          </a:xfrm>
          <a:prstGeom prst="rect">
            <a:avLst/>
          </a:prstGeom>
          <a:solidFill>
            <a:srgbClr val="FFF9F0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71600"/>
            <a:ext cx="39319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08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Dominant-Regions Effect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regions probabilistically absorb small ones (random walk argument). Promotes homogeneity. Slightly stronger in SI model.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1371600"/>
            <a:ext cx="3931920" cy="2011680"/>
          </a:xfrm>
          <a:prstGeom prst="rect">
            <a:avLst/>
          </a:prstGeom>
          <a:solidFill>
            <a:srgbClr val="F0F8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1371600"/>
            <a:ext cx="3931920" cy="73152"/>
          </a:xfrm>
          <a:prstGeom prst="rect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508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5B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 Robustness Effect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7720" y="187452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influence hardens zone boundaries — agents surrounded by same-trait neighbors are much less likely to switch. Distant regions cannot infiltrate zones.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23360" y="2148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0040" y="3520440"/>
            <a:ext cx="8503920" cy="1234440"/>
          </a:xfrm>
          <a:prstGeom prst="rect">
            <a:avLst/>
          </a:prstGeom>
          <a:solidFill>
            <a:srgbClr val="111C3A"/>
          </a:solidFill>
          <a:ln w="12700">
            <a:solidFill>
              <a:srgbClr val="111C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611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Result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93192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SI Model, the dominant-regions effect exists but zones resist infiltration so effectively that the multiplicity effect (more agents = more possible zones) wins out → frozen zone count grows with lattice size, unlike Axelrod.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E9E5F"/>
          </a:solidFill>
          <a:ln w="12700">
            <a:solidFill>
              <a:srgbClr val="1E9E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737360"/>
            <a:ext cx="8686800" cy="54864"/>
          </a:xfrm>
          <a:prstGeom prst="rect">
            <a:avLst/>
          </a:prstGeom>
          <a:solidFill>
            <a:srgbClr val="1E9E5F"/>
          </a:solidFill>
          <a:ln w="12700">
            <a:solidFill>
              <a:srgbClr val="1E9E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914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1E9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Stubborn Agents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some agents categorically resist change?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566928"/>
          </a:xfrm>
          <a:prstGeom prst="rect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 1: Stubborn Agents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agents that resist trait switching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850392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9E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9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stubborn agent has its switching probability Q overridden to 0 (or near 0) — it participates in interactions but never changes its trait values. A fraction p of agents are designated stubborn at initialization.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416052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9933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9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Details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Stubborn agents are selected uniformly at random at t=0
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participate normally in interaction selection (events counted)
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selected as agent i: Q = 0, no trait change occurs
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selected as neighbor j: can still influence agent i normally
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Stubbornness fraction p varies from 0% to 30%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1920240"/>
            <a:ext cx="4160520" cy="2606040"/>
          </a:xfrm>
          <a:prstGeom prst="rect">
            <a:avLst/>
          </a:prstGeom>
          <a:solidFill>
            <a:srgbClr val="EEF3FA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19933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9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Effects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23774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30368" y="2423160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nucleation sites — stubborn agents create indestructible single-agent zones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00600" y="292608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🌊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30368" y="2971800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 barriers — chains of stubborn agents can permanently separate cultural regions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00600" y="347472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⏳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30368" y="3520440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convergence — or possibly no convergence in some configurations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00600" y="402336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🧩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30368" y="4069080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fragmentation — more small frozen zones anchored to stubborn clusters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566928"/>
          </a:xfrm>
          <a:prstGeom prst="rect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Questions: Stubborn Agents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stubbornness change about system dynamics?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502920" cy="777240"/>
          </a:xfrm>
          <a:prstGeom prst="rect">
            <a:avLst/>
          </a:prstGeom>
          <a:solidFill>
            <a:srgbClr val="1E9E5F"/>
          </a:solidFill>
          <a:ln w="12700">
            <a:solidFill>
              <a:srgbClr val="1E9E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1051560"/>
            <a:ext cx="78638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112471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system still reach an absorbing state?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49047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Stubborn agents create permanent active links — it's unclear whether convergence can occur.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011680"/>
            <a:ext cx="502920" cy="777240"/>
          </a:xfrm>
          <a:prstGeom prst="rect">
            <a:avLst/>
          </a:prstGeom>
          <a:solidFill>
            <a:srgbClr val="1E9E5F"/>
          </a:solidFill>
          <a:ln w="12700">
            <a:solidFill>
              <a:srgbClr val="1E9E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01168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2011680"/>
            <a:ext cx="7863840" cy="777240"/>
          </a:xfrm>
          <a:prstGeom prst="rect">
            <a:avLst/>
          </a:prstGeom>
          <a:solidFill>
            <a:srgbClr val="EEF3FA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51560" y="208483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stubborn fraction p affect frozen zone count?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45059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Each stubborn agent is a potential anchor — more may mean more zones, but at what cost?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971800"/>
            <a:ext cx="502920" cy="777240"/>
          </a:xfrm>
          <a:prstGeom prst="rect">
            <a:avLst/>
          </a:prstGeom>
          <a:solidFill>
            <a:srgbClr val="1E9E5F"/>
          </a:solidFill>
          <a:ln w="12700">
            <a:solidFill>
              <a:srgbClr val="1E9E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7180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2971800"/>
            <a:ext cx="78638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51560" y="304495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stubborn agents act as 'opinion leaders'?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41071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If surrounded by non-stubborn agents, do they pull neighbors toward their traits?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" y="3931920"/>
            <a:ext cx="502920" cy="777240"/>
          </a:xfrm>
          <a:prstGeom prst="rect">
            <a:avLst/>
          </a:prstGeom>
          <a:solidFill>
            <a:srgbClr val="1E9E5F"/>
          </a:solidFill>
          <a:ln w="12700">
            <a:solidFill>
              <a:srgbClr val="1E9E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93192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14400" y="3931920"/>
            <a:ext cx="7863840" cy="777240"/>
          </a:xfrm>
          <a:prstGeom prst="rect">
            <a:avLst/>
          </a:prstGeom>
          <a:solidFill>
            <a:srgbClr val="EEF3FA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51560" y="400507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convergence time scale with p?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437083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More stubborn agents = more blocked transitions = potentially much longer runs.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566928"/>
          </a:xfrm>
          <a:prstGeom prst="rect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Stubborn Agents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compared to Social Influence baseline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4846320" cy="3108960"/>
          </a:xfrm>
          <a:prstGeom prst="rect">
            <a:avLst/>
          </a:prstGeom>
          <a:solidFill>
            <a:srgbClr val="EEF3FA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4846320" cy="54864"/>
          </a:xfrm>
          <a:prstGeom prst="rect">
            <a:avLst/>
          </a:prstGeom>
          <a:solidFill>
            <a:srgbClr val="1E9E5F"/>
          </a:solidFill>
          <a:ln w="12700">
            <a:solidFill>
              <a:srgbClr val="1E9E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60704"/>
            <a:ext cx="4846320" cy="3054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[Graph Placeholder]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069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Zones vs. Stubborn Fraction 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49240" y="1005840"/>
            <a:ext cx="347472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49240" y="1005840"/>
            <a:ext cx="3474720" cy="54864"/>
          </a:xfrm>
          <a:prstGeom prst="rect">
            <a:avLst/>
          </a:prstGeom>
          <a:solidFill>
            <a:srgbClr val="1E9E5F"/>
          </a:solidFill>
          <a:ln w="12700">
            <a:solidFill>
              <a:srgbClr val="1E9E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11155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9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Observations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1508760"/>
            <a:ext cx="320040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 still occurs even with stubborn agents (p &lt; critical threshold)
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zone count increases monotonically with p — stubborn agents seed extra isolated zones
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links can persist indefinitely around stubborn agents, extending convergence time sharply
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Stubborn agents pull neighbors toward their traits, creating local cultural islands
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high p, no absorbing state possible (system never fully freezes)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4434840"/>
            <a:ext cx="850392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1E9E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48056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Stubborn agents act as cultural anchors, increasing fragmentation and slowing convergence — analogous to ideological extremists in political polarization.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737360"/>
            <a:ext cx="8686800" cy="54864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914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2  —  ORIGINAL CONTRIBUTION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Modified Social Influence: Dual-Support Rule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both agents consult their own neighborhoods before deciding?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566928"/>
          </a:xfrm>
          <a:prstGeom prst="rect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for Extension 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Asymmetry in the original Social Influence rule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3931920" cy="2560320"/>
          </a:xfrm>
          <a:prstGeom prst="rect">
            <a:avLst/>
          </a:prstGeom>
          <a:solidFill>
            <a:srgbClr val="FFF5F5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3931920" cy="6400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155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6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Rule (Limitation)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agent i considers adopting trait σ_j from neighbor j, it surveys only its own neighborhood N_i: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3657600" cy="502920"/>
          </a:xfrm>
          <a:prstGeom prst="rect">
            <a:avLst/>
          </a:prstGeom>
          <a:solidFill>
            <a:srgbClr val="EDEDE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03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O_i(σ_j) / [O_i(σ_i) + O_i(σ_j)]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6060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Only agent i's neighborhood matters. The social context of agent j — how strongly j is supported by j's own group — is completely ignored.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3434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4F3D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892040" y="1005840"/>
            <a:ext cx="3931920" cy="2560320"/>
          </a:xfrm>
          <a:prstGeom prst="rect">
            <a:avLst/>
          </a:prstGeom>
          <a:solidFill>
            <a:srgbClr val="FFF0F0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92040" y="1005840"/>
            <a:ext cx="3931920" cy="64008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1155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4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Insight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15087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practice, whether you adopt someone's belief depends not just on how many of your friends agree — but also on how strongly entrenched they are in their own group: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2128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lone voice can change your mind if their community strongly agrees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0" y="25968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widespread view is less compelling if its proponents are isolated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0" y="298094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Two-sided local consensus → more realistic social dynamics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" y="3749040"/>
            <a:ext cx="8503920" cy="1170432"/>
          </a:xfrm>
          <a:prstGeom prst="rect">
            <a:avLst/>
          </a:prstGeom>
          <a:solidFill>
            <a:srgbClr val="111C3A"/>
          </a:solidFill>
          <a:ln w="12700">
            <a:solidFill>
              <a:srgbClr val="111C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8404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Idea: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160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switching decision should compare agent i's local support for trait σ_i against agent j's local support for trait σ_j — a competition between two local consensuses.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566928"/>
          </a:xfrm>
          <a:prstGeom prst="rect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 2: New Interaction Rule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Dual-support switching probability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3931920" cy="3429000"/>
          </a:xfrm>
          <a:prstGeom prst="rect">
            <a:avLst/>
          </a:prstGeom>
          <a:solidFill>
            <a:srgbClr val="F9F9F9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3931920" cy="502920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155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of neighbor j's trait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agent i's neighborhood: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3657600" cy="594360"/>
          </a:xfrm>
          <a:prstGeom prst="rect">
            <a:avLst/>
          </a:prstGeom>
          <a:solidFill>
            <a:srgbClr val="E8E8E8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042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O_i(σ_j) / [O_i(σ_i) + O_i(σ_j)]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290779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agent i's neighborhood is considered.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j's social context = ignored.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315968" y="23317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892040" y="1005840"/>
            <a:ext cx="3931920" cy="3429000"/>
          </a:xfrm>
          <a:prstGeom prst="rect">
            <a:avLst/>
          </a:prstGeom>
          <a:solidFill>
            <a:srgbClr val="FEF0F0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92040" y="1005840"/>
            <a:ext cx="3931920" cy="50292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1155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2  ★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16002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of σ_i in i's neighborhood  AND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of σ_j in j's neighborhood: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240280"/>
            <a:ext cx="3657600" cy="594360"/>
          </a:xfrm>
          <a:prstGeom prst="rect">
            <a:avLst/>
          </a:prstGeom>
          <a:solidFill>
            <a:srgbClr val="FFD7D3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23042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C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O_j(σ_j) / [O_i(σ_i) + O_j(σ_j)]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0" y="290779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neighborhoods contribute.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j's group strength now matters!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92040" y="3547872"/>
            <a:ext cx="3931920" cy="731520"/>
          </a:xfrm>
          <a:prstGeom prst="rect">
            <a:avLst/>
          </a:prstGeom>
          <a:solidFill>
            <a:srgbClr val="FDECEA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3611880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1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j is strongly supported in its group → higher chance i adopts.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1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is strongly supported in its group → lower chance i switches.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572000"/>
            <a:ext cx="3931920" cy="438912"/>
          </a:xfrm>
          <a:prstGeom prst="rect">
            <a:avLst/>
          </a:prstGeom>
          <a:solidFill>
            <a:srgbClr val="F0F4FF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62686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A5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O_j() is calculated over neighborhood of j, not i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566928"/>
          </a:xfrm>
          <a:prstGeom prst="rect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Intuition Behind Extension 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local consensus — two-sided influence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8503920" cy="1280160"/>
          </a:xfrm>
          <a:prstGeom prst="rect">
            <a:avLst/>
          </a:prstGeom>
          <a:solidFill>
            <a:srgbClr val="FEF0F0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64008" cy="128016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4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Analogy: Political Persuasion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person A (liberal) meeting person B (conservative). In the baseline SI model, whether A switches depends only on how many of A's friends are conservative. Extension 2 adds: A also checks how strongly B's community backs B's view. A lone conservative convincing a liberal surrounded by liberals is very different from a tightly-knit conservative convincing a loosely-held liberal.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514600"/>
            <a:ext cx="26974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514600"/>
            <a:ext cx="2697480" cy="64008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3347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4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Echo Chamber Effect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intra-group support makes both parties resistant to switching. Stable competing regions emerge.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0" y="2514600"/>
            <a:ext cx="26974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2514600"/>
            <a:ext cx="2697480" cy="64008"/>
          </a:xfrm>
          <a:prstGeom prst="rect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63347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5B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Bidirectional Dynamics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37560" y="310896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interaction considers both local social contexts — truly two-sided, not one-sided influence.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80760" y="2514600"/>
            <a:ext cx="26974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2514600"/>
            <a:ext cx="26974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263347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Reinforcement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310896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Strongly-held group beliefs propagate more readily — group solidarity is a force in the dynamics.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4590288"/>
            <a:ext cx="8503920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models real-world phenomena: polarization is sustained because groups reinforce themselves AND resist external influence simultaneously.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566928"/>
          </a:xfrm>
          <a:prstGeom prst="rect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Algorithm: Extension 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dual-support update rule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416052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" y="1335024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335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9848" y="10972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69848" y="144475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agent i uniformly at random; select neighbor j of i uniformly at random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16052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28032" y="1335024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1335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13248" y="10972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Interaction Check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13248" y="1444752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overlap(i,j)/F. Draw random number → proceed if interaction occurs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267712"/>
            <a:ext cx="416052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" y="2596896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596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69848" y="235915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Selection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69848" y="2706624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random unshared feature f → σ_i^f ≠ σ_j^f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2267712"/>
            <a:ext cx="416052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28032" y="2596896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2596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13248" y="235915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Survey i's Neighborhood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13248" y="2706624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O_i(σ_i^f) = count of N_i sharing σ_i^f (including i itself)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0040" y="3529584"/>
            <a:ext cx="4160520" cy="1115568"/>
          </a:xfrm>
          <a:prstGeom prst="rect">
            <a:avLst/>
          </a:prstGeom>
          <a:solidFill>
            <a:srgbClr val="FFF0EE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" y="3858768"/>
            <a:ext cx="457200" cy="457200"/>
          </a:xfrm>
          <a:prstGeom prst="ellipse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69848" y="3621024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4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Survey j's Neighborhood  ★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69848" y="3968496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O_j(σ_j^f) = count of N_j sharing σ_j^f (including j itself)  ← NEW STEP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663440" y="3529584"/>
            <a:ext cx="416052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28032" y="3858768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13248" y="3621024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Dual-Support Probability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13248" y="3968496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O_j(σ_j^f) / [O_i(σ_i^f) + O_j(σ_j^f)]  →  Update σ_i^f with prob Q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20040" y="4773168"/>
            <a:ext cx="8503920" cy="246888"/>
          </a:xfrm>
          <a:prstGeom prst="rect">
            <a:avLst/>
          </a:prstGeom>
          <a:solidFill>
            <a:srgbClr val="FEF0F0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80060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Only step 5 is modified vs. baseline — a minimal change that introduces fundamentally different group dynamics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566928"/>
          </a:xfrm>
          <a:prstGeom prst="rect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Questions: Modified Social Influence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dual-support comparison change?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502920" cy="77724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1051560"/>
            <a:ext cx="7863840" cy="777240"/>
          </a:xfrm>
          <a:prstGeom prst="rect">
            <a:avLst/>
          </a:prstGeom>
          <a:solidFill>
            <a:srgbClr val="FEF0F0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112471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Extension 2 slow down convergence?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49047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Bidirectional resistance means both parties are harder to shift — might interactions take longer to stabilize.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011680"/>
            <a:ext cx="502920" cy="77724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01168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2011680"/>
            <a:ext cx="78638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51560" y="208483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produce more stable competing cultural regions?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45059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If both agent and neighbor are backed by strong groups, no interaction succeeds — stable standoffs form.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971800"/>
            <a:ext cx="502920" cy="77724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7180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2971800"/>
            <a:ext cx="7863840" cy="777240"/>
          </a:xfrm>
          <a:prstGeom prst="rect">
            <a:avLst/>
          </a:prstGeom>
          <a:solidFill>
            <a:srgbClr val="FEF0F0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51560" y="304495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fragmentation increase beyond baseline SI Model?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41071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More resistance at boundaries could mean more distinct zones surviving to the absorbing state.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" y="3931920"/>
            <a:ext cx="502920" cy="77724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93192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14400" y="3931920"/>
            <a:ext cx="78638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51560" y="400507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it compare across Axelrod, SI, Ext1, and Ext2?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437083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 direct 4-way comparison reveals which mechanism most effectively drives heterogeneity.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566928"/>
          </a:xfrm>
          <a:prstGeom prst="rect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Design: Extension 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comparison across all four models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3840480" cy="3200400"/>
          </a:xfrm>
          <a:prstGeom prst="rect">
            <a:avLst/>
          </a:prstGeom>
          <a:solidFill>
            <a:srgbClr val="EEF3FA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789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5B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Parameters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Grid: 30×30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 = 5 features, Q = 10 traits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51460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Runs: 50–100 per configuration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01752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Metrics: zones, zone sizes, events, interactions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52044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Terminate at absorbing state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43400" y="10058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Models Compared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43400" y="1417320"/>
            <a:ext cx="457200" cy="68580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141732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92040" y="1417320"/>
            <a:ext cx="39319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14630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Axelrod Model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17830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assimilation with Q=1 always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43400" y="2258568"/>
            <a:ext cx="457200" cy="685800"/>
          </a:xfrm>
          <a:prstGeom prst="rect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2258568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92040" y="2258568"/>
            <a:ext cx="39319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0" y="230428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Influence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26243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prob based on agent i's neighborhood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3099816"/>
            <a:ext cx="457200" cy="685800"/>
          </a:xfrm>
          <a:prstGeom prst="rect">
            <a:avLst/>
          </a:prstGeom>
          <a:solidFill>
            <a:srgbClr val="1E9E5F"/>
          </a:solidFill>
          <a:ln w="12700">
            <a:solidFill>
              <a:srgbClr val="1E9E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3400" y="3099816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92040" y="3099816"/>
            <a:ext cx="39319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0" y="31455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Stubborn Agents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34655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model + fraction p of immutable agents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43400" y="3941064"/>
            <a:ext cx="457200" cy="68580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3400" y="3941064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92040" y="3941064"/>
            <a:ext cx="3931920" cy="685800"/>
          </a:xfrm>
          <a:prstGeom prst="rect">
            <a:avLst/>
          </a:prstGeom>
          <a:solidFill>
            <a:srgbClr val="FFF0EE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29200" y="398678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4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Dual-Support (Ext 2)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29200" y="43068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 and j neighborhoods compared ★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4315968"/>
            <a:ext cx="8503920" cy="621792"/>
          </a:xfrm>
          <a:prstGeom prst="rect">
            <a:avLst/>
          </a:prstGeom>
          <a:solidFill>
            <a:srgbClr val="F4F7FB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3708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Extension 2 will produce fewer zones than baseline SI (both resist) but more stable boundary standoffs, increasing time to absorption and potentially total active links at near-absorbing states.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566928"/>
          </a:xfrm>
          <a:prstGeom prst="rect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Modified Social Influence (Extension 2)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and quantitative observations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3931920" cy="2560320"/>
          </a:xfrm>
          <a:prstGeom prst="rect">
            <a:avLst/>
          </a:prstGeom>
          <a:solidFill>
            <a:srgbClr val="EEF3FA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3931920" cy="54864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78992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[Graph Placeholder]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Zones vs. Lattice Size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4 Models)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05840"/>
            <a:ext cx="3931920" cy="2560320"/>
          </a:xfrm>
          <a:prstGeom prst="rect">
            <a:avLst/>
          </a:prstGeom>
          <a:solidFill>
            <a:srgbClr val="EEF3FA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005840"/>
            <a:ext cx="3931920" cy="54864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78992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[Graph Placeholder]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Time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Interaction Type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3730752"/>
            <a:ext cx="8503920" cy="1280160"/>
          </a:xfrm>
          <a:prstGeom prst="rect">
            <a:avLst/>
          </a:prstGeom>
          <a:solidFill>
            <a:srgbClr val="FEF0F0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4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Observations (Qualitative)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1330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Bidirectional resistance stabilizes boundaries — fewer total switches required for each zone to solidify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44074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Active link density drops faster → zones coalesce earlier, but boundary standoffs create long tail before full absorption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681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Number of frozen zones intermediate between baseline SI and Stubborn Agents — group competition is softer than stubborn refusal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566928"/>
          </a:xfrm>
          <a:prstGeom prst="rect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Analysis: All Four Models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30×30 grid, F=5, Q=10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05840"/>
          <a:ext cx="8503920" cy="28803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C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Axelrod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7D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Influence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B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Stubborn Agents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E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Dual-Support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4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Frozen Zones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with 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 (exp.)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Zone Fraction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~90%+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~60-80%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 (exp.)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 to Absorption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~7.4M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~23.5M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↑↑↑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(est.)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Interactions to Abs.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~1.8M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~0.38M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↓↓ (est.)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Convergence Pattern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Steady decline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 then plateau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not converge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plateau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Mono-culture freq.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~0% (est.)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4343400"/>
            <a:ext cx="8503920" cy="640080"/>
          </a:xfrm>
          <a:prstGeom prst="rect">
            <a:avLst/>
          </a:prstGeom>
          <a:solidFill>
            <a:srgbClr val="E8EFF8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3891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2 (Dual-Support) is predicted to sit between SI and Stubborn Agents in zone count but produce qualitatively different boundary dynamics — group-level standoffs rather than individual resistance.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566928"/>
          </a:xfrm>
          <a:prstGeom prst="rect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extensions reveal about cultural dynamics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24128"/>
            <a:ext cx="85039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24128"/>
            <a:ext cx="64008" cy="1188720"/>
          </a:xfrm>
          <a:prstGeom prst="rect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🔵  Social Influence Amplifies Diversity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Simply weighting decisions by local consensus — even slightly — dramatically increases cultural heterogeneity. Zone robustness is the mechanism: boundaries resist external trait infiltration.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350008"/>
            <a:ext cx="85039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350008"/>
            <a:ext cx="64008" cy="1188720"/>
          </a:xfrm>
          <a:prstGeom prst="rect">
            <a:avLst/>
          </a:prstGeom>
          <a:solidFill>
            <a:srgbClr val="1E9E5F"/>
          </a:solidFill>
          <a:ln w="12700">
            <a:solidFill>
              <a:srgbClr val="1E9E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4144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🟢  Stubborn Agents = Permanent Cultural Anchors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2880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small fraction of immutable agents (p~5%) substantially increases frozen zone count and convergence time. At high p, the system may never absorb — mirroring entrenched ideological factions.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675888"/>
            <a:ext cx="85039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675888"/>
            <a:ext cx="64008" cy="118872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7673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🔴  Dual-Support Creates Competing Consensus Regions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4206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switching depends on both parties' local backing, boundaries between groups become natural standoffs. This produces stable competing cultural regions without requiring agents to be permanently stubborn.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566928"/>
          </a:xfrm>
          <a:prstGeom prst="rect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results in a real-world context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24128"/>
            <a:ext cx="41605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24128"/>
            <a:ext cx="4160520" cy="64008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61288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4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Echo Chambers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37947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2 directly models echo chamber formation: once a group is internally cohesive, external signals are discounted. The dual-support rule captures how online communities reinforce beliefs.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024128"/>
            <a:ext cx="41605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24128"/>
            <a:ext cx="4160520" cy="64008"/>
          </a:xfrm>
          <a:prstGeom prst="rect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161288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5B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Polarization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554480"/>
            <a:ext cx="37947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extensions explain why societies polarize: social influence creates robust zones, stubborn agents create permanent fault lines, and dual-support creates stable opposing blocs.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944368"/>
            <a:ext cx="41605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44368"/>
            <a:ext cx="4160520" cy="64008"/>
          </a:xfrm>
          <a:prstGeom prst="rect">
            <a:avLst/>
          </a:prstGeom>
          <a:solidFill>
            <a:srgbClr val="1E9E5F"/>
          </a:solidFill>
          <a:ln w="12700">
            <a:solidFill>
              <a:srgbClr val="1E9E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81528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9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Resistance to Change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3474720"/>
            <a:ext cx="37947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Stubborn agents as a model of committed minorities — even a small fraction can restructure the entire cultural landscape and prevent convergence to consensus.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2944368"/>
            <a:ext cx="41605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944368"/>
            <a:ext cx="416052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081528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Transitions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3474720"/>
            <a:ext cx="37947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exhibits threshold behavior: small changes in stubbornness or group strength can shift the system from convergence to permanent fragmentation — a hallmark of complex adaptive systems.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4892040"/>
            <a:ext cx="8503920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91947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models suggest that diversity is not fragile — social reinforcement mechanisms make cultural regions robust even under pressure to assimilate.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566928"/>
          </a:xfrm>
          <a:prstGeom prst="rect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of the model and methodology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24128"/>
            <a:ext cx="416052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9768" y="13533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🔲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11556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Grid Topology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481328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interact only with immediate spatial neighbors. Real social networks are irregular, scale-free, and dynamic — not a 2D lattice.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024128"/>
            <a:ext cx="416052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73168" y="13533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57800" y="111556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Simplified Interaction Rules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57800" y="1481328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traits are represented as integers — far simpler than real cultural dimensions. Trait transitions are binary (adopt/don't adopt), not gradual.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286000"/>
            <a:ext cx="416052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9768" y="26151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237744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Homogeneous Agent Properties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274320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non-stubborn agents are identical in their responsiveness to social influence. Real populations have varied susceptibility and social capital.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2286000"/>
            <a:ext cx="416052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73168" y="26151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57800" y="237744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Absorbing State Focus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57800" y="274320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focuses on terminal absorbing states. Real societies never fully freeze — ongoing perturbations, births, deaths, and media keep systems far from equilibrium.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3547872"/>
            <a:ext cx="416052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29768" y="38770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0" y="363931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 Space Exploration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4005072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systematic sweeps over (F, Q, p, grid size) are computationally expensive. Results at single parameter configurations may not generalize.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63440" y="3547872"/>
            <a:ext cx="416052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73168" y="38770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257800" y="363931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2D Metric Limitations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57800" y="4005072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count and size may not capture the full geometric or topological complexity of the absorbing states — metrics ρ₁, ρ₂, ρ₃ provide partial views only.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566928"/>
          </a:xfrm>
          <a:prstGeom prst="rect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and open research directions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24128"/>
            <a:ext cx="416052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24128"/>
            <a:ext cx="54864" cy="1170432"/>
          </a:xfrm>
          <a:prstGeom prst="rect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1155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Topologies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" y="148132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2D grid with scale-free, small-world, or empirical social network graphs. Explore how hub nodes and community structure modulate cultural spreading.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024128"/>
            <a:ext cx="416052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24128"/>
            <a:ext cx="54864" cy="1170432"/>
          </a:xfrm>
          <a:prstGeom prst="rect">
            <a:avLst/>
          </a:prstGeom>
          <a:solidFill>
            <a:srgbClr val="1E9E5F"/>
          </a:solidFill>
          <a:ln w="12700">
            <a:solidFill>
              <a:srgbClr val="1E9E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1155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Stubbornness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4608" y="148132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agents to become stubborn or flexible over time as a function of local consensus — adaptive stubbornness based on social reinforcement history.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1024128"/>
            <a:ext cx="416052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1024128"/>
            <a:ext cx="54864" cy="1170432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11155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Media Influence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" y="148132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global 'media agent' with a fixed cultural profile that nudges all agents. Study how dual-support dynamics interact with centralized cultural broadcasting.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2322576"/>
            <a:ext cx="416052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322576"/>
            <a:ext cx="54864" cy="1170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24140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Transition Analysis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64608" y="2779776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Systematically map the parameter space of Extension 2 — locate critical values of (F, Q, group_support_weight) at which order-disorder transitions occur.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2322576"/>
            <a:ext cx="416052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322576"/>
            <a:ext cx="54864" cy="117043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" y="24140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Trait Values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1208" y="2779776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integer traits with continuous values, enabling gradient dynamics like bounded confidence models — richer cultural blending, not just binary adoption.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63440" y="2322576"/>
            <a:ext cx="416052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322576"/>
            <a:ext cx="54864" cy="117043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24140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Empirical Calibration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64608" y="2779776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model parameters against real-world datasets (e.g., social media polarization data, political survey data) to test predictive validity.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72040"/>
          </a:solidFill>
          <a:ln w="12700">
            <a:solidFill>
              <a:srgbClr val="172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00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85800" y="960120"/>
            <a:ext cx="548640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170432"/>
            <a:ext cx="320040" cy="320040"/>
          </a:xfrm>
          <a:prstGeom prst="ellipse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170432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Replicated Axelrod and Social Influence models, confirming heterogeneity amplification via neighborhood-based switching probability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011680"/>
            <a:ext cx="320040" cy="320040"/>
          </a:xfrm>
          <a:prstGeom prst="ellipse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011680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Influence creates robust zones through a competition between dominant-regions effect and zone resistance to boundary infiltration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2852928"/>
            <a:ext cx="320040" cy="320040"/>
          </a:xfrm>
          <a:prstGeom prst="ellipse">
            <a:avLst/>
          </a:prstGeom>
          <a:solidFill>
            <a:srgbClr val="1E9E5F"/>
          </a:solidFill>
          <a:ln w="12700">
            <a:solidFill>
              <a:srgbClr val="1E9E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2852928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Stubborn Agents increase fragmentation and can prevent convergence — modeling committed minorities in polarized systems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694176"/>
            <a:ext cx="320040" cy="320040"/>
          </a:xfrm>
          <a:prstGeom prst="ellipse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3694176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2 (Dual-Support) introduces group-level competing consensus — a novel mechanism explaining echo chambers and bilateral polarization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37960" y="914400"/>
            <a:ext cx="2423160" cy="3291840"/>
          </a:xfrm>
          <a:prstGeom prst="rect">
            <a:avLst/>
          </a:prstGeom>
          <a:solidFill>
            <a:srgbClr val="111C3A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10241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Take-Away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5120" y="141732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diversity is not fragile. Local social reinforcement mechanisms — whether probabilistic or binary — create robust cultural zones that resist pressure from the majority.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insight: caring about your neighbors' opinions ultimately preserves diversity.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Sriraj  •  Complex Systems  •  IIST Trivandrum  •  2025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566928"/>
          </a:xfrm>
          <a:prstGeom prst="rect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" cy="45720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" y="1005840"/>
            <a:ext cx="8183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060704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Nguyen, N., Chen, H., Jin, B., Quinn, W., Tyler, C., &amp; Landsberg, A. (2021). Cultural Dissemination: An Agent-Based Model with Social Influence. Journal of Artificial Societies and Social Simulation, 24(4)5. DOI: 10.18564/jasss.4633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572768"/>
            <a:ext cx="274320" cy="457200"/>
          </a:xfrm>
          <a:prstGeom prst="rect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57276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572768"/>
            <a:ext cx="8183880" cy="457200"/>
          </a:xfrm>
          <a:prstGeom prst="rect">
            <a:avLst/>
          </a:prstGeom>
          <a:solidFill>
            <a:srgbClr val="EEF3FA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1627632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Axelrod, R. (1997). The dissemination of culture: A model with local convergence and global polarization. Journal of Conflict Resolution, 41(2), 203–226.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139696"/>
            <a:ext cx="274320" cy="457200"/>
          </a:xfrm>
          <a:prstGeom prst="rect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139696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2139696"/>
            <a:ext cx="8183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219456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Flache, A. &amp; Macy, M.W. (2011). Local convergence and global diversity: From interpersonal to social influence. Journal of Conflict Resolution, 55(6).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706624"/>
            <a:ext cx="274320" cy="457200"/>
          </a:xfrm>
          <a:prstGeom prst="rect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706624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" y="2706624"/>
            <a:ext cx="8183880" cy="457200"/>
          </a:xfrm>
          <a:prstGeom prst="rect">
            <a:avLst/>
          </a:prstGeom>
          <a:solidFill>
            <a:srgbClr val="EEF3FA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276148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Kuperman, M.N. (2006). Cultural propagation on social networks. Physical Review E, 73(4).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273552"/>
            <a:ext cx="274320" cy="457200"/>
          </a:xfrm>
          <a:prstGeom prst="rect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27355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" y="3273552"/>
            <a:ext cx="8183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3328416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Castellano, C., Marsili, M. &amp; Vespignani, A. (2000). Nonequilibrium phase transition in a model for social influence. Physical Review Letters, 85(16), 3536–3539.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840480"/>
            <a:ext cx="274320" cy="457200"/>
          </a:xfrm>
          <a:prstGeom prst="rect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840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" y="3840480"/>
            <a:ext cx="8183880" cy="457200"/>
          </a:xfrm>
          <a:prstGeom prst="rect">
            <a:avLst/>
          </a:prstGeom>
          <a:solidFill>
            <a:srgbClr val="EEF3FA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77240" y="3895344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Hegselmann, R. &amp; Krause, U. (2002). Opinion dynamics and bounded confidence. Journal of Artificial Societies and Social Simulation, 5(3), 2.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4407408"/>
            <a:ext cx="274320" cy="457200"/>
          </a:xfrm>
          <a:prstGeom prst="rect">
            <a:avLst/>
          </a:prstGeom>
          <a:solidFill>
            <a:srgbClr val="2A5BAD"/>
          </a:solidFill>
          <a:ln w="12700">
            <a:solidFill>
              <a:srgbClr val="2A5BA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40740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8368" y="4407408"/>
            <a:ext cx="8183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77240" y="4462272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Schelling, T.C. (1971). Dynamic models of segregation. Journal of Mathematical Sociology, 1, 143–186.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20040" y="4828032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code: https://www.comses.net/codebases/dda2d2ac-0cf9-46f6-a213-e0a9a30378ed/releases/1.0.0/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3698</Words>
  <Application>Microsoft Office PowerPoint</Application>
  <PresentationFormat>On-screen Show (16:9)</PresentationFormat>
  <Paragraphs>452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Cultural Dissemination: An Agent-Based Model with Social Influence and Extended Interaction Rules</dc:title>
  <dc:subject>PptxGenJS Presentation</dc:subject>
  <dc:creator>PptxGenJS</dc:creator>
  <cp:lastModifiedBy>venkatasriraj.m@outlook.com</cp:lastModifiedBy>
  <cp:revision>3</cp:revision>
  <dcterms:created xsi:type="dcterms:W3CDTF">2026-03-26T11:22:51Z</dcterms:created>
  <dcterms:modified xsi:type="dcterms:W3CDTF">2026-03-31T05:40:54Z</dcterms:modified>
</cp:coreProperties>
</file>