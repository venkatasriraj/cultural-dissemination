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data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87" r:id="rId7"/>
    <p:sldId id="261" r:id="rId8"/>
    <p:sldId id="262" r:id="rId9"/>
    <p:sldId id="263" r:id="rId10"/>
    <p:sldId id="264" r:id="rId11"/>
    <p:sldId id="265" r:id="rId12"/>
    <p:sldId id="295" r:id="rId13"/>
    <p:sldId id="266" r:id="rId14"/>
    <p:sldId id="294" r:id="rId15"/>
    <p:sldId id="286" r:id="rId16"/>
    <p:sldId id="288" r:id="rId17"/>
    <p:sldId id="268" r:id="rId18"/>
    <p:sldId id="267" r:id="rId19"/>
    <p:sldId id="269" r:id="rId20"/>
    <p:sldId id="270" r:id="rId21"/>
    <p:sldId id="272" r:id="rId22"/>
    <p:sldId id="274" r:id="rId23"/>
    <p:sldId id="275" r:id="rId24"/>
    <p:sldId id="273" r:id="rId25"/>
    <p:sldId id="285" r:id="rId26"/>
    <p:sldId id="290" r:id="rId27"/>
    <p:sldId id="278" r:id="rId28"/>
    <p:sldId id="279" r:id="rId29"/>
    <p:sldId id="280" r:id="rId30"/>
    <p:sldId id="281" r:id="rId31"/>
    <p:sldId id="289" r:id="rId32"/>
    <p:sldId id="282" r:id="rId33"/>
    <p:sldId id="276" r:id="rId34"/>
    <p:sldId id="291" r:id="rId35"/>
    <p:sldId id="293" r:id="rId36"/>
    <p:sldId id="292" r:id="rId37"/>
    <p:sldId id="271" r:id="rId38"/>
    <p:sldId id="284" r:id="rId39"/>
    <p:sldId id="283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Axelrod%20Model\w3_temp%20experiment-table_100R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Axelrod%20Model\w3_temp%20experiment-table_100R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Axelrod%20Model\axel_ou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\socialSame_ou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IIST\SEM%202\ICS\Project\codes\Axelrod%20Model\w3_temp%20experiment-table_100R.csv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IIST\SEM%202\ICS\Project\codes\Axelrod%20Model\w3_temp%20experiment-table_100R.csv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\socialSame_ou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_bNOTa\socialDiff_ou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_bNOTa\socialDiff_ou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\socialSame_ou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IIST\SEM%202\ICS\Project\codes\Axelrod%20Model\w3_temp%20experiment-table_100R.csv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IIST\SEM%202\ICS\Project\codes\Axelrod%20Model\w3_temp%20experiment-table_100R.csv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_Stubborn\stubborn_ou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_Stubborn\stubborn_ou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_Stubborn\stubborn_out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IIST\SEM%202\ICS\Project\codes\Social%20Influence_Stubborn\stubborn_out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event-count vs cultures of axelrod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Axelrod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Sheet2!$A$2:$A$66</c:f>
              <c:numCache>
                <c:formatCode>General</c:formatCode>
                <c:ptCount val="65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</c:numCache>
            </c:numRef>
          </c:xVal>
          <c:yVal>
            <c:numRef>
              <c:f>Sheet2!$B$2:$B$66</c:f>
              <c:numCache>
                <c:formatCode>General</c:formatCode>
                <c:ptCount val="65"/>
                <c:pt idx="0">
                  <c:v>895</c:v>
                </c:pt>
                <c:pt idx="1">
                  <c:v>474</c:v>
                </c:pt>
                <c:pt idx="2">
                  <c:v>477</c:v>
                </c:pt>
                <c:pt idx="3">
                  <c:v>454</c:v>
                </c:pt>
                <c:pt idx="4">
                  <c:v>410</c:v>
                </c:pt>
                <c:pt idx="5">
                  <c:v>483</c:v>
                </c:pt>
                <c:pt idx="6">
                  <c:v>405</c:v>
                </c:pt>
                <c:pt idx="7">
                  <c:v>365</c:v>
                </c:pt>
                <c:pt idx="8">
                  <c:v>391</c:v>
                </c:pt>
                <c:pt idx="9">
                  <c:v>330</c:v>
                </c:pt>
                <c:pt idx="10">
                  <c:v>316</c:v>
                </c:pt>
                <c:pt idx="11">
                  <c:v>281</c:v>
                </c:pt>
                <c:pt idx="12">
                  <c:v>240</c:v>
                </c:pt>
                <c:pt idx="13">
                  <c:v>253</c:v>
                </c:pt>
                <c:pt idx="14">
                  <c:v>231</c:v>
                </c:pt>
                <c:pt idx="15">
                  <c:v>186</c:v>
                </c:pt>
                <c:pt idx="16">
                  <c:v>176</c:v>
                </c:pt>
                <c:pt idx="17">
                  <c:v>183</c:v>
                </c:pt>
                <c:pt idx="18">
                  <c:v>167</c:v>
                </c:pt>
                <c:pt idx="19">
                  <c:v>133</c:v>
                </c:pt>
                <c:pt idx="20">
                  <c:v>135</c:v>
                </c:pt>
                <c:pt idx="21">
                  <c:v>135</c:v>
                </c:pt>
                <c:pt idx="22">
                  <c:v>95</c:v>
                </c:pt>
                <c:pt idx="23">
                  <c:v>92</c:v>
                </c:pt>
                <c:pt idx="24">
                  <c:v>85</c:v>
                </c:pt>
                <c:pt idx="25">
                  <c:v>78</c:v>
                </c:pt>
                <c:pt idx="26">
                  <c:v>63</c:v>
                </c:pt>
                <c:pt idx="27">
                  <c:v>61</c:v>
                </c:pt>
                <c:pt idx="28">
                  <c:v>57</c:v>
                </c:pt>
                <c:pt idx="29">
                  <c:v>63</c:v>
                </c:pt>
                <c:pt idx="30">
                  <c:v>55</c:v>
                </c:pt>
                <c:pt idx="31">
                  <c:v>49</c:v>
                </c:pt>
                <c:pt idx="32">
                  <c:v>42</c:v>
                </c:pt>
                <c:pt idx="33">
                  <c:v>53</c:v>
                </c:pt>
                <c:pt idx="34">
                  <c:v>42</c:v>
                </c:pt>
                <c:pt idx="35">
                  <c:v>30</c:v>
                </c:pt>
                <c:pt idx="36">
                  <c:v>27</c:v>
                </c:pt>
                <c:pt idx="37">
                  <c:v>32</c:v>
                </c:pt>
                <c:pt idx="38">
                  <c:v>30</c:v>
                </c:pt>
                <c:pt idx="39">
                  <c:v>30</c:v>
                </c:pt>
                <c:pt idx="40">
                  <c:v>32</c:v>
                </c:pt>
                <c:pt idx="41">
                  <c:v>31</c:v>
                </c:pt>
                <c:pt idx="42">
                  <c:v>30</c:v>
                </c:pt>
                <c:pt idx="43">
                  <c:v>22</c:v>
                </c:pt>
                <c:pt idx="44">
                  <c:v>27</c:v>
                </c:pt>
                <c:pt idx="45">
                  <c:v>27</c:v>
                </c:pt>
                <c:pt idx="46">
                  <c:v>26</c:v>
                </c:pt>
                <c:pt idx="47">
                  <c:v>25</c:v>
                </c:pt>
                <c:pt idx="48">
                  <c:v>19</c:v>
                </c:pt>
                <c:pt idx="49">
                  <c:v>11</c:v>
                </c:pt>
                <c:pt idx="50">
                  <c:v>11</c:v>
                </c:pt>
                <c:pt idx="51">
                  <c:v>10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7</c:v>
                </c:pt>
                <c:pt idx="56">
                  <c:v>4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506-4EA7-83FF-CD03C0159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8047600"/>
        <c:axId val="418050480"/>
      </c:scatterChart>
      <c:valAx>
        <c:axId val="4180476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event-count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050480"/>
        <c:crosses val="autoZero"/>
        <c:crossBetween val="midCat"/>
      </c:valAx>
      <c:valAx>
        <c:axId val="41805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cultures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0476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interaction-count vs cultures of axelrod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Sheet2!$P$1</c:f>
              <c:strCache>
                <c:ptCount val="1"/>
                <c:pt idx="0">
                  <c:v>Axelrod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Sheet2!$O$2:$O$66</c:f>
              <c:numCache>
                <c:formatCode>General</c:formatCode>
                <c:ptCount val="65"/>
                <c:pt idx="0">
                  <c:v>0</c:v>
                </c:pt>
                <c:pt idx="1">
                  <c:v>20392</c:v>
                </c:pt>
                <c:pt idx="2">
                  <c:v>49338</c:v>
                </c:pt>
                <c:pt idx="3">
                  <c:v>81942</c:v>
                </c:pt>
                <c:pt idx="4">
                  <c:v>116145</c:v>
                </c:pt>
                <c:pt idx="5">
                  <c:v>151993</c:v>
                </c:pt>
                <c:pt idx="6">
                  <c:v>189119</c:v>
                </c:pt>
                <c:pt idx="7">
                  <c:v>225760</c:v>
                </c:pt>
                <c:pt idx="8">
                  <c:v>262575</c:v>
                </c:pt>
                <c:pt idx="9">
                  <c:v>299995</c:v>
                </c:pt>
                <c:pt idx="10">
                  <c:v>337168</c:v>
                </c:pt>
                <c:pt idx="11">
                  <c:v>374233</c:v>
                </c:pt>
                <c:pt idx="12">
                  <c:v>410747</c:v>
                </c:pt>
                <c:pt idx="13">
                  <c:v>447935</c:v>
                </c:pt>
                <c:pt idx="14">
                  <c:v>484495</c:v>
                </c:pt>
                <c:pt idx="15">
                  <c:v>520638</c:v>
                </c:pt>
                <c:pt idx="16">
                  <c:v>556517</c:v>
                </c:pt>
                <c:pt idx="17">
                  <c:v>593266</c:v>
                </c:pt>
                <c:pt idx="18">
                  <c:v>629152</c:v>
                </c:pt>
                <c:pt idx="19">
                  <c:v>664932</c:v>
                </c:pt>
                <c:pt idx="20">
                  <c:v>699423</c:v>
                </c:pt>
                <c:pt idx="21">
                  <c:v>734074</c:v>
                </c:pt>
                <c:pt idx="22">
                  <c:v>769084</c:v>
                </c:pt>
                <c:pt idx="23">
                  <c:v>803547</c:v>
                </c:pt>
                <c:pt idx="24">
                  <c:v>836571</c:v>
                </c:pt>
                <c:pt idx="25">
                  <c:v>869698</c:v>
                </c:pt>
                <c:pt idx="26">
                  <c:v>902647</c:v>
                </c:pt>
                <c:pt idx="27">
                  <c:v>935157</c:v>
                </c:pt>
                <c:pt idx="28">
                  <c:v>968062</c:v>
                </c:pt>
                <c:pt idx="29">
                  <c:v>1001458</c:v>
                </c:pt>
                <c:pt idx="30">
                  <c:v>1033635</c:v>
                </c:pt>
                <c:pt idx="31">
                  <c:v>1065394</c:v>
                </c:pt>
                <c:pt idx="32">
                  <c:v>1095944</c:v>
                </c:pt>
                <c:pt idx="33">
                  <c:v>1127076</c:v>
                </c:pt>
                <c:pt idx="34">
                  <c:v>1156602</c:v>
                </c:pt>
                <c:pt idx="35">
                  <c:v>1186880</c:v>
                </c:pt>
                <c:pt idx="36">
                  <c:v>1215513</c:v>
                </c:pt>
                <c:pt idx="37">
                  <c:v>1243480</c:v>
                </c:pt>
                <c:pt idx="38">
                  <c:v>1272613</c:v>
                </c:pt>
                <c:pt idx="39">
                  <c:v>1304677</c:v>
                </c:pt>
                <c:pt idx="40">
                  <c:v>1336543</c:v>
                </c:pt>
                <c:pt idx="41">
                  <c:v>1368507</c:v>
                </c:pt>
                <c:pt idx="42">
                  <c:v>1398232</c:v>
                </c:pt>
                <c:pt idx="43">
                  <c:v>1426725</c:v>
                </c:pt>
                <c:pt idx="44">
                  <c:v>1455547</c:v>
                </c:pt>
                <c:pt idx="45">
                  <c:v>1482915</c:v>
                </c:pt>
                <c:pt idx="46">
                  <c:v>1509342</c:v>
                </c:pt>
                <c:pt idx="47">
                  <c:v>1533080</c:v>
                </c:pt>
                <c:pt idx="48">
                  <c:v>1557868</c:v>
                </c:pt>
                <c:pt idx="49">
                  <c:v>1579786</c:v>
                </c:pt>
                <c:pt idx="50">
                  <c:v>1597208</c:v>
                </c:pt>
                <c:pt idx="51">
                  <c:v>1611704</c:v>
                </c:pt>
                <c:pt idx="52">
                  <c:v>1630077</c:v>
                </c:pt>
                <c:pt idx="53">
                  <c:v>1650016</c:v>
                </c:pt>
                <c:pt idx="54">
                  <c:v>1668529</c:v>
                </c:pt>
                <c:pt idx="55">
                  <c:v>1685809</c:v>
                </c:pt>
                <c:pt idx="56">
                  <c:v>1695723</c:v>
                </c:pt>
                <c:pt idx="57">
                  <c:v>1702819</c:v>
                </c:pt>
                <c:pt idx="58">
                  <c:v>1709931</c:v>
                </c:pt>
                <c:pt idx="59">
                  <c:v>1716500</c:v>
                </c:pt>
                <c:pt idx="60">
                  <c:v>1721289</c:v>
                </c:pt>
                <c:pt idx="61">
                  <c:v>1722972</c:v>
                </c:pt>
                <c:pt idx="62">
                  <c:v>1723773</c:v>
                </c:pt>
                <c:pt idx="63">
                  <c:v>1724911</c:v>
                </c:pt>
                <c:pt idx="64">
                  <c:v>1724918</c:v>
                </c:pt>
              </c:numCache>
            </c:numRef>
          </c:xVal>
          <c:yVal>
            <c:numRef>
              <c:f>Sheet2!$P$2:$P$66</c:f>
              <c:numCache>
                <c:formatCode>General</c:formatCode>
                <c:ptCount val="65"/>
                <c:pt idx="0">
                  <c:v>895</c:v>
                </c:pt>
                <c:pt idx="1">
                  <c:v>474</c:v>
                </c:pt>
                <c:pt idx="2">
                  <c:v>477</c:v>
                </c:pt>
                <c:pt idx="3">
                  <c:v>454</c:v>
                </c:pt>
                <c:pt idx="4">
                  <c:v>410</c:v>
                </c:pt>
                <c:pt idx="5">
                  <c:v>483</c:v>
                </c:pt>
                <c:pt idx="6">
                  <c:v>405</c:v>
                </c:pt>
                <c:pt idx="7">
                  <c:v>365</c:v>
                </c:pt>
                <c:pt idx="8">
                  <c:v>391</c:v>
                </c:pt>
                <c:pt idx="9">
                  <c:v>330</c:v>
                </c:pt>
                <c:pt idx="10">
                  <c:v>316</c:v>
                </c:pt>
                <c:pt idx="11">
                  <c:v>281</c:v>
                </c:pt>
                <c:pt idx="12">
                  <c:v>240</c:v>
                </c:pt>
                <c:pt idx="13">
                  <c:v>253</c:v>
                </c:pt>
                <c:pt idx="14">
                  <c:v>231</c:v>
                </c:pt>
                <c:pt idx="15">
                  <c:v>186</c:v>
                </c:pt>
                <c:pt idx="16">
                  <c:v>176</c:v>
                </c:pt>
                <c:pt idx="17">
                  <c:v>183</c:v>
                </c:pt>
                <c:pt idx="18">
                  <c:v>167</c:v>
                </c:pt>
                <c:pt idx="19">
                  <c:v>133</c:v>
                </c:pt>
                <c:pt idx="20">
                  <c:v>135</c:v>
                </c:pt>
                <c:pt idx="21">
                  <c:v>135</c:v>
                </c:pt>
                <c:pt idx="22">
                  <c:v>95</c:v>
                </c:pt>
                <c:pt idx="23">
                  <c:v>92</c:v>
                </c:pt>
                <c:pt idx="24">
                  <c:v>85</c:v>
                </c:pt>
                <c:pt idx="25">
                  <c:v>78</c:v>
                </c:pt>
                <c:pt idx="26">
                  <c:v>63</c:v>
                </c:pt>
                <c:pt idx="27">
                  <c:v>61</c:v>
                </c:pt>
                <c:pt idx="28">
                  <c:v>57</c:v>
                </c:pt>
                <c:pt idx="29">
                  <c:v>63</c:v>
                </c:pt>
                <c:pt idx="30">
                  <c:v>55</c:v>
                </c:pt>
                <c:pt idx="31">
                  <c:v>49</c:v>
                </c:pt>
                <c:pt idx="32">
                  <c:v>42</c:v>
                </c:pt>
                <c:pt idx="33">
                  <c:v>53</c:v>
                </c:pt>
                <c:pt idx="34">
                  <c:v>42</c:v>
                </c:pt>
                <c:pt idx="35">
                  <c:v>30</c:v>
                </c:pt>
                <c:pt idx="36">
                  <c:v>27</c:v>
                </c:pt>
                <c:pt idx="37">
                  <c:v>32</c:v>
                </c:pt>
                <c:pt idx="38">
                  <c:v>30</c:v>
                </c:pt>
                <c:pt idx="39">
                  <c:v>30</c:v>
                </c:pt>
                <c:pt idx="40">
                  <c:v>32</c:v>
                </c:pt>
                <c:pt idx="41">
                  <c:v>31</c:v>
                </c:pt>
                <c:pt idx="42">
                  <c:v>30</c:v>
                </c:pt>
                <c:pt idx="43">
                  <c:v>22</c:v>
                </c:pt>
                <c:pt idx="44">
                  <c:v>27</c:v>
                </c:pt>
                <c:pt idx="45">
                  <c:v>27</c:v>
                </c:pt>
                <c:pt idx="46">
                  <c:v>26</c:v>
                </c:pt>
                <c:pt idx="47">
                  <c:v>25</c:v>
                </c:pt>
                <c:pt idx="48">
                  <c:v>19</c:v>
                </c:pt>
                <c:pt idx="49">
                  <c:v>11</c:v>
                </c:pt>
                <c:pt idx="50">
                  <c:v>11</c:v>
                </c:pt>
                <c:pt idx="51">
                  <c:v>10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7</c:v>
                </c:pt>
                <c:pt idx="56">
                  <c:v>4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9C0-4BCD-B210-73B740C71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7830928"/>
        <c:axId val="357829488"/>
      </c:scatterChart>
      <c:valAx>
        <c:axId val="3578309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interaction-count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829488"/>
        <c:crosses val="autoZero"/>
        <c:crossBetween val="midCat"/>
      </c:valAx>
      <c:valAx>
        <c:axId val="357829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cultures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8309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 number-of-regions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number-of-regions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2.8333333299999999</c:v>
                </c:pt>
                <c:pt idx="1">
                  <c:v>1.5</c:v>
                </c:pt>
                <c:pt idx="2">
                  <c:v>1.27</c:v>
                </c:pt>
                <c:pt idx="3">
                  <c:v>1.1299999999999999</c:v>
                </c:pt>
                <c:pt idx="4">
                  <c:v>1.1299999999999999</c:v>
                </c:pt>
                <c:pt idx="5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DB-4684-8A6D-47768B9451E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30147920"/>
        <c:axId val="530139640"/>
      </c:scatterChart>
      <c:valAx>
        <c:axId val="530147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139640"/>
        <c:crosses val="autoZero"/>
        <c:crossBetween val="midCat"/>
      </c:valAx>
      <c:valAx>
        <c:axId val="530139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number-of-regions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1479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 number-of-regions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number-of-regions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2.63</c:v>
                </c:pt>
                <c:pt idx="1">
                  <c:v>1.97</c:v>
                </c:pt>
                <c:pt idx="2">
                  <c:v>1.83</c:v>
                </c:pt>
                <c:pt idx="3">
                  <c:v>1.97</c:v>
                </c:pt>
                <c:pt idx="4">
                  <c:v>2.23</c:v>
                </c:pt>
                <c:pt idx="5">
                  <c:v>2.36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D2-481F-B453-B4BADBADDBA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15219064"/>
        <c:axId val="1115219424"/>
      </c:scatterChart>
      <c:valAx>
        <c:axId val="11152190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219424"/>
        <c:crosses val="autoZero"/>
        <c:crossBetween val="midCat"/>
      </c:valAx>
      <c:valAx>
        <c:axId val="1115219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number-of-regions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2190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IN" sz="18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event-count vs cultures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894861990619695"/>
          <c:y val="0.1519303390414361"/>
          <c:w val="0.77749290935562032"/>
          <c:h val="0.69895219566067213"/>
        </c:manualLayout>
      </c:layout>
      <c:scatterChart>
        <c:scatterStyle val="smoothMarker"/>
        <c:varyColors val="0"/>
        <c:ser>
          <c:idx val="1"/>
          <c:order val="0"/>
          <c:tx>
            <c:strRef>
              <c:f>Sheet2!$B$1</c:f>
              <c:strCache>
                <c:ptCount val="1"/>
                <c:pt idx="0">
                  <c:v>Axelrod</c:v>
                </c:pt>
              </c:strCache>
            </c:strRef>
          </c:tx>
          <c:xVal>
            <c:numRef>
              <c:f>Sheet2!$A$2:$A$66</c:f>
              <c:numCache>
                <c:formatCode>General</c:formatCode>
                <c:ptCount val="65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3700000</c:v>
                </c:pt>
                <c:pt idx="38">
                  <c:v>3800000</c:v>
                </c:pt>
                <c:pt idx="39">
                  <c:v>3900000</c:v>
                </c:pt>
                <c:pt idx="40">
                  <c:v>4000000</c:v>
                </c:pt>
                <c:pt idx="41">
                  <c:v>4100000</c:v>
                </c:pt>
                <c:pt idx="42">
                  <c:v>4200000</c:v>
                </c:pt>
                <c:pt idx="43">
                  <c:v>4300000</c:v>
                </c:pt>
                <c:pt idx="44">
                  <c:v>4400000</c:v>
                </c:pt>
                <c:pt idx="45">
                  <c:v>4500000</c:v>
                </c:pt>
                <c:pt idx="46">
                  <c:v>4600000</c:v>
                </c:pt>
                <c:pt idx="47">
                  <c:v>4700000</c:v>
                </c:pt>
                <c:pt idx="48">
                  <c:v>4800000</c:v>
                </c:pt>
                <c:pt idx="49">
                  <c:v>4900000</c:v>
                </c:pt>
                <c:pt idx="50">
                  <c:v>5000000</c:v>
                </c:pt>
                <c:pt idx="51">
                  <c:v>5100000</c:v>
                </c:pt>
                <c:pt idx="52">
                  <c:v>5200000</c:v>
                </c:pt>
                <c:pt idx="53">
                  <c:v>5300000</c:v>
                </c:pt>
                <c:pt idx="54">
                  <c:v>5400000</c:v>
                </c:pt>
                <c:pt idx="55">
                  <c:v>5500000</c:v>
                </c:pt>
                <c:pt idx="56">
                  <c:v>5600000</c:v>
                </c:pt>
                <c:pt idx="57">
                  <c:v>5700000</c:v>
                </c:pt>
                <c:pt idx="58">
                  <c:v>5800000</c:v>
                </c:pt>
                <c:pt idx="59">
                  <c:v>5900000</c:v>
                </c:pt>
                <c:pt idx="60">
                  <c:v>6000000</c:v>
                </c:pt>
                <c:pt idx="61">
                  <c:v>6100000</c:v>
                </c:pt>
                <c:pt idx="62">
                  <c:v>6200000</c:v>
                </c:pt>
                <c:pt idx="63">
                  <c:v>6300000</c:v>
                </c:pt>
                <c:pt idx="64">
                  <c:v>6400000</c:v>
                </c:pt>
              </c:numCache>
            </c:numRef>
          </c:xVal>
          <c:yVal>
            <c:numRef>
              <c:f>Sheet2!$B$2:$B$66</c:f>
              <c:numCache>
                <c:formatCode>General</c:formatCode>
                <c:ptCount val="65"/>
                <c:pt idx="0">
                  <c:v>895</c:v>
                </c:pt>
                <c:pt idx="1">
                  <c:v>474</c:v>
                </c:pt>
                <c:pt idx="2">
                  <c:v>477</c:v>
                </c:pt>
                <c:pt idx="3">
                  <c:v>454</c:v>
                </c:pt>
                <c:pt idx="4">
                  <c:v>410</c:v>
                </c:pt>
                <c:pt idx="5">
                  <c:v>483</c:v>
                </c:pt>
                <c:pt idx="6">
                  <c:v>405</c:v>
                </c:pt>
                <c:pt idx="7">
                  <c:v>365</c:v>
                </c:pt>
                <c:pt idx="8">
                  <c:v>391</c:v>
                </c:pt>
                <c:pt idx="9">
                  <c:v>330</c:v>
                </c:pt>
                <c:pt idx="10">
                  <c:v>316</c:v>
                </c:pt>
                <c:pt idx="11">
                  <c:v>281</c:v>
                </c:pt>
                <c:pt idx="12">
                  <c:v>240</c:v>
                </c:pt>
                <c:pt idx="13">
                  <c:v>253</c:v>
                </c:pt>
                <c:pt idx="14">
                  <c:v>231</c:v>
                </c:pt>
                <c:pt idx="15">
                  <c:v>186</c:v>
                </c:pt>
                <c:pt idx="16">
                  <c:v>176</c:v>
                </c:pt>
                <c:pt idx="17">
                  <c:v>183</c:v>
                </c:pt>
                <c:pt idx="18">
                  <c:v>167</c:v>
                </c:pt>
                <c:pt idx="19">
                  <c:v>133</c:v>
                </c:pt>
                <c:pt idx="20">
                  <c:v>135</c:v>
                </c:pt>
                <c:pt idx="21">
                  <c:v>135</c:v>
                </c:pt>
                <c:pt idx="22">
                  <c:v>95</c:v>
                </c:pt>
                <c:pt idx="23">
                  <c:v>92</c:v>
                </c:pt>
                <c:pt idx="24">
                  <c:v>85</c:v>
                </c:pt>
                <c:pt idx="25">
                  <c:v>78</c:v>
                </c:pt>
                <c:pt idx="26">
                  <c:v>63</c:v>
                </c:pt>
                <c:pt idx="27">
                  <c:v>61</c:v>
                </c:pt>
                <c:pt idx="28">
                  <c:v>57</c:v>
                </c:pt>
                <c:pt idx="29">
                  <c:v>63</c:v>
                </c:pt>
                <c:pt idx="30">
                  <c:v>55</c:v>
                </c:pt>
                <c:pt idx="31">
                  <c:v>49</c:v>
                </c:pt>
                <c:pt idx="32">
                  <c:v>42</c:v>
                </c:pt>
                <c:pt idx="33">
                  <c:v>53</c:v>
                </c:pt>
                <c:pt idx="34">
                  <c:v>42</c:v>
                </c:pt>
                <c:pt idx="35">
                  <c:v>30</c:v>
                </c:pt>
                <c:pt idx="36">
                  <c:v>27</c:v>
                </c:pt>
                <c:pt idx="37">
                  <c:v>32</c:v>
                </c:pt>
                <c:pt idx="38">
                  <c:v>30</c:v>
                </c:pt>
                <c:pt idx="39">
                  <c:v>30</c:v>
                </c:pt>
                <c:pt idx="40">
                  <c:v>32</c:v>
                </c:pt>
                <c:pt idx="41">
                  <c:v>31</c:v>
                </c:pt>
                <c:pt idx="42">
                  <c:v>30</c:v>
                </c:pt>
                <c:pt idx="43">
                  <c:v>22</c:v>
                </c:pt>
                <c:pt idx="44">
                  <c:v>27</c:v>
                </c:pt>
                <c:pt idx="45">
                  <c:v>27</c:v>
                </c:pt>
                <c:pt idx="46">
                  <c:v>26</c:v>
                </c:pt>
                <c:pt idx="47">
                  <c:v>25</c:v>
                </c:pt>
                <c:pt idx="48">
                  <c:v>19</c:v>
                </c:pt>
                <c:pt idx="49">
                  <c:v>11</c:v>
                </c:pt>
                <c:pt idx="50">
                  <c:v>11</c:v>
                </c:pt>
                <c:pt idx="51">
                  <c:v>10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7</c:v>
                </c:pt>
                <c:pt idx="56">
                  <c:v>4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4A-4F86-B404-FC618A7FB195}"/>
            </c:ext>
          </c:extLst>
        </c:ser>
        <c:ser>
          <c:idx val="0"/>
          <c:order val="1"/>
          <c:tx>
            <c:strRef>
              <c:f>Sheet2!$D$1</c:f>
              <c:strCache>
                <c:ptCount val="1"/>
                <c:pt idx="0">
                  <c:v>SI Model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Sheet2!$C$2:$C$39</c:f>
              <c:numCache>
                <c:formatCode>General</c:formatCode>
                <c:ptCount val="38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3669959</c:v>
                </c:pt>
              </c:numCache>
            </c:numRef>
          </c:xVal>
          <c:yVal>
            <c:numRef>
              <c:f>Sheet2!$D$2:$D$39</c:f>
              <c:numCache>
                <c:formatCode>General</c:formatCode>
                <c:ptCount val="38"/>
                <c:pt idx="0">
                  <c:v>898</c:v>
                </c:pt>
                <c:pt idx="1">
                  <c:v>418</c:v>
                </c:pt>
                <c:pt idx="2">
                  <c:v>261</c:v>
                </c:pt>
                <c:pt idx="3">
                  <c:v>203</c:v>
                </c:pt>
                <c:pt idx="4">
                  <c:v>209</c:v>
                </c:pt>
                <c:pt idx="5">
                  <c:v>160</c:v>
                </c:pt>
                <c:pt idx="6">
                  <c:v>160</c:v>
                </c:pt>
                <c:pt idx="7">
                  <c:v>143</c:v>
                </c:pt>
                <c:pt idx="8">
                  <c:v>154</c:v>
                </c:pt>
                <c:pt idx="9">
                  <c:v>144</c:v>
                </c:pt>
                <c:pt idx="10">
                  <c:v>125</c:v>
                </c:pt>
                <c:pt idx="11">
                  <c:v>114</c:v>
                </c:pt>
                <c:pt idx="12">
                  <c:v>87</c:v>
                </c:pt>
                <c:pt idx="13">
                  <c:v>78</c:v>
                </c:pt>
                <c:pt idx="14">
                  <c:v>79</c:v>
                </c:pt>
                <c:pt idx="15">
                  <c:v>68</c:v>
                </c:pt>
                <c:pt idx="16">
                  <c:v>64</c:v>
                </c:pt>
                <c:pt idx="17">
                  <c:v>62</c:v>
                </c:pt>
                <c:pt idx="18">
                  <c:v>51</c:v>
                </c:pt>
                <c:pt idx="19">
                  <c:v>46</c:v>
                </c:pt>
                <c:pt idx="20">
                  <c:v>43</c:v>
                </c:pt>
                <c:pt idx="21">
                  <c:v>30</c:v>
                </c:pt>
                <c:pt idx="22">
                  <c:v>27</c:v>
                </c:pt>
                <c:pt idx="23">
                  <c:v>24</c:v>
                </c:pt>
                <c:pt idx="24">
                  <c:v>19</c:v>
                </c:pt>
                <c:pt idx="25">
                  <c:v>12</c:v>
                </c:pt>
                <c:pt idx="26">
                  <c:v>10</c:v>
                </c:pt>
                <c:pt idx="27">
                  <c:v>11</c:v>
                </c:pt>
                <c:pt idx="28">
                  <c:v>8</c:v>
                </c:pt>
                <c:pt idx="29">
                  <c:v>6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4</c:v>
                </c:pt>
                <c:pt idx="36">
                  <c:v>3</c:v>
                </c:pt>
                <c:pt idx="37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E4A-4F86-B404-FC618A7FB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8047960"/>
        <c:axId val="418044360"/>
      </c:scatterChart>
      <c:valAx>
        <c:axId val="418047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/>
                  <a:t>event-count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044360"/>
        <c:crosses val="autoZero"/>
        <c:crossBetween val="midCat"/>
      </c:valAx>
      <c:valAx>
        <c:axId val="418044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/>
                  <a:t>cultures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04796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3227006413065934"/>
          <c:y val="0.15132267316219775"/>
          <c:w val="0.26792187444899523"/>
          <c:h val="0.2594230141517771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interaction-count vs cultures 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5081714785651792"/>
          <c:y val="0.17171296296296296"/>
          <c:w val="0.78034507981584256"/>
          <c:h val="0.65096695145144756"/>
        </c:manualLayout>
      </c:layout>
      <c:scatterChart>
        <c:scatterStyle val="smoothMarker"/>
        <c:varyColors val="0"/>
        <c:ser>
          <c:idx val="1"/>
          <c:order val="0"/>
          <c:tx>
            <c:strRef>
              <c:f>Sheet2!$P$1</c:f>
              <c:strCache>
                <c:ptCount val="1"/>
                <c:pt idx="0">
                  <c:v>Axelrod</c:v>
                </c:pt>
              </c:strCache>
            </c:strRef>
          </c:tx>
          <c:xVal>
            <c:numRef>
              <c:f>Sheet2!$O$2:$O$66</c:f>
              <c:numCache>
                <c:formatCode>General</c:formatCode>
                <c:ptCount val="65"/>
                <c:pt idx="0">
                  <c:v>0</c:v>
                </c:pt>
                <c:pt idx="1">
                  <c:v>20392</c:v>
                </c:pt>
                <c:pt idx="2">
                  <c:v>49338</c:v>
                </c:pt>
                <c:pt idx="3">
                  <c:v>81942</c:v>
                </c:pt>
                <c:pt idx="4">
                  <c:v>116145</c:v>
                </c:pt>
                <c:pt idx="5">
                  <c:v>151993</c:v>
                </c:pt>
                <c:pt idx="6">
                  <c:v>189119</c:v>
                </c:pt>
                <c:pt idx="7">
                  <c:v>225760</c:v>
                </c:pt>
                <c:pt idx="8">
                  <c:v>262575</c:v>
                </c:pt>
                <c:pt idx="9">
                  <c:v>299995</c:v>
                </c:pt>
                <c:pt idx="10">
                  <c:v>337168</c:v>
                </c:pt>
                <c:pt idx="11">
                  <c:v>374233</c:v>
                </c:pt>
                <c:pt idx="12">
                  <c:v>410747</c:v>
                </c:pt>
                <c:pt idx="13">
                  <c:v>447935</c:v>
                </c:pt>
                <c:pt idx="14">
                  <c:v>484495</c:v>
                </c:pt>
                <c:pt idx="15">
                  <c:v>520638</c:v>
                </c:pt>
                <c:pt idx="16">
                  <c:v>556517</c:v>
                </c:pt>
                <c:pt idx="17">
                  <c:v>593266</c:v>
                </c:pt>
                <c:pt idx="18">
                  <c:v>629152</c:v>
                </c:pt>
                <c:pt idx="19">
                  <c:v>664932</c:v>
                </c:pt>
                <c:pt idx="20">
                  <c:v>699423</c:v>
                </c:pt>
                <c:pt idx="21">
                  <c:v>734074</c:v>
                </c:pt>
                <c:pt idx="22">
                  <c:v>769084</c:v>
                </c:pt>
                <c:pt idx="23">
                  <c:v>803547</c:v>
                </c:pt>
                <c:pt idx="24">
                  <c:v>836571</c:v>
                </c:pt>
                <c:pt idx="25">
                  <c:v>869698</c:v>
                </c:pt>
                <c:pt idx="26">
                  <c:v>902647</c:v>
                </c:pt>
                <c:pt idx="27">
                  <c:v>935157</c:v>
                </c:pt>
                <c:pt idx="28">
                  <c:v>968062</c:v>
                </c:pt>
                <c:pt idx="29">
                  <c:v>1001458</c:v>
                </c:pt>
                <c:pt idx="30">
                  <c:v>1033635</c:v>
                </c:pt>
                <c:pt idx="31">
                  <c:v>1065394</c:v>
                </c:pt>
                <c:pt idx="32">
                  <c:v>1095944</c:v>
                </c:pt>
                <c:pt idx="33">
                  <c:v>1127076</c:v>
                </c:pt>
                <c:pt idx="34">
                  <c:v>1156602</c:v>
                </c:pt>
                <c:pt idx="35">
                  <c:v>1186880</c:v>
                </c:pt>
                <c:pt idx="36">
                  <c:v>1215513</c:v>
                </c:pt>
                <c:pt idx="37">
                  <c:v>1243480</c:v>
                </c:pt>
                <c:pt idx="38">
                  <c:v>1272613</c:v>
                </c:pt>
                <c:pt idx="39">
                  <c:v>1304677</c:v>
                </c:pt>
                <c:pt idx="40">
                  <c:v>1336543</c:v>
                </c:pt>
                <c:pt idx="41">
                  <c:v>1368507</c:v>
                </c:pt>
                <c:pt idx="42">
                  <c:v>1398232</c:v>
                </c:pt>
                <c:pt idx="43">
                  <c:v>1426725</c:v>
                </c:pt>
                <c:pt idx="44">
                  <c:v>1455547</c:v>
                </c:pt>
                <c:pt idx="45">
                  <c:v>1482915</c:v>
                </c:pt>
                <c:pt idx="46">
                  <c:v>1509342</c:v>
                </c:pt>
                <c:pt idx="47">
                  <c:v>1533080</c:v>
                </c:pt>
                <c:pt idx="48">
                  <c:v>1557868</c:v>
                </c:pt>
                <c:pt idx="49">
                  <c:v>1579786</c:v>
                </c:pt>
                <c:pt idx="50">
                  <c:v>1597208</c:v>
                </c:pt>
                <c:pt idx="51">
                  <c:v>1611704</c:v>
                </c:pt>
                <c:pt idx="52">
                  <c:v>1630077</c:v>
                </c:pt>
                <c:pt idx="53">
                  <c:v>1650016</c:v>
                </c:pt>
                <c:pt idx="54">
                  <c:v>1668529</c:v>
                </c:pt>
                <c:pt idx="55">
                  <c:v>1685809</c:v>
                </c:pt>
                <c:pt idx="56">
                  <c:v>1695723</c:v>
                </c:pt>
                <c:pt idx="57">
                  <c:v>1702819</c:v>
                </c:pt>
                <c:pt idx="58">
                  <c:v>1709931</c:v>
                </c:pt>
                <c:pt idx="59">
                  <c:v>1716500</c:v>
                </c:pt>
                <c:pt idx="60">
                  <c:v>1721289</c:v>
                </c:pt>
                <c:pt idx="61">
                  <c:v>1722972</c:v>
                </c:pt>
                <c:pt idx="62">
                  <c:v>1723773</c:v>
                </c:pt>
                <c:pt idx="63">
                  <c:v>1724911</c:v>
                </c:pt>
                <c:pt idx="64">
                  <c:v>1724918</c:v>
                </c:pt>
              </c:numCache>
            </c:numRef>
          </c:xVal>
          <c:yVal>
            <c:numRef>
              <c:f>Sheet2!$P$2:$P$66</c:f>
              <c:numCache>
                <c:formatCode>General</c:formatCode>
                <c:ptCount val="65"/>
                <c:pt idx="0">
                  <c:v>895</c:v>
                </c:pt>
                <c:pt idx="1">
                  <c:v>474</c:v>
                </c:pt>
                <c:pt idx="2">
                  <c:v>477</c:v>
                </c:pt>
                <c:pt idx="3">
                  <c:v>454</c:v>
                </c:pt>
                <c:pt idx="4">
                  <c:v>410</c:v>
                </c:pt>
                <c:pt idx="5">
                  <c:v>483</c:v>
                </c:pt>
                <c:pt idx="6">
                  <c:v>405</c:v>
                </c:pt>
                <c:pt idx="7">
                  <c:v>365</c:v>
                </c:pt>
                <c:pt idx="8">
                  <c:v>391</c:v>
                </c:pt>
                <c:pt idx="9">
                  <c:v>330</c:v>
                </c:pt>
                <c:pt idx="10">
                  <c:v>316</c:v>
                </c:pt>
                <c:pt idx="11">
                  <c:v>281</c:v>
                </c:pt>
                <c:pt idx="12">
                  <c:v>240</c:v>
                </c:pt>
                <c:pt idx="13">
                  <c:v>253</c:v>
                </c:pt>
                <c:pt idx="14">
                  <c:v>231</c:v>
                </c:pt>
                <c:pt idx="15">
                  <c:v>186</c:v>
                </c:pt>
                <c:pt idx="16">
                  <c:v>176</c:v>
                </c:pt>
                <c:pt idx="17">
                  <c:v>183</c:v>
                </c:pt>
                <c:pt idx="18">
                  <c:v>167</c:v>
                </c:pt>
                <c:pt idx="19">
                  <c:v>133</c:v>
                </c:pt>
                <c:pt idx="20">
                  <c:v>135</c:v>
                </c:pt>
                <c:pt idx="21">
                  <c:v>135</c:v>
                </c:pt>
                <c:pt idx="22">
                  <c:v>95</c:v>
                </c:pt>
                <c:pt idx="23">
                  <c:v>92</c:v>
                </c:pt>
                <c:pt idx="24">
                  <c:v>85</c:v>
                </c:pt>
                <c:pt idx="25">
                  <c:v>78</c:v>
                </c:pt>
                <c:pt idx="26">
                  <c:v>63</c:v>
                </c:pt>
                <c:pt idx="27">
                  <c:v>61</c:v>
                </c:pt>
                <c:pt idx="28">
                  <c:v>57</c:v>
                </c:pt>
                <c:pt idx="29">
                  <c:v>63</c:v>
                </c:pt>
                <c:pt idx="30">
                  <c:v>55</c:v>
                </c:pt>
                <c:pt idx="31">
                  <c:v>49</c:v>
                </c:pt>
                <c:pt idx="32">
                  <c:v>42</c:v>
                </c:pt>
                <c:pt idx="33">
                  <c:v>53</c:v>
                </c:pt>
                <c:pt idx="34">
                  <c:v>42</c:v>
                </c:pt>
                <c:pt idx="35">
                  <c:v>30</c:v>
                </c:pt>
                <c:pt idx="36">
                  <c:v>27</c:v>
                </c:pt>
                <c:pt idx="37">
                  <c:v>32</c:v>
                </c:pt>
                <c:pt idx="38">
                  <c:v>30</c:v>
                </c:pt>
                <c:pt idx="39">
                  <c:v>30</c:v>
                </c:pt>
                <c:pt idx="40">
                  <c:v>32</c:v>
                </c:pt>
                <c:pt idx="41">
                  <c:v>31</c:v>
                </c:pt>
                <c:pt idx="42">
                  <c:v>30</c:v>
                </c:pt>
                <c:pt idx="43">
                  <c:v>22</c:v>
                </c:pt>
                <c:pt idx="44">
                  <c:v>27</c:v>
                </c:pt>
                <c:pt idx="45">
                  <c:v>27</c:v>
                </c:pt>
                <c:pt idx="46">
                  <c:v>26</c:v>
                </c:pt>
                <c:pt idx="47">
                  <c:v>25</c:v>
                </c:pt>
                <c:pt idx="48">
                  <c:v>19</c:v>
                </c:pt>
                <c:pt idx="49">
                  <c:v>11</c:v>
                </c:pt>
                <c:pt idx="50">
                  <c:v>11</c:v>
                </c:pt>
                <c:pt idx="51">
                  <c:v>10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7</c:v>
                </c:pt>
                <c:pt idx="56">
                  <c:v>4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424-4E77-B1AE-0EB2A6AB8AD9}"/>
            </c:ext>
          </c:extLst>
        </c:ser>
        <c:ser>
          <c:idx val="0"/>
          <c:order val="1"/>
          <c:tx>
            <c:strRef>
              <c:f>Sheet2!$S$1</c:f>
              <c:strCache>
                <c:ptCount val="1"/>
                <c:pt idx="0">
                  <c:v>SI Model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Sheet2!$R$2:$R$39</c:f>
              <c:numCache>
                <c:formatCode>General</c:formatCode>
                <c:ptCount val="38"/>
                <c:pt idx="0">
                  <c:v>0</c:v>
                </c:pt>
                <c:pt idx="1">
                  <c:v>7755</c:v>
                </c:pt>
                <c:pt idx="2">
                  <c:v>16607</c:v>
                </c:pt>
                <c:pt idx="3">
                  <c:v>25218</c:v>
                </c:pt>
                <c:pt idx="4">
                  <c:v>34287</c:v>
                </c:pt>
                <c:pt idx="5">
                  <c:v>43730</c:v>
                </c:pt>
                <c:pt idx="6">
                  <c:v>52911</c:v>
                </c:pt>
                <c:pt idx="7">
                  <c:v>62373</c:v>
                </c:pt>
                <c:pt idx="8">
                  <c:v>72172</c:v>
                </c:pt>
                <c:pt idx="9">
                  <c:v>82442</c:v>
                </c:pt>
                <c:pt idx="10">
                  <c:v>91978</c:v>
                </c:pt>
                <c:pt idx="11">
                  <c:v>101267</c:v>
                </c:pt>
                <c:pt idx="12">
                  <c:v>110183</c:v>
                </c:pt>
                <c:pt idx="13">
                  <c:v>118309</c:v>
                </c:pt>
                <c:pt idx="14">
                  <c:v>126449</c:v>
                </c:pt>
                <c:pt idx="15">
                  <c:v>134428</c:v>
                </c:pt>
                <c:pt idx="16">
                  <c:v>142151</c:v>
                </c:pt>
                <c:pt idx="17">
                  <c:v>149870</c:v>
                </c:pt>
                <c:pt idx="18">
                  <c:v>157528</c:v>
                </c:pt>
                <c:pt idx="19">
                  <c:v>164269</c:v>
                </c:pt>
                <c:pt idx="20">
                  <c:v>170769</c:v>
                </c:pt>
                <c:pt idx="21">
                  <c:v>177379</c:v>
                </c:pt>
                <c:pt idx="22">
                  <c:v>183151</c:v>
                </c:pt>
                <c:pt idx="23">
                  <c:v>188621</c:v>
                </c:pt>
                <c:pt idx="24">
                  <c:v>193292</c:v>
                </c:pt>
                <c:pt idx="25">
                  <c:v>197949</c:v>
                </c:pt>
                <c:pt idx="26">
                  <c:v>202212</c:v>
                </c:pt>
                <c:pt idx="27">
                  <c:v>206422</c:v>
                </c:pt>
                <c:pt idx="28">
                  <c:v>210180</c:v>
                </c:pt>
                <c:pt idx="29">
                  <c:v>213379</c:v>
                </c:pt>
                <c:pt idx="30">
                  <c:v>215801</c:v>
                </c:pt>
                <c:pt idx="31">
                  <c:v>218050</c:v>
                </c:pt>
                <c:pt idx="32">
                  <c:v>220284</c:v>
                </c:pt>
                <c:pt idx="33">
                  <c:v>222365</c:v>
                </c:pt>
                <c:pt idx="34">
                  <c:v>224238</c:v>
                </c:pt>
                <c:pt idx="35">
                  <c:v>225815</c:v>
                </c:pt>
                <c:pt idx="36">
                  <c:v>226787</c:v>
                </c:pt>
                <c:pt idx="37">
                  <c:v>226993</c:v>
                </c:pt>
              </c:numCache>
            </c:numRef>
          </c:xVal>
          <c:yVal>
            <c:numRef>
              <c:f>Sheet2!$S$2:$S$39</c:f>
              <c:numCache>
                <c:formatCode>General</c:formatCode>
                <c:ptCount val="38"/>
                <c:pt idx="0">
                  <c:v>898</c:v>
                </c:pt>
                <c:pt idx="1">
                  <c:v>418</c:v>
                </c:pt>
                <c:pt idx="2">
                  <c:v>261</c:v>
                </c:pt>
                <c:pt idx="3">
                  <c:v>203</c:v>
                </c:pt>
                <c:pt idx="4">
                  <c:v>209</c:v>
                </c:pt>
                <c:pt idx="5">
                  <c:v>160</c:v>
                </c:pt>
                <c:pt idx="6">
                  <c:v>160</c:v>
                </c:pt>
                <c:pt idx="7">
                  <c:v>143</c:v>
                </c:pt>
                <c:pt idx="8">
                  <c:v>154</c:v>
                </c:pt>
                <c:pt idx="9">
                  <c:v>144</c:v>
                </c:pt>
                <c:pt idx="10">
                  <c:v>125</c:v>
                </c:pt>
                <c:pt idx="11">
                  <c:v>114</c:v>
                </c:pt>
                <c:pt idx="12">
                  <c:v>87</c:v>
                </c:pt>
                <c:pt idx="13">
                  <c:v>78</c:v>
                </c:pt>
                <c:pt idx="14">
                  <c:v>79</c:v>
                </c:pt>
                <c:pt idx="15">
                  <c:v>68</c:v>
                </c:pt>
                <c:pt idx="16">
                  <c:v>64</c:v>
                </c:pt>
                <c:pt idx="17">
                  <c:v>62</c:v>
                </c:pt>
                <c:pt idx="18">
                  <c:v>51</c:v>
                </c:pt>
                <c:pt idx="19">
                  <c:v>46</c:v>
                </c:pt>
                <c:pt idx="20">
                  <c:v>43</c:v>
                </c:pt>
                <c:pt idx="21">
                  <c:v>30</c:v>
                </c:pt>
                <c:pt idx="22">
                  <c:v>27</c:v>
                </c:pt>
                <c:pt idx="23">
                  <c:v>24</c:v>
                </c:pt>
                <c:pt idx="24">
                  <c:v>19</c:v>
                </c:pt>
                <c:pt idx="25">
                  <c:v>12</c:v>
                </c:pt>
                <c:pt idx="26">
                  <c:v>10</c:v>
                </c:pt>
                <c:pt idx="27">
                  <c:v>11</c:v>
                </c:pt>
                <c:pt idx="28">
                  <c:v>8</c:v>
                </c:pt>
                <c:pt idx="29">
                  <c:v>6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4</c:v>
                </c:pt>
                <c:pt idx="36">
                  <c:v>3</c:v>
                </c:pt>
                <c:pt idx="37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424-4E77-B1AE-0EB2A6AB8A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4714424"/>
        <c:axId val="584712264"/>
      </c:scatterChart>
      <c:valAx>
        <c:axId val="584714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interaction-count</a:t>
                </a:r>
                <a:endParaRPr lang="en-IN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712264"/>
        <c:crosses val="autoZero"/>
        <c:crossBetween val="midCat"/>
      </c:valAx>
      <c:valAx>
        <c:axId val="584712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/>
                  <a:t>cultures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471442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0781186504692375"/>
          <c:y val="0.1880731469560038"/>
          <c:w val="0.15962403606652995"/>
          <c:h val="0.15888334109348223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 number-of-regions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number-of-regions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2.63</c:v>
                </c:pt>
                <c:pt idx="1">
                  <c:v>1.97</c:v>
                </c:pt>
                <c:pt idx="2">
                  <c:v>1.83</c:v>
                </c:pt>
                <c:pt idx="3">
                  <c:v>1.97</c:v>
                </c:pt>
                <c:pt idx="4">
                  <c:v>2.23</c:v>
                </c:pt>
                <c:pt idx="5">
                  <c:v>2.36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923-4B45-BEBB-E0602805F4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15219064"/>
        <c:axId val="1115219424"/>
      </c:scatterChart>
      <c:valAx>
        <c:axId val="11152190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219424"/>
        <c:crosses val="autoZero"/>
        <c:crossBetween val="midCat"/>
      </c:valAx>
      <c:valAx>
        <c:axId val="1115219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number-of-regions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2190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</a:t>
            </a:r>
            <a:r>
              <a:rPr lang="en-US" baseline="0"/>
              <a:t> </a:t>
            </a:r>
            <a:r>
              <a:rPr lang="en-US"/>
              <a:t>number-of-regions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number-of-regions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3.03</c:v>
                </c:pt>
                <c:pt idx="1">
                  <c:v>2.83</c:v>
                </c:pt>
                <c:pt idx="2">
                  <c:v>2.9</c:v>
                </c:pt>
                <c:pt idx="3">
                  <c:v>3</c:v>
                </c:pt>
                <c:pt idx="4">
                  <c:v>2.7</c:v>
                </c:pt>
                <c:pt idx="5">
                  <c:v>2.6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CCF-4576-AA69-46A901394C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78454800"/>
        <c:axId val="1178449400"/>
      </c:scatterChart>
      <c:valAx>
        <c:axId val="11784548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49400"/>
        <c:crosses val="autoZero"/>
        <c:crossBetween val="midCat"/>
      </c:valAx>
      <c:valAx>
        <c:axId val="1178449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number-of-regions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84548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 interaction-rate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interaction-rate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3.8999999999999998E-3</c:v>
                </c:pt>
                <c:pt idx="1">
                  <c:v>5.7799999999999997E-2</c:v>
                </c:pt>
                <c:pt idx="2">
                  <c:v>8.3400000000000002E-2</c:v>
                </c:pt>
                <c:pt idx="3">
                  <c:v>8.2900000000000001E-2</c:v>
                </c:pt>
                <c:pt idx="4">
                  <c:v>0.08</c:v>
                </c:pt>
                <c:pt idx="5">
                  <c:v>7.3700000000000002E-2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9D9-4772-B5CE-7DBEEB1A9B5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80122424"/>
        <c:axId val="1180122784"/>
      </c:scatterChart>
      <c:valAx>
        <c:axId val="1180122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122784"/>
        <c:crosses val="autoZero"/>
        <c:crossBetween val="midCat"/>
      </c:valAx>
      <c:valAx>
        <c:axId val="118012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interaction-rate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01224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 interaction-rate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interaction-rate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4.6969999999999998E-3</c:v>
                </c:pt>
                <c:pt idx="1">
                  <c:v>6.4500000000000002E-2</c:v>
                </c:pt>
                <c:pt idx="2">
                  <c:v>7.8399999999999997E-2</c:v>
                </c:pt>
                <c:pt idx="3">
                  <c:v>0.08</c:v>
                </c:pt>
                <c:pt idx="4">
                  <c:v>7.1400000000000005E-2</c:v>
                </c:pt>
                <c:pt idx="5">
                  <c:v>6.8739999999999996E-2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433-4583-A4F5-46153419A73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12214320"/>
        <c:axId val="526171056"/>
      </c:scatterChart>
      <c:valAx>
        <c:axId val="5122143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6171056"/>
        <c:crosses val="autoZero"/>
        <c:crossBetween val="midCat"/>
      </c:valAx>
      <c:valAx>
        <c:axId val="526171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interaction-rate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22143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event-count vs cultures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5081714785651792"/>
          <c:y val="0.17171296296296296"/>
          <c:w val="0.78818285214348205"/>
          <c:h val="0.64586431904345276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'w3_temp experiment-table_100R'!$F$1</c:f>
              <c:strCache>
                <c:ptCount val="1"/>
                <c:pt idx="0">
                  <c:v>Modified SI</c:v>
                </c:pt>
              </c:strCache>
            </c:strRef>
          </c:tx>
          <c:xVal>
            <c:numRef>
              <c:f>'w3_temp experiment-table_100R'!$E$2:$E$38</c:f>
              <c:numCache>
                <c:formatCode>General</c:formatCode>
                <c:ptCount val="37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3574031</c:v>
                </c:pt>
              </c:numCache>
            </c:numRef>
          </c:xVal>
          <c:yVal>
            <c:numRef>
              <c:f>'w3_temp experiment-table_100R'!$F$2:$F$38</c:f>
              <c:numCache>
                <c:formatCode>General</c:formatCode>
                <c:ptCount val="37"/>
                <c:pt idx="0">
                  <c:v>894</c:v>
                </c:pt>
                <c:pt idx="1">
                  <c:v>381</c:v>
                </c:pt>
                <c:pt idx="2">
                  <c:v>261</c:v>
                </c:pt>
                <c:pt idx="3">
                  <c:v>246</c:v>
                </c:pt>
                <c:pt idx="4">
                  <c:v>187</c:v>
                </c:pt>
                <c:pt idx="5">
                  <c:v>180</c:v>
                </c:pt>
                <c:pt idx="6">
                  <c:v>145</c:v>
                </c:pt>
                <c:pt idx="7">
                  <c:v>135</c:v>
                </c:pt>
                <c:pt idx="8">
                  <c:v>134</c:v>
                </c:pt>
                <c:pt idx="9">
                  <c:v>121</c:v>
                </c:pt>
                <c:pt idx="10">
                  <c:v>107</c:v>
                </c:pt>
                <c:pt idx="11">
                  <c:v>107</c:v>
                </c:pt>
                <c:pt idx="12">
                  <c:v>111</c:v>
                </c:pt>
                <c:pt idx="13">
                  <c:v>99</c:v>
                </c:pt>
                <c:pt idx="14">
                  <c:v>99</c:v>
                </c:pt>
                <c:pt idx="15">
                  <c:v>82</c:v>
                </c:pt>
                <c:pt idx="16">
                  <c:v>68</c:v>
                </c:pt>
                <c:pt idx="17">
                  <c:v>60</c:v>
                </c:pt>
                <c:pt idx="18">
                  <c:v>73</c:v>
                </c:pt>
                <c:pt idx="19">
                  <c:v>66</c:v>
                </c:pt>
                <c:pt idx="20">
                  <c:v>62</c:v>
                </c:pt>
                <c:pt idx="21">
                  <c:v>48</c:v>
                </c:pt>
                <c:pt idx="22">
                  <c:v>42</c:v>
                </c:pt>
                <c:pt idx="23">
                  <c:v>38</c:v>
                </c:pt>
                <c:pt idx="24">
                  <c:v>37</c:v>
                </c:pt>
                <c:pt idx="25">
                  <c:v>29</c:v>
                </c:pt>
                <c:pt idx="26">
                  <c:v>22</c:v>
                </c:pt>
                <c:pt idx="27">
                  <c:v>18</c:v>
                </c:pt>
                <c:pt idx="28">
                  <c:v>14</c:v>
                </c:pt>
                <c:pt idx="29">
                  <c:v>14</c:v>
                </c:pt>
                <c:pt idx="30">
                  <c:v>13</c:v>
                </c:pt>
                <c:pt idx="31">
                  <c:v>9</c:v>
                </c:pt>
                <c:pt idx="32">
                  <c:v>6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DA9-4628-A9F3-E69685CA6738}"/>
            </c:ext>
          </c:extLst>
        </c:ser>
        <c:ser>
          <c:idx val="0"/>
          <c:order val="1"/>
          <c:tx>
            <c:strRef>
              <c:f>'w3_temp experiment-table_100R'!$D$1</c:f>
              <c:strCache>
                <c:ptCount val="1"/>
                <c:pt idx="0">
                  <c:v>SI Model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'w3_temp experiment-table_100R'!$C$2:$C$39</c:f>
              <c:numCache>
                <c:formatCode>General</c:formatCode>
                <c:ptCount val="38"/>
                <c:pt idx="0">
                  <c:v>0</c:v>
                </c:pt>
                <c:pt idx="1">
                  <c:v>100000</c:v>
                </c:pt>
                <c:pt idx="2">
                  <c:v>200000</c:v>
                </c:pt>
                <c:pt idx="3">
                  <c:v>300000</c:v>
                </c:pt>
                <c:pt idx="4">
                  <c:v>400000</c:v>
                </c:pt>
                <c:pt idx="5">
                  <c:v>500000</c:v>
                </c:pt>
                <c:pt idx="6">
                  <c:v>600000</c:v>
                </c:pt>
                <c:pt idx="7">
                  <c:v>700000</c:v>
                </c:pt>
                <c:pt idx="8">
                  <c:v>800000</c:v>
                </c:pt>
                <c:pt idx="9">
                  <c:v>900000</c:v>
                </c:pt>
                <c:pt idx="10">
                  <c:v>1000000</c:v>
                </c:pt>
                <c:pt idx="11">
                  <c:v>1100000</c:v>
                </c:pt>
                <c:pt idx="12">
                  <c:v>1200000</c:v>
                </c:pt>
                <c:pt idx="13">
                  <c:v>1300000</c:v>
                </c:pt>
                <c:pt idx="14">
                  <c:v>1400000</c:v>
                </c:pt>
                <c:pt idx="15">
                  <c:v>1500000</c:v>
                </c:pt>
                <c:pt idx="16">
                  <c:v>1600000</c:v>
                </c:pt>
                <c:pt idx="17">
                  <c:v>1700000</c:v>
                </c:pt>
                <c:pt idx="18">
                  <c:v>1800000</c:v>
                </c:pt>
                <c:pt idx="19">
                  <c:v>1900000</c:v>
                </c:pt>
                <c:pt idx="20">
                  <c:v>2000000</c:v>
                </c:pt>
                <c:pt idx="21">
                  <c:v>2100000</c:v>
                </c:pt>
                <c:pt idx="22">
                  <c:v>2200000</c:v>
                </c:pt>
                <c:pt idx="23">
                  <c:v>2300000</c:v>
                </c:pt>
                <c:pt idx="24">
                  <c:v>2400000</c:v>
                </c:pt>
                <c:pt idx="25">
                  <c:v>2500000</c:v>
                </c:pt>
                <c:pt idx="26">
                  <c:v>2600000</c:v>
                </c:pt>
                <c:pt idx="27">
                  <c:v>2700000</c:v>
                </c:pt>
                <c:pt idx="28">
                  <c:v>2800000</c:v>
                </c:pt>
                <c:pt idx="29">
                  <c:v>2900000</c:v>
                </c:pt>
                <c:pt idx="30">
                  <c:v>3000000</c:v>
                </c:pt>
                <c:pt idx="31">
                  <c:v>3100000</c:v>
                </c:pt>
                <c:pt idx="32">
                  <c:v>3200000</c:v>
                </c:pt>
                <c:pt idx="33">
                  <c:v>3300000</c:v>
                </c:pt>
                <c:pt idx="34">
                  <c:v>3400000</c:v>
                </c:pt>
                <c:pt idx="35">
                  <c:v>3500000</c:v>
                </c:pt>
                <c:pt idx="36">
                  <c:v>3600000</c:v>
                </c:pt>
                <c:pt idx="37">
                  <c:v>3669959</c:v>
                </c:pt>
              </c:numCache>
            </c:numRef>
          </c:xVal>
          <c:yVal>
            <c:numRef>
              <c:f>'w3_temp experiment-table_100R'!$D$2:$D$39</c:f>
              <c:numCache>
                <c:formatCode>General</c:formatCode>
                <c:ptCount val="38"/>
                <c:pt idx="0">
                  <c:v>898</c:v>
                </c:pt>
                <c:pt idx="1">
                  <c:v>418</c:v>
                </c:pt>
                <c:pt idx="2">
                  <c:v>261</c:v>
                </c:pt>
                <c:pt idx="3">
                  <c:v>203</c:v>
                </c:pt>
                <c:pt idx="4">
                  <c:v>209</c:v>
                </c:pt>
                <c:pt idx="5">
                  <c:v>160</c:v>
                </c:pt>
                <c:pt idx="6">
                  <c:v>160</c:v>
                </c:pt>
                <c:pt idx="7">
                  <c:v>143</c:v>
                </c:pt>
                <c:pt idx="8">
                  <c:v>154</c:v>
                </c:pt>
                <c:pt idx="9">
                  <c:v>144</c:v>
                </c:pt>
                <c:pt idx="10">
                  <c:v>125</c:v>
                </c:pt>
                <c:pt idx="11">
                  <c:v>114</c:v>
                </c:pt>
                <c:pt idx="12">
                  <c:v>87</c:v>
                </c:pt>
                <c:pt idx="13">
                  <c:v>78</c:v>
                </c:pt>
                <c:pt idx="14">
                  <c:v>79</c:v>
                </c:pt>
                <c:pt idx="15">
                  <c:v>68</c:v>
                </c:pt>
                <c:pt idx="16">
                  <c:v>64</c:v>
                </c:pt>
                <c:pt idx="17">
                  <c:v>62</c:v>
                </c:pt>
                <c:pt idx="18">
                  <c:v>51</c:v>
                </c:pt>
                <c:pt idx="19">
                  <c:v>46</c:v>
                </c:pt>
                <c:pt idx="20">
                  <c:v>43</c:v>
                </c:pt>
                <c:pt idx="21">
                  <c:v>30</c:v>
                </c:pt>
                <c:pt idx="22">
                  <c:v>27</c:v>
                </c:pt>
                <c:pt idx="23">
                  <c:v>24</c:v>
                </c:pt>
                <c:pt idx="24">
                  <c:v>19</c:v>
                </c:pt>
                <c:pt idx="25">
                  <c:v>12</c:v>
                </c:pt>
                <c:pt idx="26">
                  <c:v>10</c:v>
                </c:pt>
                <c:pt idx="27">
                  <c:v>11</c:v>
                </c:pt>
                <c:pt idx="28">
                  <c:v>8</c:v>
                </c:pt>
                <c:pt idx="29">
                  <c:v>6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4</c:v>
                </c:pt>
                <c:pt idx="36">
                  <c:v>3</c:v>
                </c:pt>
                <c:pt idx="37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DA9-4628-A9F3-E69685CA67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9329904"/>
        <c:axId val="1029334584"/>
      </c:scatterChart>
      <c:valAx>
        <c:axId val="1029329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event-count</a:t>
                </a:r>
                <a:endParaRPr lang="en-IN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334584"/>
        <c:crosses val="autoZero"/>
        <c:crossBetween val="midCat"/>
      </c:valAx>
      <c:valAx>
        <c:axId val="1029334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cultures</a:t>
                </a:r>
                <a:endParaRPr lang="en-IN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32990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2687423447069122"/>
          <c:y val="0.18500947798191894"/>
          <c:w val="0.21201465441819772"/>
          <c:h val="0.1674343832020997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interaction-count vs cultures 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5081714785651792"/>
          <c:y val="0.17171296296296296"/>
          <c:w val="0.79361264216972882"/>
          <c:h val="0.64123468941382322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'w3_temp experiment-table_100R'!$V$1</c:f>
              <c:strCache>
                <c:ptCount val="1"/>
                <c:pt idx="0">
                  <c:v>Modified SI</c:v>
                </c:pt>
              </c:strCache>
            </c:strRef>
          </c:tx>
          <c:xVal>
            <c:numRef>
              <c:f>'w3_temp experiment-table_100R'!$U$2:$U$38</c:f>
              <c:numCache>
                <c:formatCode>General</c:formatCode>
                <c:ptCount val="37"/>
                <c:pt idx="0">
                  <c:v>0</c:v>
                </c:pt>
                <c:pt idx="1">
                  <c:v>8998</c:v>
                </c:pt>
                <c:pt idx="2">
                  <c:v>20158</c:v>
                </c:pt>
                <c:pt idx="3">
                  <c:v>33449</c:v>
                </c:pt>
                <c:pt idx="4">
                  <c:v>48206</c:v>
                </c:pt>
                <c:pt idx="5">
                  <c:v>62555</c:v>
                </c:pt>
                <c:pt idx="6">
                  <c:v>77111</c:v>
                </c:pt>
                <c:pt idx="7">
                  <c:v>90720</c:v>
                </c:pt>
                <c:pt idx="8">
                  <c:v>104472</c:v>
                </c:pt>
                <c:pt idx="9">
                  <c:v>117686</c:v>
                </c:pt>
                <c:pt idx="10">
                  <c:v>131115</c:v>
                </c:pt>
                <c:pt idx="11">
                  <c:v>145176</c:v>
                </c:pt>
                <c:pt idx="12">
                  <c:v>158400</c:v>
                </c:pt>
                <c:pt idx="13">
                  <c:v>171840</c:v>
                </c:pt>
                <c:pt idx="14">
                  <c:v>184737</c:v>
                </c:pt>
                <c:pt idx="15">
                  <c:v>195765</c:v>
                </c:pt>
                <c:pt idx="16">
                  <c:v>207354</c:v>
                </c:pt>
                <c:pt idx="17">
                  <c:v>219414</c:v>
                </c:pt>
                <c:pt idx="18">
                  <c:v>231247</c:v>
                </c:pt>
                <c:pt idx="19">
                  <c:v>243696</c:v>
                </c:pt>
                <c:pt idx="20">
                  <c:v>256054</c:v>
                </c:pt>
                <c:pt idx="21">
                  <c:v>268022</c:v>
                </c:pt>
                <c:pt idx="22">
                  <c:v>280015</c:v>
                </c:pt>
                <c:pt idx="23">
                  <c:v>292151</c:v>
                </c:pt>
                <c:pt idx="24">
                  <c:v>303883</c:v>
                </c:pt>
                <c:pt idx="25">
                  <c:v>314548</c:v>
                </c:pt>
                <c:pt idx="26">
                  <c:v>324946</c:v>
                </c:pt>
                <c:pt idx="27">
                  <c:v>333745</c:v>
                </c:pt>
                <c:pt idx="28">
                  <c:v>341993</c:v>
                </c:pt>
                <c:pt idx="29">
                  <c:v>349221</c:v>
                </c:pt>
                <c:pt idx="30">
                  <c:v>355876</c:v>
                </c:pt>
                <c:pt idx="31">
                  <c:v>361276</c:v>
                </c:pt>
                <c:pt idx="32">
                  <c:v>365799</c:v>
                </c:pt>
                <c:pt idx="33">
                  <c:v>369372</c:v>
                </c:pt>
                <c:pt idx="34">
                  <c:v>372146</c:v>
                </c:pt>
                <c:pt idx="35">
                  <c:v>373852</c:v>
                </c:pt>
                <c:pt idx="36">
                  <c:v>374474</c:v>
                </c:pt>
              </c:numCache>
            </c:numRef>
          </c:xVal>
          <c:yVal>
            <c:numRef>
              <c:f>'w3_temp experiment-table_100R'!$V$2:$V$38</c:f>
              <c:numCache>
                <c:formatCode>General</c:formatCode>
                <c:ptCount val="37"/>
                <c:pt idx="0">
                  <c:v>894</c:v>
                </c:pt>
                <c:pt idx="1">
                  <c:v>381</c:v>
                </c:pt>
                <c:pt idx="2">
                  <c:v>261</c:v>
                </c:pt>
                <c:pt idx="3">
                  <c:v>246</c:v>
                </c:pt>
                <c:pt idx="4">
                  <c:v>187</c:v>
                </c:pt>
                <c:pt idx="5">
                  <c:v>180</c:v>
                </c:pt>
                <c:pt idx="6">
                  <c:v>145</c:v>
                </c:pt>
                <c:pt idx="7">
                  <c:v>135</c:v>
                </c:pt>
                <c:pt idx="8">
                  <c:v>134</c:v>
                </c:pt>
                <c:pt idx="9">
                  <c:v>121</c:v>
                </c:pt>
                <c:pt idx="10">
                  <c:v>107</c:v>
                </c:pt>
                <c:pt idx="11">
                  <c:v>107</c:v>
                </c:pt>
                <c:pt idx="12">
                  <c:v>111</c:v>
                </c:pt>
                <c:pt idx="13">
                  <c:v>99</c:v>
                </c:pt>
                <c:pt idx="14">
                  <c:v>99</c:v>
                </c:pt>
                <c:pt idx="15">
                  <c:v>82</c:v>
                </c:pt>
                <c:pt idx="16">
                  <c:v>68</c:v>
                </c:pt>
                <c:pt idx="17">
                  <c:v>60</c:v>
                </c:pt>
                <c:pt idx="18">
                  <c:v>73</c:v>
                </c:pt>
                <c:pt idx="19">
                  <c:v>66</c:v>
                </c:pt>
                <c:pt idx="20">
                  <c:v>62</c:v>
                </c:pt>
                <c:pt idx="21">
                  <c:v>48</c:v>
                </c:pt>
                <c:pt idx="22">
                  <c:v>42</c:v>
                </c:pt>
                <c:pt idx="23">
                  <c:v>38</c:v>
                </c:pt>
                <c:pt idx="24">
                  <c:v>37</c:v>
                </c:pt>
                <c:pt idx="25">
                  <c:v>29</c:v>
                </c:pt>
                <c:pt idx="26">
                  <c:v>22</c:v>
                </c:pt>
                <c:pt idx="27">
                  <c:v>18</c:v>
                </c:pt>
                <c:pt idx="28">
                  <c:v>14</c:v>
                </c:pt>
                <c:pt idx="29">
                  <c:v>14</c:v>
                </c:pt>
                <c:pt idx="30">
                  <c:v>13</c:v>
                </c:pt>
                <c:pt idx="31">
                  <c:v>9</c:v>
                </c:pt>
                <c:pt idx="32">
                  <c:v>6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2C1-4F5C-BAF1-BB17727EB946}"/>
            </c:ext>
          </c:extLst>
        </c:ser>
        <c:ser>
          <c:idx val="0"/>
          <c:order val="1"/>
          <c:tx>
            <c:strRef>
              <c:f>'w3_temp experiment-table_100R'!$S$1</c:f>
              <c:strCache>
                <c:ptCount val="1"/>
                <c:pt idx="0">
                  <c:v>SI Model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'w3_temp experiment-table_100R'!$R$2:$R$39</c:f>
              <c:numCache>
                <c:formatCode>General</c:formatCode>
                <c:ptCount val="38"/>
                <c:pt idx="0">
                  <c:v>0</c:v>
                </c:pt>
                <c:pt idx="1">
                  <c:v>7755</c:v>
                </c:pt>
                <c:pt idx="2">
                  <c:v>16607</c:v>
                </c:pt>
                <c:pt idx="3">
                  <c:v>25218</c:v>
                </c:pt>
                <c:pt idx="4">
                  <c:v>34287</c:v>
                </c:pt>
                <c:pt idx="5">
                  <c:v>43730</c:v>
                </c:pt>
                <c:pt idx="6">
                  <c:v>52911</c:v>
                </c:pt>
                <c:pt idx="7">
                  <c:v>62373</c:v>
                </c:pt>
                <c:pt idx="8">
                  <c:v>72172</c:v>
                </c:pt>
                <c:pt idx="9">
                  <c:v>82442</c:v>
                </c:pt>
                <c:pt idx="10">
                  <c:v>91978</c:v>
                </c:pt>
                <c:pt idx="11">
                  <c:v>101267</c:v>
                </c:pt>
                <c:pt idx="12">
                  <c:v>110183</c:v>
                </c:pt>
                <c:pt idx="13">
                  <c:v>118309</c:v>
                </c:pt>
                <c:pt idx="14">
                  <c:v>126449</c:v>
                </c:pt>
                <c:pt idx="15">
                  <c:v>134428</c:v>
                </c:pt>
                <c:pt idx="16">
                  <c:v>142151</c:v>
                </c:pt>
                <c:pt idx="17">
                  <c:v>149870</c:v>
                </c:pt>
                <c:pt idx="18">
                  <c:v>157528</c:v>
                </c:pt>
                <c:pt idx="19">
                  <c:v>164269</c:v>
                </c:pt>
                <c:pt idx="20">
                  <c:v>170769</c:v>
                </c:pt>
                <c:pt idx="21">
                  <c:v>177379</c:v>
                </c:pt>
                <c:pt idx="22">
                  <c:v>183151</c:v>
                </c:pt>
                <c:pt idx="23">
                  <c:v>188621</c:v>
                </c:pt>
                <c:pt idx="24">
                  <c:v>193292</c:v>
                </c:pt>
                <c:pt idx="25">
                  <c:v>197949</c:v>
                </c:pt>
                <c:pt idx="26">
                  <c:v>202212</c:v>
                </c:pt>
                <c:pt idx="27">
                  <c:v>206422</c:v>
                </c:pt>
                <c:pt idx="28">
                  <c:v>210180</c:v>
                </c:pt>
                <c:pt idx="29">
                  <c:v>213379</c:v>
                </c:pt>
                <c:pt idx="30">
                  <c:v>215801</c:v>
                </c:pt>
                <c:pt idx="31">
                  <c:v>218050</c:v>
                </c:pt>
                <c:pt idx="32">
                  <c:v>220284</c:v>
                </c:pt>
                <c:pt idx="33">
                  <c:v>222365</c:v>
                </c:pt>
                <c:pt idx="34">
                  <c:v>224238</c:v>
                </c:pt>
                <c:pt idx="35">
                  <c:v>225815</c:v>
                </c:pt>
                <c:pt idx="36">
                  <c:v>226787</c:v>
                </c:pt>
                <c:pt idx="37">
                  <c:v>226993</c:v>
                </c:pt>
              </c:numCache>
            </c:numRef>
          </c:xVal>
          <c:yVal>
            <c:numRef>
              <c:f>'w3_temp experiment-table_100R'!$S$2:$S$39</c:f>
              <c:numCache>
                <c:formatCode>General</c:formatCode>
                <c:ptCount val="38"/>
                <c:pt idx="0">
                  <c:v>898</c:v>
                </c:pt>
                <c:pt idx="1">
                  <c:v>418</c:v>
                </c:pt>
                <c:pt idx="2">
                  <c:v>261</c:v>
                </c:pt>
                <c:pt idx="3">
                  <c:v>203</c:v>
                </c:pt>
                <c:pt idx="4">
                  <c:v>209</c:v>
                </c:pt>
                <c:pt idx="5">
                  <c:v>160</c:v>
                </c:pt>
                <c:pt idx="6">
                  <c:v>160</c:v>
                </c:pt>
                <c:pt idx="7">
                  <c:v>143</c:v>
                </c:pt>
                <c:pt idx="8">
                  <c:v>154</c:v>
                </c:pt>
                <c:pt idx="9">
                  <c:v>144</c:v>
                </c:pt>
                <c:pt idx="10">
                  <c:v>125</c:v>
                </c:pt>
                <c:pt idx="11">
                  <c:v>114</c:v>
                </c:pt>
                <c:pt idx="12">
                  <c:v>87</c:v>
                </c:pt>
                <c:pt idx="13">
                  <c:v>78</c:v>
                </c:pt>
                <c:pt idx="14">
                  <c:v>79</c:v>
                </c:pt>
                <c:pt idx="15">
                  <c:v>68</c:v>
                </c:pt>
                <c:pt idx="16">
                  <c:v>64</c:v>
                </c:pt>
                <c:pt idx="17">
                  <c:v>62</c:v>
                </c:pt>
                <c:pt idx="18">
                  <c:v>51</c:v>
                </c:pt>
                <c:pt idx="19">
                  <c:v>46</c:v>
                </c:pt>
                <c:pt idx="20">
                  <c:v>43</c:v>
                </c:pt>
                <c:pt idx="21">
                  <c:v>30</c:v>
                </c:pt>
                <c:pt idx="22">
                  <c:v>27</c:v>
                </c:pt>
                <c:pt idx="23">
                  <c:v>24</c:v>
                </c:pt>
                <c:pt idx="24">
                  <c:v>19</c:v>
                </c:pt>
                <c:pt idx="25">
                  <c:v>12</c:v>
                </c:pt>
                <c:pt idx="26">
                  <c:v>10</c:v>
                </c:pt>
                <c:pt idx="27">
                  <c:v>11</c:v>
                </c:pt>
                <c:pt idx="28">
                  <c:v>8</c:v>
                </c:pt>
                <c:pt idx="29">
                  <c:v>6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4</c:v>
                </c:pt>
                <c:pt idx="36">
                  <c:v>3</c:v>
                </c:pt>
                <c:pt idx="37">
                  <c:v>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2C1-4F5C-BAF1-BB17727EB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9263744"/>
        <c:axId val="1029263024"/>
      </c:scatterChart>
      <c:valAx>
        <c:axId val="1029263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interaction-count</a:t>
                </a:r>
                <a:endParaRPr lang="en-IN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263024"/>
        <c:crosses val="autoZero"/>
        <c:crossBetween val="midCat"/>
      </c:valAx>
      <c:valAx>
        <c:axId val="1029263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sz="1000" b="0" i="0" u="none" strike="noStrike" kern="1200" spc="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cultures</a:t>
                </a:r>
                <a:endParaRPr lang="en-IN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263744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2965201224846898"/>
          <c:y val="0.18037984835228929"/>
          <c:w val="0.21201465441819772"/>
          <c:h val="0.16743438320209975"/>
        </c:manualLayout>
      </c:layout>
      <c:overlay val="0"/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stubborn-fraction vs interaction-rate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Sheet1!$H$6</c:f>
              <c:strCache>
                <c:ptCount val="1"/>
                <c:pt idx="0">
                  <c:v>interaction-rate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Sheet1!$F$7:$F$10</c:f>
              <c:numCache>
                <c:formatCode>General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Sheet1!$H$7:$H$10</c:f>
              <c:numCache>
                <c:formatCode>General</c:formatCode>
                <c:ptCount val="4"/>
                <c:pt idx="0">
                  <c:v>9.4899999999999998E-2</c:v>
                </c:pt>
                <c:pt idx="1">
                  <c:v>8.4750000000000006E-2</c:v>
                </c:pt>
                <c:pt idx="2">
                  <c:v>7.0999999999999994E-2</c:v>
                </c:pt>
                <c:pt idx="3">
                  <c:v>5.7099999999999998E-2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8DF-49B6-A5FD-51E4506AECA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53922768"/>
        <c:axId val="1153917728"/>
      </c:scatterChart>
      <c:valAx>
        <c:axId val="1153922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stubborn-fraction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917728"/>
        <c:crosses val="autoZero"/>
        <c:crossBetween val="midCat"/>
      </c:valAx>
      <c:valAx>
        <c:axId val="1153917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interaction-rate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922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stubborn-fraction</a:t>
            </a:r>
            <a:r>
              <a:rPr lang="en-US"/>
              <a:t> vs largest-region-fraction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Sheet1!$N$6</c:f>
              <c:strCache>
                <c:ptCount val="1"/>
                <c:pt idx="0">
                  <c:v>largest-region-fraction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Sheet1!$F$7:$F$10</c:f>
              <c:numCache>
                <c:formatCode>General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Sheet1!$N$7:$N$10</c:f>
              <c:numCache>
                <c:formatCode>General</c:formatCode>
                <c:ptCount val="4"/>
                <c:pt idx="0">
                  <c:v>6.6799999999999998E-2</c:v>
                </c:pt>
                <c:pt idx="1">
                  <c:v>2.9700000000000001E-2</c:v>
                </c:pt>
                <c:pt idx="2">
                  <c:v>2.0400000000000001E-2</c:v>
                </c:pt>
                <c:pt idx="3">
                  <c:v>1.44E-2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78D-4F93-9972-66F2C10B527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83129200"/>
        <c:axId val="583126320"/>
      </c:scatterChart>
      <c:valAx>
        <c:axId val="5831292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8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stubborn-fraction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126320"/>
        <c:crosses val="autoZero"/>
        <c:crossBetween val="midCat"/>
      </c:valAx>
      <c:valAx>
        <c:axId val="58312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largest-region-fraction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31292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1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stubborn-fraction</a:t>
            </a:r>
            <a:r>
              <a:rPr lang="en-US"/>
              <a:t> vs number-of-regions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Sheet1!$I$6</c:f>
              <c:strCache>
                <c:ptCount val="1"/>
                <c:pt idx="0">
                  <c:v>number-of-regions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Sheet1!$F$7:$F$10</c:f>
              <c:numCache>
                <c:formatCode>General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Sheet1!$I$7:$I$10</c:f>
              <c:numCache>
                <c:formatCode>General</c:formatCode>
                <c:ptCount val="4"/>
                <c:pt idx="0">
                  <c:v>303</c:v>
                </c:pt>
                <c:pt idx="1">
                  <c:v>430</c:v>
                </c:pt>
                <c:pt idx="2">
                  <c:v>503</c:v>
                </c:pt>
                <c:pt idx="3">
                  <c:v>571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11B-4754-99C0-52294238611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153929608"/>
        <c:axId val="1153929968"/>
      </c:scatterChart>
      <c:valAx>
        <c:axId val="11539296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8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stubborn-fraction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929968"/>
        <c:crosses val="autoZero"/>
        <c:crossBetween val="midCat"/>
      </c:valAx>
      <c:valAx>
        <c:axId val="1153929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number-of-regions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9296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grid-size vs unique-cultures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Sheet1!$J$6</c:f>
              <c:strCache>
                <c:ptCount val="1"/>
                <c:pt idx="0">
                  <c:v>unique-cultures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Sheet1!$F$7:$F$10</c:f>
              <c:numCache>
                <c:formatCode>General</c:formatCode>
                <c:ptCount val="4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</c:numCache>
            </c:numRef>
          </c:xVal>
          <c:yVal>
            <c:numRef>
              <c:f>Sheet1!$J$7:$J$10</c:f>
              <c:numCache>
                <c:formatCode>General</c:formatCode>
                <c:ptCount val="4"/>
                <c:pt idx="0">
                  <c:v>270</c:v>
                </c:pt>
                <c:pt idx="1">
                  <c:v>407</c:v>
                </c:pt>
                <c:pt idx="2">
                  <c:v>488</c:v>
                </c:pt>
                <c:pt idx="3">
                  <c:v>561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3DB-4D1D-9A9A-C456E8520F1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591882128"/>
        <c:axId val="591879608"/>
      </c:scatterChart>
      <c:valAx>
        <c:axId val="591882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grid-size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1879608"/>
        <c:crosses val="autoZero"/>
        <c:crossBetween val="midCat"/>
      </c:valAx>
      <c:valAx>
        <c:axId val="591879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unique-cultures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1882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image" Target="../media/image120.png"/><Relationship Id="rId4" Type="http://schemas.openxmlformats.org/officeDocument/2006/relationships/image" Target="../media/image15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B1465A-F615-4090-8C69-4DEE10DC117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99A5B4-DED0-4DF6-A253-78DF5BF1321B}">
      <dgm:prSet phldrT="[Text]" phldr="0"/>
      <dgm:spPr/>
      <dgm:t>
        <a:bodyPr/>
        <a:lstStyle/>
        <a:p>
          <a:r>
            <a:rPr lang="en-US" dirty="0"/>
            <a:t>Select agent-</a:t>
          </a:r>
          <a:r>
            <a:rPr lang="en-US" dirty="0" err="1"/>
            <a:t>i</a:t>
          </a:r>
          <a:r>
            <a:rPr lang="en-US" dirty="0"/>
            <a:t> and one of its neighbor</a:t>
          </a:r>
          <a:endParaRPr lang="en-IN" dirty="0"/>
        </a:p>
      </dgm:t>
    </dgm:pt>
    <dgm:pt modelId="{ACAB03D6-B7BE-4997-851E-EFF998333AD5}" type="parTrans" cxnId="{E7793D74-3496-4380-A043-3EFC5667D789}">
      <dgm:prSet/>
      <dgm:spPr/>
      <dgm:t>
        <a:bodyPr/>
        <a:lstStyle/>
        <a:p>
          <a:endParaRPr lang="en-IN"/>
        </a:p>
      </dgm:t>
    </dgm:pt>
    <dgm:pt modelId="{3AF601C0-EEFA-4971-90DF-5406FFF4B6F7}" type="sibTrans" cxnId="{E7793D74-3496-4380-A043-3EFC5667D789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0408E7D3-C4AD-4908-B45C-89ED1CF9795D}">
          <dgm:prSet phldrT="[Text]" phldr="0"/>
          <dgm:spPr/>
          <dgm:t>
            <a:bodyPr/>
            <a:lstStyle/>
            <a:p>
              <a:r>
                <a:rPr lang="en-US" dirty="0"/>
                <a:t>Interaction Probability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m:oMathPara>
              </a14:m>
              <a:endParaRPr lang="en-IN" dirty="0"/>
            </a:p>
          </dgm:t>
        </dgm:pt>
      </mc:Choice>
      <mc:Fallback xmlns="">
        <dgm:pt modelId="{0408E7D3-C4AD-4908-B45C-89ED1CF9795D}">
          <dgm:prSet phldrT="[Text]" phldr="0"/>
          <dgm:spPr/>
          <dgm:t>
            <a:bodyPr/>
            <a:lstStyle/>
            <a:p>
              <a:r>
                <a:rPr lang="en-US" dirty="0"/>
                <a:t>Interaction Probability</a:t>
              </a:r>
            </a:p>
            <a:p>
              <a:r>
                <a:rPr lang="en-US" b="0" i="0">
                  <a:latin typeface="Cambria Math" panose="02040503050406030204" pitchFamily="18" charset="0"/>
                </a:rPr>
                <a:t>𝑃</a:t>
              </a:r>
              <a:r>
                <a:rPr lang="en-IN" b="0" i="0">
                  <a:latin typeface="Cambria Math" panose="02040503050406030204" pitchFamily="18" charset="0"/>
                </a:rPr>
                <a:t>_(</a:t>
              </a:r>
              <a:r>
                <a:rPr lang="en-US" b="0" i="0">
                  <a:latin typeface="Cambria Math" panose="02040503050406030204" pitchFamily="18" charset="0"/>
                </a:rPr>
                <a:t>𝑖,𝑗</a:t>
              </a:r>
              <a:r>
                <a:rPr lang="en-IN" b="0" i="0">
                  <a:latin typeface="Cambria Math" panose="02040503050406030204" pitchFamily="18" charset="0"/>
                </a:rPr>
                <a:t>)</a:t>
              </a:r>
              <a:endParaRPr lang="en-IN" dirty="0"/>
            </a:p>
          </dgm:t>
        </dgm:pt>
      </mc:Fallback>
    </mc:AlternateContent>
    <dgm:pt modelId="{DDB6AA6B-9134-461A-B1C1-320FAA866167}" type="parTrans" cxnId="{4970FA56-CBCE-4E52-8B16-91A60883C52A}">
      <dgm:prSet/>
      <dgm:spPr/>
      <dgm:t>
        <a:bodyPr/>
        <a:lstStyle/>
        <a:p>
          <a:endParaRPr lang="en-IN"/>
        </a:p>
      </dgm:t>
    </dgm:pt>
    <dgm:pt modelId="{345095EA-ABBA-44A8-9534-5DE0D14E7962}" type="sibTrans" cxnId="{4970FA56-CBCE-4E52-8B16-91A60883C52A}">
      <dgm:prSet/>
      <dgm:spPr/>
      <dgm:t>
        <a:bodyPr/>
        <a:lstStyle/>
        <a:p>
          <a:endParaRPr lang="en-IN"/>
        </a:p>
      </dgm:t>
    </dgm:pt>
    <dgm:pt modelId="{3211FBFF-F87F-41EA-89E6-D9FBB8DED51E}">
      <dgm:prSet phldrT="[Text]" phldr="0"/>
      <dgm:spPr/>
      <dgm:t>
        <a:bodyPr/>
        <a:lstStyle/>
        <a:p>
          <a:r>
            <a:rPr lang="en-US" dirty="0"/>
            <a:t>Check Interaction</a:t>
          </a:r>
        </a:p>
        <a:p>
          <a:r>
            <a:rPr lang="en-IN" dirty="0"/>
            <a:t>Pick random feature F</a:t>
          </a:r>
        </a:p>
      </dgm:t>
    </dgm:pt>
    <dgm:pt modelId="{A5040DBF-709F-4B8E-A2C4-2D89BF849B1F}" type="parTrans" cxnId="{DCD16F61-F984-47EB-8559-6D60445712EC}">
      <dgm:prSet/>
      <dgm:spPr/>
      <dgm:t>
        <a:bodyPr/>
        <a:lstStyle/>
        <a:p>
          <a:endParaRPr lang="en-IN"/>
        </a:p>
      </dgm:t>
    </dgm:pt>
    <dgm:pt modelId="{714E15B7-A38C-4A23-BB66-5416EB5206CA}" type="sibTrans" cxnId="{DCD16F61-F984-47EB-8559-6D60445712EC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F732BC3E-F426-47DA-8D8B-3C7856820D1A}">
          <dgm:prSet phldrT="[Text]"/>
          <dgm:spPr/>
          <dgm:t>
            <a:bodyPr/>
            <a:lstStyle/>
            <a:p>
              <a:r>
                <a:rPr lang="en-US" dirty="0"/>
                <a:t>Survey agent-</a:t>
              </a:r>
              <a:r>
                <a:rPr lang="en-US" dirty="0" err="1"/>
                <a:t>i</a:t>
              </a:r>
              <a:r>
                <a:rPr lang="en-US" dirty="0"/>
                <a:t>  Neighborhood</a:t>
              </a:r>
            </a:p>
            <a:p>
              <a14:m>
                <m:oMath xmlns:m="http://schemas.openxmlformats.org/officeDocument/2006/math">
                  <m:sSub>
                    <m:sSub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sub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sup>
                  </m:sSubSup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dirty="0"/>
                <a:t> and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sub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sup>
                  </m:sSubSup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dirty="0"/>
                <a:t> </a:t>
              </a:r>
              <a:endParaRPr lang="en-IN" dirty="0"/>
            </a:p>
          </dgm:t>
        </dgm:pt>
      </mc:Choice>
      <mc:Fallback xmlns="">
        <dgm:pt modelId="{F732BC3E-F426-47DA-8D8B-3C7856820D1A}">
          <dgm:prSet phldrT="[Text]"/>
          <dgm:spPr/>
          <dgm:t>
            <a:bodyPr/>
            <a:lstStyle/>
            <a:p>
              <a:r>
                <a:rPr lang="en-US" dirty="0"/>
                <a:t>Survey agent-</a:t>
              </a:r>
              <a:r>
                <a:rPr lang="en-US" dirty="0" err="1"/>
                <a:t>i</a:t>
              </a:r>
              <a:r>
                <a:rPr lang="en-US" dirty="0"/>
                <a:t>  Neighborhood</a:t>
              </a:r>
            </a:p>
            <a:p>
              <a:r>
                <a:rPr lang="en-US" b="0" i="0">
                  <a:latin typeface="Cambria Math" panose="02040503050406030204" pitchFamily="18" charset="0"/>
                </a:rPr>
                <a:t>𝑂_𝑖 (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𝜎_</a:t>
              </a:r>
              <a:r>
                <a:rPr lang="en-US" b="0" i="0">
                  <a:latin typeface="Cambria Math" panose="02040503050406030204" pitchFamily="18" charset="0"/>
                </a:rPr>
                <a:t>𝑗^𝑓)</a:t>
              </a:r>
              <a:r>
                <a:rPr lang="en-US" dirty="0"/>
                <a:t> and </a:t>
              </a:r>
              <a:r>
                <a:rPr lang="en-US" b="0" i="0">
                  <a:latin typeface="Cambria Math" panose="02040503050406030204" pitchFamily="18" charset="0"/>
                </a:rPr>
                <a:t>𝑂_𝑖 (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𝜎_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𝑖^</a:t>
              </a:r>
              <a:r>
                <a:rPr lang="en-US" b="0" i="0">
                  <a:latin typeface="Cambria Math" panose="02040503050406030204" pitchFamily="18" charset="0"/>
                </a:rPr>
                <a:t>𝑓)</a:t>
              </a:r>
              <a:r>
                <a:rPr lang="en-US" dirty="0"/>
                <a:t> </a:t>
              </a:r>
              <a:endParaRPr lang="en-IN" dirty="0"/>
            </a:p>
          </dgm:t>
        </dgm:pt>
      </mc:Fallback>
    </mc:AlternateContent>
    <dgm:pt modelId="{EA2C5780-A75A-4604-96FD-0B50A4611274}" type="parTrans" cxnId="{FFB6FD9F-820D-4147-99E9-315F26D03791}">
      <dgm:prSet/>
      <dgm:spPr/>
      <dgm:t>
        <a:bodyPr/>
        <a:lstStyle/>
        <a:p>
          <a:endParaRPr lang="en-IN"/>
        </a:p>
      </dgm:t>
    </dgm:pt>
    <dgm:pt modelId="{822A70D3-2CCC-4126-A02C-56DAE13D755C}" type="sibTrans" cxnId="{FFB6FD9F-820D-4147-99E9-315F26D03791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7A40F3FF-9875-4B69-ACA8-6947A6EF37C6}">
          <dgm:prSet phldrT="[Text]"/>
          <dgm:spPr/>
          <dgm:t>
            <a:bodyPr/>
            <a:lstStyle/>
            <a:p>
              <a:r>
                <a:rPr lang="en-US" dirty="0"/>
                <a:t>Switching Probability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m:oMathPara>
              </a14:m>
              <a:endParaRPr lang="en-IN" dirty="0"/>
            </a:p>
          </dgm:t>
        </dgm:pt>
      </mc:Choice>
      <mc:Fallback xmlns="">
        <dgm:pt modelId="{7A40F3FF-9875-4B69-ACA8-6947A6EF37C6}">
          <dgm:prSet phldrT="[Text]"/>
          <dgm:spPr/>
          <dgm:t>
            <a:bodyPr/>
            <a:lstStyle/>
            <a:p>
              <a:r>
                <a:rPr lang="en-US" dirty="0"/>
                <a:t>Switching Probability</a:t>
              </a:r>
            </a:p>
            <a:p>
              <a:r>
                <a:rPr lang="en-US" b="0" i="0">
                  <a:latin typeface="Cambria Math" panose="02040503050406030204" pitchFamily="18" charset="0"/>
                </a:rPr>
                <a:t>𝑄_(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𝑖,</a:t>
              </a:r>
              <a:r>
                <a:rPr lang="en-US" b="0" i="0">
                  <a:latin typeface="Cambria Math" panose="02040503050406030204" pitchFamily="18" charset="0"/>
                </a:rPr>
                <a:t>𝑗)^𝑓</a:t>
              </a:r>
              <a:endParaRPr lang="en-IN" dirty="0"/>
            </a:p>
          </dgm:t>
        </dgm:pt>
      </mc:Fallback>
    </mc:AlternateContent>
    <dgm:pt modelId="{EA9B213C-CAEF-43C2-AE3D-080ADCC1CDFA}" type="parTrans" cxnId="{4622A744-C190-4B0D-955B-4A8F89C3AAF2}">
      <dgm:prSet/>
      <dgm:spPr/>
      <dgm:t>
        <a:bodyPr/>
        <a:lstStyle/>
        <a:p>
          <a:endParaRPr lang="en-IN"/>
        </a:p>
      </dgm:t>
    </dgm:pt>
    <dgm:pt modelId="{887759C9-92C0-4848-A856-18D8FF7E9C3C}" type="sibTrans" cxnId="{4622A744-C190-4B0D-955B-4A8F89C3AAF2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8479C368-629F-4AB3-9EC7-B776F15D4B77}">
          <dgm:prSet phldrT="[Text]" phldr="0"/>
          <dgm:spPr/>
          <dgm:t>
            <a:bodyPr/>
            <a:lstStyle/>
            <a:p>
              <a:r>
                <a:rPr lang="en-US" dirty="0"/>
                <a:t>Assimilation</a:t>
              </a:r>
            </a:p>
            <a:p>
              <a:r>
                <a:rPr lang="en-US" dirty="0"/>
                <a:t>Agent-</a:t>
              </a:r>
              <a:r>
                <a:rPr lang="en-US" dirty="0" err="1"/>
                <a:t>i</a:t>
              </a:r>
              <a:r>
                <a:rPr lang="en-US" dirty="0"/>
                <a:t> adopts </a:t>
              </a:r>
              <a14:m>
                <m:oMath xmlns:m="http://schemas.openxmlformats.org/officeDocument/2006/math">
                  <m:sSubSup>
                    <m:sSubSup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sub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sup>
                  </m:sSubSup>
                </m:oMath>
              </a14:m>
              <a:r>
                <a:rPr lang="en-US" dirty="0"/>
                <a:t> </a:t>
              </a:r>
            </a:p>
          </dgm:t>
        </dgm:pt>
      </mc:Choice>
      <mc:Fallback xmlns="">
        <dgm:pt modelId="{8479C368-629F-4AB3-9EC7-B776F15D4B77}">
          <dgm:prSet phldrT="[Text]" phldr="0"/>
          <dgm:spPr/>
          <dgm:t>
            <a:bodyPr/>
            <a:lstStyle/>
            <a:p>
              <a:r>
                <a:rPr lang="en-US" dirty="0"/>
                <a:t>Assimilation</a:t>
              </a:r>
            </a:p>
            <a:p>
              <a:r>
                <a:rPr lang="en-US" dirty="0"/>
                <a:t>Agent-</a:t>
              </a:r>
              <a:r>
                <a:rPr lang="en-US" dirty="0" err="1"/>
                <a:t>i</a:t>
              </a:r>
              <a:r>
                <a:rPr lang="en-US" dirty="0"/>
                <a:t> adopts 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𝜎_</a:t>
              </a:r>
              <a:r>
                <a:rPr lang="en-US" b="0" i="0">
                  <a:latin typeface="Cambria Math" panose="02040503050406030204" pitchFamily="18" charset="0"/>
                </a:rPr>
                <a:t>𝑗^𝑓</a:t>
              </a:r>
              <a:r>
                <a:rPr lang="en-US" dirty="0"/>
                <a:t> </a:t>
              </a:r>
            </a:p>
          </dgm:t>
        </dgm:pt>
      </mc:Fallback>
    </mc:AlternateContent>
    <dgm:pt modelId="{7CACD292-D181-40B3-A2C6-46F523DA9C92}" type="parTrans" cxnId="{8438226F-91B0-4A59-8CF1-63CE38148647}">
      <dgm:prSet/>
      <dgm:spPr/>
      <dgm:t>
        <a:bodyPr/>
        <a:lstStyle/>
        <a:p>
          <a:endParaRPr lang="en-IN"/>
        </a:p>
      </dgm:t>
    </dgm:pt>
    <dgm:pt modelId="{69C0AFF2-7B19-4D71-AD2B-EA9561724780}" type="sibTrans" cxnId="{8438226F-91B0-4A59-8CF1-63CE38148647}">
      <dgm:prSet/>
      <dgm:spPr/>
      <dgm:t>
        <a:bodyPr/>
        <a:lstStyle/>
        <a:p>
          <a:endParaRPr lang="en-IN"/>
        </a:p>
      </dgm:t>
    </dgm:pt>
    <dgm:pt modelId="{2E3FD7AC-3FA3-49F6-80A3-848DD08732B3}" type="pres">
      <dgm:prSet presAssocID="{18B1465A-F615-4090-8C69-4DEE10DC117E}" presName="Name0" presStyleCnt="0">
        <dgm:presLayoutVars>
          <dgm:dir/>
          <dgm:resizeHandles/>
        </dgm:presLayoutVars>
      </dgm:prSet>
      <dgm:spPr/>
    </dgm:pt>
    <dgm:pt modelId="{D09E75E8-0C6C-4AF5-905D-04B89853919D}" type="pres">
      <dgm:prSet presAssocID="{F299A5B4-DED0-4DF6-A253-78DF5BF1321B}" presName="compNode" presStyleCnt="0"/>
      <dgm:spPr/>
    </dgm:pt>
    <dgm:pt modelId="{2124203D-8A2D-4683-BD67-D2FC71DFC634}" type="pres">
      <dgm:prSet presAssocID="{F299A5B4-DED0-4DF6-A253-78DF5BF1321B}" presName="dummyConnPt" presStyleCnt="0"/>
      <dgm:spPr/>
    </dgm:pt>
    <dgm:pt modelId="{101CAFD3-831F-4F71-B1C8-15DD825E8465}" type="pres">
      <dgm:prSet presAssocID="{F299A5B4-DED0-4DF6-A253-78DF5BF1321B}" presName="node" presStyleLbl="node1" presStyleIdx="0" presStyleCnt="6" custLinFactX="-33497" custLinFactNeighborX="-100000" custLinFactNeighborY="14560">
        <dgm:presLayoutVars>
          <dgm:bulletEnabled val="1"/>
        </dgm:presLayoutVars>
      </dgm:prSet>
      <dgm:spPr/>
    </dgm:pt>
    <dgm:pt modelId="{17B1A5E9-7C98-45A3-81FA-0E5149353BDB}" type="pres">
      <dgm:prSet presAssocID="{3AF601C0-EEFA-4971-90DF-5406FFF4B6F7}" presName="sibTrans" presStyleLbl="bgSibTrans2D1" presStyleIdx="0" presStyleCnt="5"/>
      <dgm:spPr/>
    </dgm:pt>
    <dgm:pt modelId="{7859451D-78C3-4427-9262-4B7598442939}" type="pres">
      <dgm:prSet presAssocID="{0408E7D3-C4AD-4908-B45C-89ED1CF9795D}" presName="compNode" presStyleCnt="0"/>
      <dgm:spPr/>
    </dgm:pt>
    <dgm:pt modelId="{084C556D-CD14-41EB-ABBC-FED798E5D54F}" type="pres">
      <dgm:prSet presAssocID="{0408E7D3-C4AD-4908-B45C-89ED1CF9795D}" presName="dummyConnPt" presStyleCnt="0"/>
      <dgm:spPr/>
    </dgm:pt>
    <dgm:pt modelId="{F32EA027-1894-4827-BCC6-47FDB4C8CB53}" type="pres">
      <dgm:prSet presAssocID="{0408E7D3-C4AD-4908-B45C-89ED1CF9795D}" presName="node" presStyleLbl="node1" presStyleIdx="1" presStyleCnt="6" custLinFactX="-33497" custLinFactY="4160" custLinFactNeighborX="-100000" custLinFactNeighborY="100000">
        <dgm:presLayoutVars>
          <dgm:bulletEnabled val="1"/>
        </dgm:presLayoutVars>
      </dgm:prSet>
      <dgm:spPr/>
    </dgm:pt>
    <dgm:pt modelId="{DAEAE010-1069-49BB-989A-D207CC67B50F}" type="pres">
      <dgm:prSet presAssocID="{345095EA-ABBA-44A8-9534-5DE0D14E7962}" presName="sibTrans" presStyleLbl="bgSibTrans2D1" presStyleIdx="1" presStyleCnt="5"/>
      <dgm:spPr/>
    </dgm:pt>
    <dgm:pt modelId="{22D761E0-82B0-4B3B-918C-ACF283B9539D}" type="pres">
      <dgm:prSet presAssocID="{3211FBFF-F87F-41EA-89E6-D9FBB8DED51E}" presName="compNode" presStyleCnt="0"/>
      <dgm:spPr/>
    </dgm:pt>
    <dgm:pt modelId="{61EB394D-7574-40E0-833B-64AAD2B386DC}" type="pres">
      <dgm:prSet presAssocID="{3211FBFF-F87F-41EA-89E6-D9FBB8DED51E}" presName="dummyConnPt" presStyleCnt="0"/>
      <dgm:spPr/>
    </dgm:pt>
    <dgm:pt modelId="{9B4E5C29-39A4-4383-ADE4-A15FDEFC15DE}" type="pres">
      <dgm:prSet presAssocID="{3211FBFF-F87F-41EA-89E6-D9FBB8DED51E}" presName="node" presStyleLbl="node1" presStyleIdx="2" presStyleCnt="6" custLinFactNeighborX="54179" custLinFactNeighborY="-20840">
        <dgm:presLayoutVars>
          <dgm:bulletEnabled val="1"/>
        </dgm:presLayoutVars>
      </dgm:prSet>
      <dgm:spPr/>
    </dgm:pt>
    <dgm:pt modelId="{2FFC49C0-D8FF-4DEB-8247-BB21051AFCA0}" type="pres">
      <dgm:prSet presAssocID="{714E15B7-A38C-4A23-BB66-5416EB5206CA}" presName="sibTrans" presStyleLbl="bgSibTrans2D1" presStyleIdx="2" presStyleCnt="5"/>
      <dgm:spPr/>
    </dgm:pt>
    <dgm:pt modelId="{C20E091E-ADFB-4571-A810-DD9B39C58BCC}" type="pres">
      <dgm:prSet presAssocID="{F732BC3E-F426-47DA-8D8B-3C7856820D1A}" presName="compNode" presStyleCnt="0"/>
      <dgm:spPr/>
    </dgm:pt>
    <dgm:pt modelId="{19F6FA0B-D3F4-4AFC-B8A0-A004C0C42E28}" type="pres">
      <dgm:prSet presAssocID="{F732BC3E-F426-47DA-8D8B-3C7856820D1A}" presName="dummyConnPt" presStyleCnt="0"/>
      <dgm:spPr/>
    </dgm:pt>
    <dgm:pt modelId="{1E977E05-34FF-4C4B-9C15-E67A524BB05E}" type="pres">
      <dgm:prSet presAssocID="{F732BC3E-F426-47DA-8D8B-3C7856820D1A}" presName="node" presStyleLbl="node1" presStyleIdx="3" presStyleCnt="6" custLinFactY="-100000" custLinFactNeighborX="-78821" custLinFactNeighborY="-135440">
        <dgm:presLayoutVars>
          <dgm:bulletEnabled val="1"/>
        </dgm:presLayoutVars>
      </dgm:prSet>
      <dgm:spPr/>
    </dgm:pt>
    <dgm:pt modelId="{7C6B8AF8-0252-4B1D-8ED7-24F54E1D79B8}" type="pres">
      <dgm:prSet presAssocID="{822A70D3-2CCC-4126-A02C-56DAE13D755C}" presName="sibTrans" presStyleLbl="bgSibTrans2D1" presStyleIdx="3" presStyleCnt="5"/>
      <dgm:spPr/>
    </dgm:pt>
    <dgm:pt modelId="{BD8F0C9F-16A0-4060-B4C0-E2F182ABD346}" type="pres">
      <dgm:prSet presAssocID="{7A40F3FF-9875-4B69-ACA8-6947A6EF37C6}" presName="compNode" presStyleCnt="0"/>
      <dgm:spPr/>
    </dgm:pt>
    <dgm:pt modelId="{66EA806E-8D6F-4B40-BBF4-A9A5E7474771}" type="pres">
      <dgm:prSet presAssocID="{7A40F3FF-9875-4B69-ACA8-6947A6EF37C6}" presName="dummyConnPt" presStyleCnt="0"/>
      <dgm:spPr/>
    </dgm:pt>
    <dgm:pt modelId="{4486D615-5463-4A26-9CC8-37D4F47AC8E2}" type="pres">
      <dgm:prSet presAssocID="{7A40F3FF-9875-4B69-ACA8-6947A6EF37C6}" presName="node" presStyleLbl="node1" presStyleIdx="4" presStyleCnt="6" custLinFactX="21626" custLinFactY="-10440" custLinFactNeighborX="100000" custLinFactNeighborY="-100000">
        <dgm:presLayoutVars>
          <dgm:bulletEnabled val="1"/>
        </dgm:presLayoutVars>
      </dgm:prSet>
      <dgm:spPr/>
    </dgm:pt>
    <dgm:pt modelId="{782A4D68-D12C-4AA1-AE58-CEAF8E69E5FF}" type="pres">
      <dgm:prSet presAssocID="{887759C9-92C0-4848-A856-18D8FF7E9C3C}" presName="sibTrans" presStyleLbl="bgSibTrans2D1" presStyleIdx="4" presStyleCnt="5"/>
      <dgm:spPr/>
    </dgm:pt>
    <dgm:pt modelId="{0D3114AE-2D75-4B70-A166-4C989EFFA0E1}" type="pres">
      <dgm:prSet presAssocID="{8479C368-629F-4AB3-9EC7-B776F15D4B77}" presName="compNode" presStyleCnt="0"/>
      <dgm:spPr/>
    </dgm:pt>
    <dgm:pt modelId="{AE58D5FD-1B03-4DB8-98A1-9AF721C78780}" type="pres">
      <dgm:prSet presAssocID="{8479C368-629F-4AB3-9EC7-B776F15D4B77}" presName="dummyConnPt" presStyleCnt="0"/>
      <dgm:spPr/>
    </dgm:pt>
    <dgm:pt modelId="{656087FC-D265-4D37-A536-4B3098C0546A}" type="pres">
      <dgm:prSet presAssocID="{8479C368-629F-4AB3-9EC7-B776F15D4B77}" presName="node" presStyleLbl="node1" presStyleIdx="5" presStyleCnt="6" custLinFactX="21168" custLinFactY="100000" custLinFactNeighborX="100000" custLinFactNeighborY="129160">
        <dgm:presLayoutVars>
          <dgm:bulletEnabled val="1"/>
        </dgm:presLayoutVars>
      </dgm:prSet>
      <dgm:spPr/>
    </dgm:pt>
  </dgm:ptLst>
  <dgm:cxnLst>
    <dgm:cxn modelId="{BC505101-A77D-4FF4-B105-F0AE34ED7443}" type="presOf" srcId="{18B1465A-F615-4090-8C69-4DEE10DC117E}" destId="{2E3FD7AC-3FA3-49F6-80A3-848DD08732B3}" srcOrd="0" destOrd="0" presId="urn:microsoft.com/office/officeart/2005/8/layout/bProcess4"/>
    <dgm:cxn modelId="{C6534915-10F1-482C-A49E-4C18C5DFC964}" type="presOf" srcId="{F732BC3E-F426-47DA-8D8B-3C7856820D1A}" destId="{1E977E05-34FF-4C4B-9C15-E67A524BB05E}" srcOrd="0" destOrd="0" presId="urn:microsoft.com/office/officeart/2005/8/layout/bProcess4"/>
    <dgm:cxn modelId="{A0F8C919-D20E-432C-8345-356207EF0E21}" type="presOf" srcId="{3211FBFF-F87F-41EA-89E6-D9FBB8DED51E}" destId="{9B4E5C29-39A4-4383-ADE4-A15FDEFC15DE}" srcOrd="0" destOrd="0" presId="urn:microsoft.com/office/officeart/2005/8/layout/bProcess4"/>
    <dgm:cxn modelId="{1AC49C1B-7584-4CDD-87A5-7B896706A33F}" type="presOf" srcId="{7A40F3FF-9875-4B69-ACA8-6947A6EF37C6}" destId="{4486D615-5463-4A26-9CC8-37D4F47AC8E2}" srcOrd="0" destOrd="0" presId="urn:microsoft.com/office/officeart/2005/8/layout/bProcess4"/>
    <dgm:cxn modelId="{342B053C-76CC-49CC-B142-0123A723A9E5}" type="presOf" srcId="{345095EA-ABBA-44A8-9534-5DE0D14E7962}" destId="{DAEAE010-1069-49BB-989A-D207CC67B50F}" srcOrd="0" destOrd="0" presId="urn:microsoft.com/office/officeart/2005/8/layout/bProcess4"/>
    <dgm:cxn modelId="{DCD16F61-F984-47EB-8559-6D60445712EC}" srcId="{18B1465A-F615-4090-8C69-4DEE10DC117E}" destId="{3211FBFF-F87F-41EA-89E6-D9FBB8DED51E}" srcOrd="2" destOrd="0" parTransId="{A5040DBF-709F-4B8E-A2C4-2D89BF849B1F}" sibTransId="{714E15B7-A38C-4A23-BB66-5416EB5206CA}"/>
    <dgm:cxn modelId="{4622A744-C190-4B0D-955B-4A8F89C3AAF2}" srcId="{18B1465A-F615-4090-8C69-4DEE10DC117E}" destId="{7A40F3FF-9875-4B69-ACA8-6947A6EF37C6}" srcOrd="4" destOrd="0" parTransId="{EA9B213C-CAEF-43C2-AE3D-080ADCC1CDFA}" sibTransId="{887759C9-92C0-4848-A856-18D8FF7E9C3C}"/>
    <dgm:cxn modelId="{8438226F-91B0-4A59-8CF1-63CE38148647}" srcId="{18B1465A-F615-4090-8C69-4DEE10DC117E}" destId="{8479C368-629F-4AB3-9EC7-B776F15D4B77}" srcOrd="5" destOrd="0" parTransId="{7CACD292-D181-40B3-A2C6-46F523DA9C92}" sibTransId="{69C0AFF2-7B19-4D71-AD2B-EA9561724780}"/>
    <dgm:cxn modelId="{E7793D74-3496-4380-A043-3EFC5667D789}" srcId="{18B1465A-F615-4090-8C69-4DEE10DC117E}" destId="{F299A5B4-DED0-4DF6-A253-78DF5BF1321B}" srcOrd="0" destOrd="0" parTransId="{ACAB03D6-B7BE-4997-851E-EFF998333AD5}" sibTransId="{3AF601C0-EEFA-4971-90DF-5406FFF4B6F7}"/>
    <dgm:cxn modelId="{AA7E1C75-2759-4D8A-89EB-775B959A2CA8}" type="presOf" srcId="{0408E7D3-C4AD-4908-B45C-89ED1CF9795D}" destId="{F32EA027-1894-4827-BCC6-47FDB4C8CB53}" srcOrd="0" destOrd="0" presId="urn:microsoft.com/office/officeart/2005/8/layout/bProcess4"/>
    <dgm:cxn modelId="{4970FA56-CBCE-4E52-8B16-91A60883C52A}" srcId="{18B1465A-F615-4090-8C69-4DEE10DC117E}" destId="{0408E7D3-C4AD-4908-B45C-89ED1CF9795D}" srcOrd="1" destOrd="0" parTransId="{DDB6AA6B-9134-461A-B1C1-320FAA866167}" sibTransId="{345095EA-ABBA-44A8-9534-5DE0D14E7962}"/>
    <dgm:cxn modelId="{FFB6FD9F-820D-4147-99E9-315F26D03791}" srcId="{18B1465A-F615-4090-8C69-4DEE10DC117E}" destId="{F732BC3E-F426-47DA-8D8B-3C7856820D1A}" srcOrd="3" destOrd="0" parTransId="{EA2C5780-A75A-4604-96FD-0B50A4611274}" sibTransId="{822A70D3-2CCC-4126-A02C-56DAE13D755C}"/>
    <dgm:cxn modelId="{01C9AFA6-13B6-416F-AEC4-ADC1885559F9}" type="presOf" srcId="{714E15B7-A38C-4A23-BB66-5416EB5206CA}" destId="{2FFC49C0-D8FF-4DEB-8247-BB21051AFCA0}" srcOrd="0" destOrd="0" presId="urn:microsoft.com/office/officeart/2005/8/layout/bProcess4"/>
    <dgm:cxn modelId="{3CEFC2AA-AD3F-4159-A33C-DA76896446C4}" type="presOf" srcId="{F299A5B4-DED0-4DF6-A253-78DF5BF1321B}" destId="{101CAFD3-831F-4F71-B1C8-15DD825E8465}" srcOrd="0" destOrd="0" presId="urn:microsoft.com/office/officeart/2005/8/layout/bProcess4"/>
    <dgm:cxn modelId="{53E8F3BE-4F82-47CB-A419-A9BFBCBBB144}" type="presOf" srcId="{887759C9-92C0-4848-A856-18D8FF7E9C3C}" destId="{782A4D68-D12C-4AA1-AE58-CEAF8E69E5FF}" srcOrd="0" destOrd="0" presId="urn:microsoft.com/office/officeart/2005/8/layout/bProcess4"/>
    <dgm:cxn modelId="{BB4181C1-1B33-4767-97B7-FFE849E54D33}" type="presOf" srcId="{8479C368-629F-4AB3-9EC7-B776F15D4B77}" destId="{656087FC-D265-4D37-A536-4B3098C0546A}" srcOrd="0" destOrd="0" presId="urn:microsoft.com/office/officeart/2005/8/layout/bProcess4"/>
    <dgm:cxn modelId="{1F4AD8E6-256A-483F-A33D-6533A6DC7BEC}" type="presOf" srcId="{822A70D3-2CCC-4126-A02C-56DAE13D755C}" destId="{7C6B8AF8-0252-4B1D-8ED7-24F54E1D79B8}" srcOrd="0" destOrd="0" presId="urn:microsoft.com/office/officeart/2005/8/layout/bProcess4"/>
    <dgm:cxn modelId="{A1BBDCEA-4393-4AAA-A336-02ABE0F2FD55}" type="presOf" srcId="{3AF601C0-EEFA-4971-90DF-5406FFF4B6F7}" destId="{17B1A5E9-7C98-45A3-81FA-0E5149353BDB}" srcOrd="0" destOrd="0" presId="urn:microsoft.com/office/officeart/2005/8/layout/bProcess4"/>
    <dgm:cxn modelId="{340DC21F-418F-4F58-9791-7E1388F26890}" type="presParOf" srcId="{2E3FD7AC-3FA3-49F6-80A3-848DD08732B3}" destId="{D09E75E8-0C6C-4AF5-905D-04B89853919D}" srcOrd="0" destOrd="0" presId="urn:microsoft.com/office/officeart/2005/8/layout/bProcess4"/>
    <dgm:cxn modelId="{FE5FFE99-E1CE-454D-951E-12A4F743257A}" type="presParOf" srcId="{D09E75E8-0C6C-4AF5-905D-04B89853919D}" destId="{2124203D-8A2D-4683-BD67-D2FC71DFC634}" srcOrd="0" destOrd="0" presId="urn:microsoft.com/office/officeart/2005/8/layout/bProcess4"/>
    <dgm:cxn modelId="{96FAE320-8E34-4470-9684-B1DCFF1FF091}" type="presParOf" srcId="{D09E75E8-0C6C-4AF5-905D-04B89853919D}" destId="{101CAFD3-831F-4F71-B1C8-15DD825E8465}" srcOrd="1" destOrd="0" presId="urn:microsoft.com/office/officeart/2005/8/layout/bProcess4"/>
    <dgm:cxn modelId="{4D66E699-1532-4830-8FF1-932EA47E23DF}" type="presParOf" srcId="{2E3FD7AC-3FA3-49F6-80A3-848DD08732B3}" destId="{17B1A5E9-7C98-45A3-81FA-0E5149353BDB}" srcOrd="1" destOrd="0" presId="urn:microsoft.com/office/officeart/2005/8/layout/bProcess4"/>
    <dgm:cxn modelId="{7EEA188A-908F-4222-BB10-8867939592EB}" type="presParOf" srcId="{2E3FD7AC-3FA3-49F6-80A3-848DD08732B3}" destId="{7859451D-78C3-4427-9262-4B7598442939}" srcOrd="2" destOrd="0" presId="urn:microsoft.com/office/officeart/2005/8/layout/bProcess4"/>
    <dgm:cxn modelId="{C9300DFD-153C-40D2-924A-1F3DDDB30D3D}" type="presParOf" srcId="{7859451D-78C3-4427-9262-4B7598442939}" destId="{084C556D-CD14-41EB-ABBC-FED798E5D54F}" srcOrd="0" destOrd="0" presId="urn:microsoft.com/office/officeart/2005/8/layout/bProcess4"/>
    <dgm:cxn modelId="{9EA08E06-690B-42A1-8807-B819F0D1FF15}" type="presParOf" srcId="{7859451D-78C3-4427-9262-4B7598442939}" destId="{F32EA027-1894-4827-BCC6-47FDB4C8CB53}" srcOrd="1" destOrd="0" presId="urn:microsoft.com/office/officeart/2005/8/layout/bProcess4"/>
    <dgm:cxn modelId="{B11C1491-DBFD-4589-A01D-869D7C60F0CC}" type="presParOf" srcId="{2E3FD7AC-3FA3-49F6-80A3-848DD08732B3}" destId="{DAEAE010-1069-49BB-989A-D207CC67B50F}" srcOrd="3" destOrd="0" presId="urn:microsoft.com/office/officeart/2005/8/layout/bProcess4"/>
    <dgm:cxn modelId="{77188DB3-29F6-4FD1-AB16-E556AAFD60E3}" type="presParOf" srcId="{2E3FD7AC-3FA3-49F6-80A3-848DD08732B3}" destId="{22D761E0-82B0-4B3B-918C-ACF283B9539D}" srcOrd="4" destOrd="0" presId="urn:microsoft.com/office/officeart/2005/8/layout/bProcess4"/>
    <dgm:cxn modelId="{BFA0477E-007D-44F0-B910-E004026EFD3C}" type="presParOf" srcId="{22D761E0-82B0-4B3B-918C-ACF283B9539D}" destId="{61EB394D-7574-40E0-833B-64AAD2B386DC}" srcOrd="0" destOrd="0" presId="urn:microsoft.com/office/officeart/2005/8/layout/bProcess4"/>
    <dgm:cxn modelId="{3C1CB6EA-6183-4B64-9D09-2ACE7382966C}" type="presParOf" srcId="{22D761E0-82B0-4B3B-918C-ACF283B9539D}" destId="{9B4E5C29-39A4-4383-ADE4-A15FDEFC15DE}" srcOrd="1" destOrd="0" presId="urn:microsoft.com/office/officeart/2005/8/layout/bProcess4"/>
    <dgm:cxn modelId="{961854AA-23CC-4370-A292-1A97B32D8B89}" type="presParOf" srcId="{2E3FD7AC-3FA3-49F6-80A3-848DD08732B3}" destId="{2FFC49C0-D8FF-4DEB-8247-BB21051AFCA0}" srcOrd="5" destOrd="0" presId="urn:microsoft.com/office/officeart/2005/8/layout/bProcess4"/>
    <dgm:cxn modelId="{49E6D375-DF23-46A8-9650-64CC0ADA1588}" type="presParOf" srcId="{2E3FD7AC-3FA3-49F6-80A3-848DD08732B3}" destId="{C20E091E-ADFB-4571-A810-DD9B39C58BCC}" srcOrd="6" destOrd="0" presId="urn:microsoft.com/office/officeart/2005/8/layout/bProcess4"/>
    <dgm:cxn modelId="{D61F3C74-05A5-485E-B884-019CA8DE11EF}" type="presParOf" srcId="{C20E091E-ADFB-4571-A810-DD9B39C58BCC}" destId="{19F6FA0B-D3F4-4AFC-B8A0-A004C0C42E28}" srcOrd="0" destOrd="0" presId="urn:microsoft.com/office/officeart/2005/8/layout/bProcess4"/>
    <dgm:cxn modelId="{D04F405D-3447-4A89-8F72-60B71F780056}" type="presParOf" srcId="{C20E091E-ADFB-4571-A810-DD9B39C58BCC}" destId="{1E977E05-34FF-4C4B-9C15-E67A524BB05E}" srcOrd="1" destOrd="0" presId="urn:microsoft.com/office/officeart/2005/8/layout/bProcess4"/>
    <dgm:cxn modelId="{DF882D09-91A5-430A-99B2-A42CE8ACFA90}" type="presParOf" srcId="{2E3FD7AC-3FA3-49F6-80A3-848DD08732B3}" destId="{7C6B8AF8-0252-4B1D-8ED7-24F54E1D79B8}" srcOrd="7" destOrd="0" presId="urn:microsoft.com/office/officeart/2005/8/layout/bProcess4"/>
    <dgm:cxn modelId="{299DE6C7-A1DC-45DE-8B26-332201F29B77}" type="presParOf" srcId="{2E3FD7AC-3FA3-49F6-80A3-848DD08732B3}" destId="{BD8F0C9F-16A0-4060-B4C0-E2F182ABD346}" srcOrd="8" destOrd="0" presId="urn:microsoft.com/office/officeart/2005/8/layout/bProcess4"/>
    <dgm:cxn modelId="{FB381858-66B3-4AFA-8405-05D1F2A57692}" type="presParOf" srcId="{BD8F0C9F-16A0-4060-B4C0-E2F182ABD346}" destId="{66EA806E-8D6F-4B40-BBF4-A9A5E7474771}" srcOrd="0" destOrd="0" presId="urn:microsoft.com/office/officeart/2005/8/layout/bProcess4"/>
    <dgm:cxn modelId="{2B1ACBE0-16AA-40B1-B4F0-D294F55E0970}" type="presParOf" srcId="{BD8F0C9F-16A0-4060-B4C0-E2F182ABD346}" destId="{4486D615-5463-4A26-9CC8-37D4F47AC8E2}" srcOrd="1" destOrd="0" presId="urn:microsoft.com/office/officeart/2005/8/layout/bProcess4"/>
    <dgm:cxn modelId="{2C06F364-0C6E-4C57-9555-F6064D75C0E8}" type="presParOf" srcId="{2E3FD7AC-3FA3-49F6-80A3-848DD08732B3}" destId="{782A4D68-D12C-4AA1-AE58-CEAF8E69E5FF}" srcOrd="9" destOrd="0" presId="urn:microsoft.com/office/officeart/2005/8/layout/bProcess4"/>
    <dgm:cxn modelId="{7A622158-5864-4B33-A897-3DEFE08553D8}" type="presParOf" srcId="{2E3FD7AC-3FA3-49F6-80A3-848DD08732B3}" destId="{0D3114AE-2D75-4B70-A166-4C989EFFA0E1}" srcOrd="10" destOrd="0" presId="urn:microsoft.com/office/officeart/2005/8/layout/bProcess4"/>
    <dgm:cxn modelId="{18080CFE-0956-433D-885B-6B9E5F854EB9}" type="presParOf" srcId="{0D3114AE-2D75-4B70-A166-4C989EFFA0E1}" destId="{AE58D5FD-1B03-4DB8-98A1-9AF721C78780}" srcOrd="0" destOrd="0" presId="urn:microsoft.com/office/officeart/2005/8/layout/bProcess4"/>
    <dgm:cxn modelId="{0B19DD05-4BEF-416B-B7D7-BE6F823798AD}" type="presParOf" srcId="{0D3114AE-2D75-4B70-A166-4C989EFFA0E1}" destId="{656087FC-D265-4D37-A536-4B3098C0546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B1465A-F615-4090-8C69-4DEE10DC117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99A5B4-DED0-4DF6-A253-78DF5BF1321B}">
      <dgm:prSet phldrT="[Text]" phldr="0"/>
      <dgm:spPr/>
      <dgm:t>
        <a:bodyPr/>
        <a:lstStyle/>
        <a:p>
          <a:r>
            <a:rPr lang="en-US" dirty="0"/>
            <a:t>Select agent-</a:t>
          </a:r>
          <a:r>
            <a:rPr lang="en-US" dirty="0" err="1"/>
            <a:t>i</a:t>
          </a:r>
          <a:r>
            <a:rPr lang="en-US" dirty="0"/>
            <a:t> and one of its neighbor</a:t>
          </a:r>
          <a:endParaRPr lang="en-IN" dirty="0"/>
        </a:p>
      </dgm:t>
    </dgm:pt>
    <dgm:pt modelId="{ACAB03D6-B7BE-4997-851E-EFF998333AD5}" type="parTrans" cxnId="{E7793D74-3496-4380-A043-3EFC5667D789}">
      <dgm:prSet/>
      <dgm:spPr/>
      <dgm:t>
        <a:bodyPr/>
        <a:lstStyle/>
        <a:p>
          <a:endParaRPr lang="en-IN"/>
        </a:p>
      </dgm:t>
    </dgm:pt>
    <dgm:pt modelId="{3AF601C0-EEFA-4971-90DF-5406FFF4B6F7}" type="sibTrans" cxnId="{E7793D74-3496-4380-A043-3EFC5667D789}">
      <dgm:prSet/>
      <dgm:spPr/>
      <dgm:t>
        <a:bodyPr/>
        <a:lstStyle/>
        <a:p>
          <a:endParaRPr lang="en-IN"/>
        </a:p>
      </dgm:t>
    </dgm:pt>
    <dgm:pt modelId="{0408E7D3-C4AD-4908-B45C-89ED1CF9795D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DDB6AA6B-9134-461A-B1C1-320FAA866167}" type="parTrans" cxnId="{4970FA56-CBCE-4E52-8B16-91A60883C52A}">
      <dgm:prSet/>
      <dgm:spPr/>
      <dgm:t>
        <a:bodyPr/>
        <a:lstStyle/>
        <a:p>
          <a:endParaRPr lang="en-IN"/>
        </a:p>
      </dgm:t>
    </dgm:pt>
    <dgm:pt modelId="{345095EA-ABBA-44A8-9534-5DE0D14E7962}" type="sibTrans" cxnId="{4970FA56-CBCE-4E52-8B16-91A60883C52A}">
      <dgm:prSet/>
      <dgm:spPr/>
      <dgm:t>
        <a:bodyPr/>
        <a:lstStyle/>
        <a:p>
          <a:endParaRPr lang="en-IN"/>
        </a:p>
      </dgm:t>
    </dgm:pt>
    <dgm:pt modelId="{3211FBFF-F87F-41EA-89E6-D9FBB8DED51E}">
      <dgm:prSet phldrT="[Text]" phldr="0"/>
      <dgm:spPr/>
      <dgm:t>
        <a:bodyPr/>
        <a:lstStyle/>
        <a:p>
          <a:r>
            <a:rPr lang="en-US" dirty="0"/>
            <a:t>Check Interaction</a:t>
          </a:r>
        </a:p>
        <a:p>
          <a:r>
            <a:rPr lang="en-IN" dirty="0"/>
            <a:t>Pick random feature F</a:t>
          </a:r>
        </a:p>
      </dgm:t>
    </dgm:pt>
    <dgm:pt modelId="{A5040DBF-709F-4B8E-A2C4-2D89BF849B1F}" type="parTrans" cxnId="{DCD16F61-F984-47EB-8559-6D60445712EC}">
      <dgm:prSet/>
      <dgm:spPr/>
      <dgm:t>
        <a:bodyPr/>
        <a:lstStyle/>
        <a:p>
          <a:endParaRPr lang="en-IN"/>
        </a:p>
      </dgm:t>
    </dgm:pt>
    <dgm:pt modelId="{714E15B7-A38C-4A23-BB66-5416EB5206CA}" type="sibTrans" cxnId="{DCD16F61-F984-47EB-8559-6D60445712EC}">
      <dgm:prSet/>
      <dgm:spPr/>
      <dgm:t>
        <a:bodyPr/>
        <a:lstStyle/>
        <a:p>
          <a:endParaRPr lang="en-IN"/>
        </a:p>
      </dgm:t>
    </dgm:pt>
    <dgm:pt modelId="{F732BC3E-F426-47DA-8D8B-3C7856820D1A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EA2C5780-A75A-4604-96FD-0B50A4611274}" type="parTrans" cxnId="{FFB6FD9F-820D-4147-99E9-315F26D03791}">
      <dgm:prSet/>
      <dgm:spPr/>
      <dgm:t>
        <a:bodyPr/>
        <a:lstStyle/>
        <a:p>
          <a:endParaRPr lang="en-IN"/>
        </a:p>
      </dgm:t>
    </dgm:pt>
    <dgm:pt modelId="{822A70D3-2CCC-4126-A02C-56DAE13D755C}" type="sibTrans" cxnId="{FFB6FD9F-820D-4147-99E9-315F26D03791}">
      <dgm:prSet/>
      <dgm:spPr/>
      <dgm:t>
        <a:bodyPr/>
        <a:lstStyle/>
        <a:p>
          <a:endParaRPr lang="en-IN"/>
        </a:p>
      </dgm:t>
    </dgm:pt>
    <dgm:pt modelId="{7A40F3FF-9875-4B69-ACA8-6947A6EF37C6}">
      <dgm:prSet phldrT="[Text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EA9B213C-CAEF-43C2-AE3D-080ADCC1CDFA}" type="parTrans" cxnId="{4622A744-C190-4B0D-955B-4A8F89C3AAF2}">
      <dgm:prSet/>
      <dgm:spPr/>
      <dgm:t>
        <a:bodyPr/>
        <a:lstStyle/>
        <a:p>
          <a:endParaRPr lang="en-IN"/>
        </a:p>
      </dgm:t>
    </dgm:pt>
    <dgm:pt modelId="{887759C9-92C0-4848-A856-18D8FF7E9C3C}" type="sibTrans" cxnId="{4622A744-C190-4B0D-955B-4A8F89C3AAF2}">
      <dgm:prSet/>
      <dgm:spPr/>
      <dgm:t>
        <a:bodyPr/>
        <a:lstStyle/>
        <a:p>
          <a:endParaRPr lang="en-IN"/>
        </a:p>
      </dgm:t>
    </dgm:pt>
    <dgm:pt modelId="{8479C368-629F-4AB3-9EC7-B776F15D4B77}">
      <dgm:prSet phldrT="[Text]" phldr="0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7CACD292-D181-40B3-A2C6-46F523DA9C92}" type="parTrans" cxnId="{8438226F-91B0-4A59-8CF1-63CE38148647}">
      <dgm:prSet/>
      <dgm:spPr/>
      <dgm:t>
        <a:bodyPr/>
        <a:lstStyle/>
        <a:p>
          <a:endParaRPr lang="en-IN"/>
        </a:p>
      </dgm:t>
    </dgm:pt>
    <dgm:pt modelId="{69C0AFF2-7B19-4D71-AD2B-EA9561724780}" type="sibTrans" cxnId="{8438226F-91B0-4A59-8CF1-63CE38148647}">
      <dgm:prSet/>
      <dgm:spPr/>
      <dgm:t>
        <a:bodyPr/>
        <a:lstStyle/>
        <a:p>
          <a:endParaRPr lang="en-IN"/>
        </a:p>
      </dgm:t>
    </dgm:pt>
    <dgm:pt modelId="{2E3FD7AC-3FA3-49F6-80A3-848DD08732B3}" type="pres">
      <dgm:prSet presAssocID="{18B1465A-F615-4090-8C69-4DEE10DC117E}" presName="Name0" presStyleCnt="0">
        <dgm:presLayoutVars>
          <dgm:dir/>
          <dgm:resizeHandles/>
        </dgm:presLayoutVars>
      </dgm:prSet>
      <dgm:spPr/>
    </dgm:pt>
    <dgm:pt modelId="{D09E75E8-0C6C-4AF5-905D-04B89853919D}" type="pres">
      <dgm:prSet presAssocID="{F299A5B4-DED0-4DF6-A253-78DF5BF1321B}" presName="compNode" presStyleCnt="0"/>
      <dgm:spPr/>
    </dgm:pt>
    <dgm:pt modelId="{2124203D-8A2D-4683-BD67-D2FC71DFC634}" type="pres">
      <dgm:prSet presAssocID="{F299A5B4-DED0-4DF6-A253-78DF5BF1321B}" presName="dummyConnPt" presStyleCnt="0"/>
      <dgm:spPr/>
    </dgm:pt>
    <dgm:pt modelId="{101CAFD3-831F-4F71-B1C8-15DD825E8465}" type="pres">
      <dgm:prSet presAssocID="{F299A5B4-DED0-4DF6-A253-78DF5BF1321B}" presName="node" presStyleLbl="node1" presStyleIdx="0" presStyleCnt="6" custLinFactX="-33497" custLinFactNeighborX="-100000" custLinFactNeighborY="14560">
        <dgm:presLayoutVars>
          <dgm:bulletEnabled val="1"/>
        </dgm:presLayoutVars>
      </dgm:prSet>
      <dgm:spPr/>
    </dgm:pt>
    <dgm:pt modelId="{17B1A5E9-7C98-45A3-81FA-0E5149353BDB}" type="pres">
      <dgm:prSet presAssocID="{3AF601C0-EEFA-4971-90DF-5406FFF4B6F7}" presName="sibTrans" presStyleLbl="bgSibTrans2D1" presStyleIdx="0" presStyleCnt="5"/>
      <dgm:spPr/>
    </dgm:pt>
    <dgm:pt modelId="{7859451D-78C3-4427-9262-4B7598442939}" type="pres">
      <dgm:prSet presAssocID="{0408E7D3-C4AD-4908-B45C-89ED1CF9795D}" presName="compNode" presStyleCnt="0"/>
      <dgm:spPr/>
    </dgm:pt>
    <dgm:pt modelId="{084C556D-CD14-41EB-ABBC-FED798E5D54F}" type="pres">
      <dgm:prSet presAssocID="{0408E7D3-C4AD-4908-B45C-89ED1CF9795D}" presName="dummyConnPt" presStyleCnt="0"/>
      <dgm:spPr/>
    </dgm:pt>
    <dgm:pt modelId="{F32EA027-1894-4827-BCC6-47FDB4C8CB53}" type="pres">
      <dgm:prSet presAssocID="{0408E7D3-C4AD-4908-B45C-89ED1CF9795D}" presName="node" presStyleLbl="node1" presStyleIdx="1" presStyleCnt="6" custLinFactX="-33497" custLinFactY="4160" custLinFactNeighborX="-100000" custLinFactNeighborY="100000">
        <dgm:presLayoutVars>
          <dgm:bulletEnabled val="1"/>
        </dgm:presLayoutVars>
      </dgm:prSet>
      <dgm:spPr/>
    </dgm:pt>
    <dgm:pt modelId="{DAEAE010-1069-49BB-989A-D207CC67B50F}" type="pres">
      <dgm:prSet presAssocID="{345095EA-ABBA-44A8-9534-5DE0D14E7962}" presName="sibTrans" presStyleLbl="bgSibTrans2D1" presStyleIdx="1" presStyleCnt="5"/>
      <dgm:spPr/>
    </dgm:pt>
    <dgm:pt modelId="{22D761E0-82B0-4B3B-918C-ACF283B9539D}" type="pres">
      <dgm:prSet presAssocID="{3211FBFF-F87F-41EA-89E6-D9FBB8DED51E}" presName="compNode" presStyleCnt="0"/>
      <dgm:spPr/>
    </dgm:pt>
    <dgm:pt modelId="{61EB394D-7574-40E0-833B-64AAD2B386DC}" type="pres">
      <dgm:prSet presAssocID="{3211FBFF-F87F-41EA-89E6-D9FBB8DED51E}" presName="dummyConnPt" presStyleCnt="0"/>
      <dgm:spPr/>
    </dgm:pt>
    <dgm:pt modelId="{9B4E5C29-39A4-4383-ADE4-A15FDEFC15DE}" type="pres">
      <dgm:prSet presAssocID="{3211FBFF-F87F-41EA-89E6-D9FBB8DED51E}" presName="node" presStyleLbl="node1" presStyleIdx="2" presStyleCnt="6" custLinFactNeighborX="54179" custLinFactNeighborY="-20840">
        <dgm:presLayoutVars>
          <dgm:bulletEnabled val="1"/>
        </dgm:presLayoutVars>
      </dgm:prSet>
      <dgm:spPr/>
    </dgm:pt>
    <dgm:pt modelId="{2FFC49C0-D8FF-4DEB-8247-BB21051AFCA0}" type="pres">
      <dgm:prSet presAssocID="{714E15B7-A38C-4A23-BB66-5416EB5206CA}" presName="sibTrans" presStyleLbl="bgSibTrans2D1" presStyleIdx="2" presStyleCnt="5"/>
      <dgm:spPr/>
    </dgm:pt>
    <dgm:pt modelId="{C20E091E-ADFB-4571-A810-DD9B39C58BCC}" type="pres">
      <dgm:prSet presAssocID="{F732BC3E-F426-47DA-8D8B-3C7856820D1A}" presName="compNode" presStyleCnt="0"/>
      <dgm:spPr/>
    </dgm:pt>
    <dgm:pt modelId="{19F6FA0B-D3F4-4AFC-B8A0-A004C0C42E28}" type="pres">
      <dgm:prSet presAssocID="{F732BC3E-F426-47DA-8D8B-3C7856820D1A}" presName="dummyConnPt" presStyleCnt="0"/>
      <dgm:spPr/>
    </dgm:pt>
    <dgm:pt modelId="{1E977E05-34FF-4C4B-9C15-E67A524BB05E}" type="pres">
      <dgm:prSet presAssocID="{F732BC3E-F426-47DA-8D8B-3C7856820D1A}" presName="node" presStyleLbl="node1" presStyleIdx="3" presStyleCnt="6" custLinFactY="-100000" custLinFactNeighborX="-78821" custLinFactNeighborY="-135440">
        <dgm:presLayoutVars>
          <dgm:bulletEnabled val="1"/>
        </dgm:presLayoutVars>
      </dgm:prSet>
      <dgm:spPr/>
    </dgm:pt>
    <dgm:pt modelId="{7C6B8AF8-0252-4B1D-8ED7-24F54E1D79B8}" type="pres">
      <dgm:prSet presAssocID="{822A70D3-2CCC-4126-A02C-56DAE13D755C}" presName="sibTrans" presStyleLbl="bgSibTrans2D1" presStyleIdx="3" presStyleCnt="5"/>
      <dgm:spPr/>
    </dgm:pt>
    <dgm:pt modelId="{BD8F0C9F-16A0-4060-B4C0-E2F182ABD346}" type="pres">
      <dgm:prSet presAssocID="{7A40F3FF-9875-4B69-ACA8-6947A6EF37C6}" presName="compNode" presStyleCnt="0"/>
      <dgm:spPr/>
    </dgm:pt>
    <dgm:pt modelId="{66EA806E-8D6F-4B40-BBF4-A9A5E7474771}" type="pres">
      <dgm:prSet presAssocID="{7A40F3FF-9875-4B69-ACA8-6947A6EF37C6}" presName="dummyConnPt" presStyleCnt="0"/>
      <dgm:spPr/>
    </dgm:pt>
    <dgm:pt modelId="{4486D615-5463-4A26-9CC8-37D4F47AC8E2}" type="pres">
      <dgm:prSet presAssocID="{7A40F3FF-9875-4B69-ACA8-6947A6EF37C6}" presName="node" presStyleLbl="node1" presStyleIdx="4" presStyleCnt="6" custLinFactX="21626" custLinFactY="-10440" custLinFactNeighborX="100000" custLinFactNeighborY="-100000">
        <dgm:presLayoutVars>
          <dgm:bulletEnabled val="1"/>
        </dgm:presLayoutVars>
      </dgm:prSet>
      <dgm:spPr/>
    </dgm:pt>
    <dgm:pt modelId="{782A4D68-D12C-4AA1-AE58-CEAF8E69E5FF}" type="pres">
      <dgm:prSet presAssocID="{887759C9-92C0-4848-A856-18D8FF7E9C3C}" presName="sibTrans" presStyleLbl="bgSibTrans2D1" presStyleIdx="4" presStyleCnt="5"/>
      <dgm:spPr/>
    </dgm:pt>
    <dgm:pt modelId="{0D3114AE-2D75-4B70-A166-4C989EFFA0E1}" type="pres">
      <dgm:prSet presAssocID="{8479C368-629F-4AB3-9EC7-B776F15D4B77}" presName="compNode" presStyleCnt="0"/>
      <dgm:spPr/>
    </dgm:pt>
    <dgm:pt modelId="{AE58D5FD-1B03-4DB8-98A1-9AF721C78780}" type="pres">
      <dgm:prSet presAssocID="{8479C368-629F-4AB3-9EC7-B776F15D4B77}" presName="dummyConnPt" presStyleCnt="0"/>
      <dgm:spPr/>
    </dgm:pt>
    <dgm:pt modelId="{656087FC-D265-4D37-A536-4B3098C0546A}" type="pres">
      <dgm:prSet presAssocID="{8479C368-629F-4AB3-9EC7-B776F15D4B77}" presName="node" presStyleLbl="node1" presStyleIdx="5" presStyleCnt="6" custLinFactX="21168" custLinFactY="100000" custLinFactNeighborX="100000" custLinFactNeighborY="129160">
        <dgm:presLayoutVars>
          <dgm:bulletEnabled val="1"/>
        </dgm:presLayoutVars>
      </dgm:prSet>
      <dgm:spPr/>
    </dgm:pt>
  </dgm:ptLst>
  <dgm:cxnLst>
    <dgm:cxn modelId="{BC505101-A77D-4FF4-B105-F0AE34ED7443}" type="presOf" srcId="{18B1465A-F615-4090-8C69-4DEE10DC117E}" destId="{2E3FD7AC-3FA3-49F6-80A3-848DD08732B3}" srcOrd="0" destOrd="0" presId="urn:microsoft.com/office/officeart/2005/8/layout/bProcess4"/>
    <dgm:cxn modelId="{C6534915-10F1-482C-A49E-4C18C5DFC964}" type="presOf" srcId="{F732BC3E-F426-47DA-8D8B-3C7856820D1A}" destId="{1E977E05-34FF-4C4B-9C15-E67A524BB05E}" srcOrd="0" destOrd="0" presId="urn:microsoft.com/office/officeart/2005/8/layout/bProcess4"/>
    <dgm:cxn modelId="{A0F8C919-D20E-432C-8345-356207EF0E21}" type="presOf" srcId="{3211FBFF-F87F-41EA-89E6-D9FBB8DED51E}" destId="{9B4E5C29-39A4-4383-ADE4-A15FDEFC15DE}" srcOrd="0" destOrd="0" presId="urn:microsoft.com/office/officeart/2005/8/layout/bProcess4"/>
    <dgm:cxn modelId="{1AC49C1B-7584-4CDD-87A5-7B896706A33F}" type="presOf" srcId="{7A40F3FF-9875-4B69-ACA8-6947A6EF37C6}" destId="{4486D615-5463-4A26-9CC8-37D4F47AC8E2}" srcOrd="0" destOrd="0" presId="urn:microsoft.com/office/officeart/2005/8/layout/bProcess4"/>
    <dgm:cxn modelId="{342B053C-76CC-49CC-B142-0123A723A9E5}" type="presOf" srcId="{345095EA-ABBA-44A8-9534-5DE0D14E7962}" destId="{DAEAE010-1069-49BB-989A-D207CC67B50F}" srcOrd="0" destOrd="0" presId="urn:microsoft.com/office/officeart/2005/8/layout/bProcess4"/>
    <dgm:cxn modelId="{DCD16F61-F984-47EB-8559-6D60445712EC}" srcId="{18B1465A-F615-4090-8C69-4DEE10DC117E}" destId="{3211FBFF-F87F-41EA-89E6-D9FBB8DED51E}" srcOrd="2" destOrd="0" parTransId="{A5040DBF-709F-4B8E-A2C4-2D89BF849B1F}" sibTransId="{714E15B7-A38C-4A23-BB66-5416EB5206CA}"/>
    <dgm:cxn modelId="{4622A744-C190-4B0D-955B-4A8F89C3AAF2}" srcId="{18B1465A-F615-4090-8C69-4DEE10DC117E}" destId="{7A40F3FF-9875-4B69-ACA8-6947A6EF37C6}" srcOrd="4" destOrd="0" parTransId="{EA9B213C-CAEF-43C2-AE3D-080ADCC1CDFA}" sibTransId="{887759C9-92C0-4848-A856-18D8FF7E9C3C}"/>
    <dgm:cxn modelId="{8438226F-91B0-4A59-8CF1-63CE38148647}" srcId="{18B1465A-F615-4090-8C69-4DEE10DC117E}" destId="{8479C368-629F-4AB3-9EC7-B776F15D4B77}" srcOrd="5" destOrd="0" parTransId="{7CACD292-D181-40B3-A2C6-46F523DA9C92}" sibTransId="{69C0AFF2-7B19-4D71-AD2B-EA9561724780}"/>
    <dgm:cxn modelId="{E7793D74-3496-4380-A043-3EFC5667D789}" srcId="{18B1465A-F615-4090-8C69-4DEE10DC117E}" destId="{F299A5B4-DED0-4DF6-A253-78DF5BF1321B}" srcOrd="0" destOrd="0" parTransId="{ACAB03D6-B7BE-4997-851E-EFF998333AD5}" sibTransId="{3AF601C0-EEFA-4971-90DF-5406FFF4B6F7}"/>
    <dgm:cxn modelId="{AA7E1C75-2759-4D8A-89EB-775B959A2CA8}" type="presOf" srcId="{0408E7D3-C4AD-4908-B45C-89ED1CF9795D}" destId="{F32EA027-1894-4827-BCC6-47FDB4C8CB53}" srcOrd="0" destOrd="0" presId="urn:microsoft.com/office/officeart/2005/8/layout/bProcess4"/>
    <dgm:cxn modelId="{4970FA56-CBCE-4E52-8B16-91A60883C52A}" srcId="{18B1465A-F615-4090-8C69-4DEE10DC117E}" destId="{0408E7D3-C4AD-4908-B45C-89ED1CF9795D}" srcOrd="1" destOrd="0" parTransId="{DDB6AA6B-9134-461A-B1C1-320FAA866167}" sibTransId="{345095EA-ABBA-44A8-9534-5DE0D14E7962}"/>
    <dgm:cxn modelId="{FFB6FD9F-820D-4147-99E9-315F26D03791}" srcId="{18B1465A-F615-4090-8C69-4DEE10DC117E}" destId="{F732BC3E-F426-47DA-8D8B-3C7856820D1A}" srcOrd="3" destOrd="0" parTransId="{EA2C5780-A75A-4604-96FD-0B50A4611274}" sibTransId="{822A70D3-2CCC-4126-A02C-56DAE13D755C}"/>
    <dgm:cxn modelId="{01C9AFA6-13B6-416F-AEC4-ADC1885559F9}" type="presOf" srcId="{714E15B7-A38C-4A23-BB66-5416EB5206CA}" destId="{2FFC49C0-D8FF-4DEB-8247-BB21051AFCA0}" srcOrd="0" destOrd="0" presId="urn:microsoft.com/office/officeart/2005/8/layout/bProcess4"/>
    <dgm:cxn modelId="{3CEFC2AA-AD3F-4159-A33C-DA76896446C4}" type="presOf" srcId="{F299A5B4-DED0-4DF6-A253-78DF5BF1321B}" destId="{101CAFD3-831F-4F71-B1C8-15DD825E8465}" srcOrd="0" destOrd="0" presId="urn:microsoft.com/office/officeart/2005/8/layout/bProcess4"/>
    <dgm:cxn modelId="{53E8F3BE-4F82-47CB-A419-A9BFBCBBB144}" type="presOf" srcId="{887759C9-92C0-4848-A856-18D8FF7E9C3C}" destId="{782A4D68-D12C-4AA1-AE58-CEAF8E69E5FF}" srcOrd="0" destOrd="0" presId="urn:microsoft.com/office/officeart/2005/8/layout/bProcess4"/>
    <dgm:cxn modelId="{BB4181C1-1B33-4767-97B7-FFE849E54D33}" type="presOf" srcId="{8479C368-629F-4AB3-9EC7-B776F15D4B77}" destId="{656087FC-D265-4D37-A536-4B3098C0546A}" srcOrd="0" destOrd="0" presId="urn:microsoft.com/office/officeart/2005/8/layout/bProcess4"/>
    <dgm:cxn modelId="{1F4AD8E6-256A-483F-A33D-6533A6DC7BEC}" type="presOf" srcId="{822A70D3-2CCC-4126-A02C-56DAE13D755C}" destId="{7C6B8AF8-0252-4B1D-8ED7-24F54E1D79B8}" srcOrd="0" destOrd="0" presId="urn:microsoft.com/office/officeart/2005/8/layout/bProcess4"/>
    <dgm:cxn modelId="{A1BBDCEA-4393-4AAA-A336-02ABE0F2FD55}" type="presOf" srcId="{3AF601C0-EEFA-4971-90DF-5406FFF4B6F7}" destId="{17B1A5E9-7C98-45A3-81FA-0E5149353BDB}" srcOrd="0" destOrd="0" presId="urn:microsoft.com/office/officeart/2005/8/layout/bProcess4"/>
    <dgm:cxn modelId="{340DC21F-418F-4F58-9791-7E1388F26890}" type="presParOf" srcId="{2E3FD7AC-3FA3-49F6-80A3-848DD08732B3}" destId="{D09E75E8-0C6C-4AF5-905D-04B89853919D}" srcOrd="0" destOrd="0" presId="urn:microsoft.com/office/officeart/2005/8/layout/bProcess4"/>
    <dgm:cxn modelId="{FE5FFE99-E1CE-454D-951E-12A4F743257A}" type="presParOf" srcId="{D09E75E8-0C6C-4AF5-905D-04B89853919D}" destId="{2124203D-8A2D-4683-BD67-D2FC71DFC634}" srcOrd="0" destOrd="0" presId="urn:microsoft.com/office/officeart/2005/8/layout/bProcess4"/>
    <dgm:cxn modelId="{96FAE320-8E34-4470-9684-B1DCFF1FF091}" type="presParOf" srcId="{D09E75E8-0C6C-4AF5-905D-04B89853919D}" destId="{101CAFD3-831F-4F71-B1C8-15DD825E8465}" srcOrd="1" destOrd="0" presId="urn:microsoft.com/office/officeart/2005/8/layout/bProcess4"/>
    <dgm:cxn modelId="{4D66E699-1532-4830-8FF1-932EA47E23DF}" type="presParOf" srcId="{2E3FD7AC-3FA3-49F6-80A3-848DD08732B3}" destId="{17B1A5E9-7C98-45A3-81FA-0E5149353BDB}" srcOrd="1" destOrd="0" presId="urn:microsoft.com/office/officeart/2005/8/layout/bProcess4"/>
    <dgm:cxn modelId="{7EEA188A-908F-4222-BB10-8867939592EB}" type="presParOf" srcId="{2E3FD7AC-3FA3-49F6-80A3-848DD08732B3}" destId="{7859451D-78C3-4427-9262-4B7598442939}" srcOrd="2" destOrd="0" presId="urn:microsoft.com/office/officeart/2005/8/layout/bProcess4"/>
    <dgm:cxn modelId="{C9300DFD-153C-40D2-924A-1F3DDDB30D3D}" type="presParOf" srcId="{7859451D-78C3-4427-9262-4B7598442939}" destId="{084C556D-CD14-41EB-ABBC-FED798E5D54F}" srcOrd="0" destOrd="0" presId="urn:microsoft.com/office/officeart/2005/8/layout/bProcess4"/>
    <dgm:cxn modelId="{9EA08E06-690B-42A1-8807-B819F0D1FF15}" type="presParOf" srcId="{7859451D-78C3-4427-9262-4B7598442939}" destId="{F32EA027-1894-4827-BCC6-47FDB4C8CB53}" srcOrd="1" destOrd="0" presId="urn:microsoft.com/office/officeart/2005/8/layout/bProcess4"/>
    <dgm:cxn modelId="{B11C1491-DBFD-4589-A01D-869D7C60F0CC}" type="presParOf" srcId="{2E3FD7AC-3FA3-49F6-80A3-848DD08732B3}" destId="{DAEAE010-1069-49BB-989A-D207CC67B50F}" srcOrd="3" destOrd="0" presId="urn:microsoft.com/office/officeart/2005/8/layout/bProcess4"/>
    <dgm:cxn modelId="{77188DB3-29F6-4FD1-AB16-E556AAFD60E3}" type="presParOf" srcId="{2E3FD7AC-3FA3-49F6-80A3-848DD08732B3}" destId="{22D761E0-82B0-4B3B-918C-ACF283B9539D}" srcOrd="4" destOrd="0" presId="urn:microsoft.com/office/officeart/2005/8/layout/bProcess4"/>
    <dgm:cxn modelId="{BFA0477E-007D-44F0-B910-E004026EFD3C}" type="presParOf" srcId="{22D761E0-82B0-4B3B-918C-ACF283B9539D}" destId="{61EB394D-7574-40E0-833B-64AAD2B386DC}" srcOrd="0" destOrd="0" presId="urn:microsoft.com/office/officeart/2005/8/layout/bProcess4"/>
    <dgm:cxn modelId="{3C1CB6EA-6183-4B64-9D09-2ACE7382966C}" type="presParOf" srcId="{22D761E0-82B0-4B3B-918C-ACF283B9539D}" destId="{9B4E5C29-39A4-4383-ADE4-A15FDEFC15DE}" srcOrd="1" destOrd="0" presId="urn:microsoft.com/office/officeart/2005/8/layout/bProcess4"/>
    <dgm:cxn modelId="{961854AA-23CC-4370-A292-1A97B32D8B89}" type="presParOf" srcId="{2E3FD7AC-3FA3-49F6-80A3-848DD08732B3}" destId="{2FFC49C0-D8FF-4DEB-8247-BB21051AFCA0}" srcOrd="5" destOrd="0" presId="urn:microsoft.com/office/officeart/2005/8/layout/bProcess4"/>
    <dgm:cxn modelId="{49E6D375-DF23-46A8-9650-64CC0ADA1588}" type="presParOf" srcId="{2E3FD7AC-3FA3-49F6-80A3-848DD08732B3}" destId="{C20E091E-ADFB-4571-A810-DD9B39C58BCC}" srcOrd="6" destOrd="0" presId="urn:microsoft.com/office/officeart/2005/8/layout/bProcess4"/>
    <dgm:cxn modelId="{D61F3C74-05A5-485E-B884-019CA8DE11EF}" type="presParOf" srcId="{C20E091E-ADFB-4571-A810-DD9B39C58BCC}" destId="{19F6FA0B-D3F4-4AFC-B8A0-A004C0C42E28}" srcOrd="0" destOrd="0" presId="urn:microsoft.com/office/officeart/2005/8/layout/bProcess4"/>
    <dgm:cxn modelId="{D04F405D-3447-4A89-8F72-60B71F780056}" type="presParOf" srcId="{C20E091E-ADFB-4571-A810-DD9B39C58BCC}" destId="{1E977E05-34FF-4C4B-9C15-E67A524BB05E}" srcOrd="1" destOrd="0" presId="urn:microsoft.com/office/officeart/2005/8/layout/bProcess4"/>
    <dgm:cxn modelId="{DF882D09-91A5-430A-99B2-A42CE8ACFA90}" type="presParOf" srcId="{2E3FD7AC-3FA3-49F6-80A3-848DD08732B3}" destId="{7C6B8AF8-0252-4B1D-8ED7-24F54E1D79B8}" srcOrd="7" destOrd="0" presId="urn:microsoft.com/office/officeart/2005/8/layout/bProcess4"/>
    <dgm:cxn modelId="{299DE6C7-A1DC-45DE-8B26-332201F29B77}" type="presParOf" srcId="{2E3FD7AC-3FA3-49F6-80A3-848DD08732B3}" destId="{BD8F0C9F-16A0-4060-B4C0-E2F182ABD346}" srcOrd="8" destOrd="0" presId="urn:microsoft.com/office/officeart/2005/8/layout/bProcess4"/>
    <dgm:cxn modelId="{FB381858-66B3-4AFA-8405-05D1F2A57692}" type="presParOf" srcId="{BD8F0C9F-16A0-4060-B4C0-E2F182ABD346}" destId="{66EA806E-8D6F-4B40-BBF4-A9A5E7474771}" srcOrd="0" destOrd="0" presId="urn:microsoft.com/office/officeart/2005/8/layout/bProcess4"/>
    <dgm:cxn modelId="{2B1ACBE0-16AA-40B1-B4F0-D294F55E0970}" type="presParOf" srcId="{BD8F0C9F-16A0-4060-B4C0-E2F182ABD346}" destId="{4486D615-5463-4A26-9CC8-37D4F47AC8E2}" srcOrd="1" destOrd="0" presId="urn:microsoft.com/office/officeart/2005/8/layout/bProcess4"/>
    <dgm:cxn modelId="{2C06F364-0C6E-4C57-9555-F6064D75C0E8}" type="presParOf" srcId="{2E3FD7AC-3FA3-49F6-80A3-848DD08732B3}" destId="{782A4D68-D12C-4AA1-AE58-CEAF8E69E5FF}" srcOrd="9" destOrd="0" presId="urn:microsoft.com/office/officeart/2005/8/layout/bProcess4"/>
    <dgm:cxn modelId="{7A622158-5864-4B33-A897-3DEFE08553D8}" type="presParOf" srcId="{2E3FD7AC-3FA3-49F6-80A3-848DD08732B3}" destId="{0D3114AE-2D75-4B70-A166-4C989EFFA0E1}" srcOrd="10" destOrd="0" presId="urn:microsoft.com/office/officeart/2005/8/layout/bProcess4"/>
    <dgm:cxn modelId="{18080CFE-0956-433D-885B-6B9E5F854EB9}" type="presParOf" srcId="{0D3114AE-2D75-4B70-A166-4C989EFFA0E1}" destId="{AE58D5FD-1B03-4DB8-98A1-9AF721C78780}" srcOrd="0" destOrd="0" presId="urn:microsoft.com/office/officeart/2005/8/layout/bProcess4"/>
    <dgm:cxn modelId="{0B19DD05-4BEF-416B-B7D7-BE6F823798AD}" type="presParOf" srcId="{0D3114AE-2D75-4B70-A166-4C989EFFA0E1}" destId="{656087FC-D265-4D37-A536-4B3098C0546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B1465A-F615-4090-8C69-4DEE10DC117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99A5B4-DED0-4DF6-A253-78DF5BF1321B}">
      <dgm:prSet phldrT="[Text]" phldr="0"/>
      <dgm:spPr/>
      <dgm:t>
        <a:bodyPr/>
        <a:lstStyle/>
        <a:p>
          <a:r>
            <a:rPr lang="en-US" dirty="0"/>
            <a:t>Select agent-</a:t>
          </a:r>
          <a:r>
            <a:rPr lang="en-US" dirty="0" err="1"/>
            <a:t>i</a:t>
          </a:r>
          <a:r>
            <a:rPr lang="en-US" dirty="0"/>
            <a:t> and one of its neighbor</a:t>
          </a:r>
          <a:endParaRPr lang="en-IN" dirty="0"/>
        </a:p>
      </dgm:t>
    </dgm:pt>
    <dgm:pt modelId="{ACAB03D6-B7BE-4997-851E-EFF998333AD5}" type="parTrans" cxnId="{E7793D74-3496-4380-A043-3EFC5667D789}">
      <dgm:prSet/>
      <dgm:spPr/>
      <dgm:t>
        <a:bodyPr/>
        <a:lstStyle/>
        <a:p>
          <a:endParaRPr lang="en-IN"/>
        </a:p>
      </dgm:t>
    </dgm:pt>
    <dgm:pt modelId="{3AF601C0-EEFA-4971-90DF-5406FFF4B6F7}" type="sibTrans" cxnId="{E7793D74-3496-4380-A043-3EFC5667D789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0408E7D3-C4AD-4908-B45C-89ED1CF9795D}">
          <dgm:prSet phldrT="[Text]" phldr="0"/>
          <dgm:spPr/>
          <dgm:t>
            <a:bodyPr/>
            <a:lstStyle/>
            <a:p>
              <a:r>
                <a:rPr lang="en-US" dirty="0"/>
                <a:t>Interaction Probability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m:oMathPara>
              </a14:m>
              <a:endParaRPr lang="en-IN" dirty="0"/>
            </a:p>
          </dgm:t>
        </dgm:pt>
      </mc:Choice>
      <mc:Fallback xmlns="">
        <dgm:pt modelId="{0408E7D3-C4AD-4908-B45C-89ED1CF9795D}">
          <dgm:prSet phldrT="[Text]" phldr="0"/>
          <dgm:spPr/>
          <dgm:t>
            <a:bodyPr/>
            <a:lstStyle/>
            <a:p>
              <a:r>
                <a:rPr lang="en-US" dirty="0"/>
                <a:t>Interaction Probability</a:t>
              </a:r>
            </a:p>
            <a:p>
              <a:r>
                <a:rPr lang="en-US" b="0" i="0">
                  <a:latin typeface="Cambria Math" panose="02040503050406030204" pitchFamily="18" charset="0"/>
                </a:rPr>
                <a:t>𝑃</a:t>
              </a:r>
              <a:r>
                <a:rPr lang="en-IN" b="0" i="0">
                  <a:latin typeface="Cambria Math" panose="02040503050406030204" pitchFamily="18" charset="0"/>
                </a:rPr>
                <a:t>_(</a:t>
              </a:r>
              <a:r>
                <a:rPr lang="en-US" b="0" i="0">
                  <a:latin typeface="Cambria Math" panose="02040503050406030204" pitchFamily="18" charset="0"/>
                </a:rPr>
                <a:t>𝑖,𝑗</a:t>
              </a:r>
              <a:r>
                <a:rPr lang="en-IN" b="0" i="0">
                  <a:latin typeface="Cambria Math" panose="02040503050406030204" pitchFamily="18" charset="0"/>
                </a:rPr>
                <a:t>)</a:t>
              </a:r>
              <a:endParaRPr lang="en-IN" dirty="0"/>
            </a:p>
          </dgm:t>
        </dgm:pt>
      </mc:Fallback>
    </mc:AlternateContent>
    <dgm:pt modelId="{DDB6AA6B-9134-461A-B1C1-320FAA866167}" type="parTrans" cxnId="{4970FA56-CBCE-4E52-8B16-91A60883C52A}">
      <dgm:prSet/>
      <dgm:spPr/>
      <dgm:t>
        <a:bodyPr/>
        <a:lstStyle/>
        <a:p>
          <a:endParaRPr lang="en-IN"/>
        </a:p>
      </dgm:t>
    </dgm:pt>
    <dgm:pt modelId="{345095EA-ABBA-44A8-9534-5DE0D14E7962}" type="sibTrans" cxnId="{4970FA56-CBCE-4E52-8B16-91A60883C52A}">
      <dgm:prSet/>
      <dgm:spPr/>
      <dgm:t>
        <a:bodyPr/>
        <a:lstStyle/>
        <a:p>
          <a:endParaRPr lang="en-IN"/>
        </a:p>
      </dgm:t>
    </dgm:pt>
    <dgm:pt modelId="{3211FBFF-F87F-41EA-89E6-D9FBB8DED51E}">
      <dgm:prSet phldrT="[Text]" phldr="0"/>
      <dgm:spPr/>
      <dgm:t>
        <a:bodyPr/>
        <a:lstStyle/>
        <a:p>
          <a:r>
            <a:rPr lang="en-US" dirty="0"/>
            <a:t>Check Interaction</a:t>
          </a:r>
        </a:p>
        <a:p>
          <a:r>
            <a:rPr lang="en-IN" dirty="0"/>
            <a:t>Pick random feature F</a:t>
          </a:r>
        </a:p>
      </dgm:t>
    </dgm:pt>
    <dgm:pt modelId="{A5040DBF-709F-4B8E-A2C4-2D89BF849B1F}" type="parTrans" cxnId="{DCD16F61-F984-47EB-8559-6D60445712EC}">
      <dgm:prSet/>
      <dgm:spPr/>
      <dgm:t>
        <a:bodyPr/>
        <a:lstStyle/>
        <a:p>
          <a:endParaRPr lang="en-IN"/>
        </a:p>
      </dgm:t>
    </dgm:pt>
    <dgm:pt modelId="{714E15B7-A38C-4A23-BB66-5416EB5206CA}" type="sibTrans" cxnId="{DCD16F61-F984-47EB-8559-6D60445712EC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F732BC3E-F426-47DA-8D8B-3C7856820D1A}">
          <dgm:prSet phldrT="[Text]"/>
          <dgm:spPr/>
          <dgm:t>
            <a:bodyPr/>
            <a:lstStyle/>
            <a:p>
              <a:r>
                <a:rPr lang="en-US" dirty="0"/>
                <a:t>Survey agent-i’s  Neighborhood</a:t>
              </a:r>
            </a:p>
            <a:p>
              <a14:m>
                <m:oMath xmlns:m="http://schemas.openxmlformats.org/officeDocument/2006/math">
                  <m:sSub>
                    <m:sSub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sub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sup>
                  </m:sSubSup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dirty="0"/>
                <a:t> </a:t>
              </a:r>
              <a:endParaRPr lang="en-IN" dirty="0"/>
            </a:p>
          </dgm:t>
        </dgm:pt>
      </mc:Choice>
      <mc:Fallback xmlns="">
        <dgm:pt modelId="{F732BC3E-F426-47DA-8D8B-3C7856820D1A}">
          <dgm:prSet phldrT="[Text]"/>
          <dgm:spPr/>
          <dgm:t>
            <a:bodyPr/>
            <a:lstStyle/>
            <a:p>
              <a:r>
                <a:rPr lang="en-US" dirty="0"/>
                <a:t>Survey agent-i’s  Neighborhood</a:t>
              </a:r>
            </a:p>
            <a:p>
              <a:r>
                <a:rPr lang="en-US" b="0" i="0">
                  <a:latin typeface="Cambria Math" panose="02040503050406030204" pitchFamily="18" charset="0"/>
                </a:rPr>
                <a:t>𝑂_𝑖 (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𝜎_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𝑖^</a:t>
              </a:r>
              <a:r>
                <a:rPr lang="en-US" b="0" i="0">
                  <a:latin typeface="Cambria Math" panose="02040503050406030204" pitchFamily="18" charset="0"/>
                </a:rPr>
                <a:t>𝑓)</a:t>
              </a:r>
              <a:r>
                <a:rPr lang="en-US" dirty="0"/>
                <a:t> </a:t>
              </a:r>
              <a:endParaRPr lang="en-IN" dirty="0"/>
            </a:p>
          </dgm:t>
        </dgm:pt>
      </mc:Fallback>
    </mc:AlternateContent>
    <dgm:pt modelId="{EA2C5780-A75A-4604-96FD-0B50A4611274}" type="parTrans" cxnId="{FFB6FD9F-820D-4147-99E9-315F26D03791}">
      <dgm:prSet/>
      <dgm:spPr/>
      <dgm:t>
        <a:bodyPr/>
        <a:lstStyle/>
        <a:p>
          <a:endParaRPr lang="en-IN"/>
        </a:p>
      </dgm:t>
    </dgm:pt>
    <dgm:pt modelId="{822A70D3-2CCC-4126-A02C-56DAE13D755C}" type="sibTrans" cxnId="{FFB6FD9F-820D-4147-99E9-315F26D03791}">
      <dgm:prSet/>
      <dgm:spPr/>
      <dgm:t>
        <a:bodyPr/>
        <a:lstStyle/>
        <a:p>
          <a:endParaRPr lang="en-IN"/>
        </a:p>
      </dgm:t>
    </dgm:pt>
    <mc:AlternateContent xmlns:mc="http://schemas.openxmlformats.org/markup-compatibility/2006" xmlns:a14="http://schemas.microsoft.com/office/drawing/2010/main">
      <mc:Choice Requires="a14">
        <dgm:pt modelId="{7A40F3FF-9875-4B69-ACA8-6947A6EF37C6}">
          <dgm:prSet phldrT="[Text]"/>
          <dgm:spPr/>
          <dgm:t>
            <a:bodyPr/>
            <a:lstStyle/>
            <a:p>
              <a:r>
                <a:rPr lang="en-US" dirty="0"/>
                <a:t>Survey agent-j’s  Neighborhood</a:t>
              </a:r>
            </a:p>
            <a:p>
              <a14:m>
                <m:oMath xmlns:m="http://schemas.openxmlformats.org/officeDocument/2006/math">
                  <m:sSub>
                    <m:sSub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</m:sub>
                  </m:sSub>
                  <m:r>
                    <a:rPr lang="en-US" b="0" i="1" smtClean="0">
                      <a:latin typeface="Cambria Math" panose="02040503050406030204" pitchFamily="18" charset="0"/>
                    </a:rPr>
                    <m:t>(</m:t>
                  </m:r>
                  <m:sSubSup>
                    <m:sSubSupPr>
                      <m:ctrlPr>
                        <a:rPr lang="en-US" i="1" smtClean="0">
                          <a:latin typeface="Cambria Math" panose="02040503050406030204" pitchFamily="18" charset="0"/>
                        </a:rPr>
                      </m:ctrlPr>
                    </m:sSubSupPr>
                    <m:e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e>
                    <m: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sub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sup>
                  </m:sSubSup>
                  <m:r>
                    <a:rPr lang="en-US" b="0" i="1" smtClean="0">
                      <a:latin typeface="Cambria Math" panose="02040503050406030204" pitchFamily="18" charset="0"/>
                    </a:rPr>
                    <m:t>)</m:t>
                  </m:r>
                </m:oMath>
              </a14:m>
              <a:r>
                <a:rPr lang="en-US" dirty="0"/>
                <a:t> </a:t>
              </a:r>
              <a:endParaRPr lang="en-IN" dirty="0"/>
            </a:p>
          </dgm:t>
        </dgm:pt>
      </mc:Choice>
      <mc:Fallback xmlns="">
        <dgm:pt modelId="{7A40F3FF-9875-4B69-ACA8-6947A6EF37C6}">
          <dgm:prSet phldrT="[Text]"/>
          <dgm:spPr/>
          <dgm:t>
            <a:bodyPr/>
            <a:lstStyle/>
            <a:p>
              <a:r>
                <a:rPr lang="en-US" dirty="0"/>
                <a:t>Survey agent-j’s  Neighborhood</a:t>
              </a:r>
            </a:p>
            <a:p>
              <a:r>
                <a:rPr lang="en-US" b="0" i="0">
                  <a:latin typeface="Cambria Math" panose="02040503050406030204" pitchFamily="18" charset="0"/>
                </a:rPr>
                <a:t>𝑂_𝑗 (</a:t>
              </a:r>
              <a:r>
                <a:rPr lang="en-US" i="0">
                  <a:latin typeface="Cambria Math" panose="02040503050406030204" pitchFamily="18" charset="0"/>
                  <a:ea typeface="Cambria Math" panose="02040503050406030204" pitchFamily="18" charset="0"/>
                </a:rPr>
                <a:t>𝜎_</a:t>
              </a:r>
              <a:r>
                <a:rPr lang="en-US" b="0" i="0">
                  <a:latin typeface="Cambria Math" panose="02040503050406030204" pitchFamily="18" charset="0"/>
                  <a:ea typeface="Cambria Math" panose="02040503050406030204" pitchFamily="18" charset="0"/>
                </a:rPr>
                <a:t>𝑗^</a:t>
              </a:r>
              <a:r>
                <a:rPr lang="en-US" b="0" i="0">
                  <a:latin typeface="Cambria Math" panose="02040503050406030204" pitchFamily="18" charset="0"/>
                </a:rPr>
                <a:t>𝑓)</a:t>
              </a:r>
              <a:r>
                <a:rPr lang="en-US" dirty="0"/>
                <a:t> </a:t>
              </a:r>
              <a:endParaRPr lang="en-IN" dirty="0"/>
            </a:p>
          </dgm:t>
        </dgm:pt>
      </mc:Fallback>
    </mc:AlternateContent>
    <dgm:pt modelId="{EA9B213C-CAEF-43C2-AE3D-080ADCC1CDFA}" type="parTrans" cxnId="{4622A744-C190-4B0D-955B-4A8F89C3AAF2}">
      <dgm:prSet/>
      <dgm:spPr/>
      <dgm:t>
        <a:bodyPr/>
        <a:lstStyle/>
        <a:p>
          <a:endParaRPr lang="en-IN"/>
        </a:p>
      </dgm:t>
    </dgm:pt>
    <dgm:pt modelId="{887759C9-92C0-4848-A856-18D8FF7E9C3C}" type="sibTrans" cxnId="{4622A744-C190-4B0D-955B-4A8F89C3AAF2}">
      <dgm:prSet/>
      <dgm:spPr/>
      <dgm:t>
        <a:bodyPr/>
        <a:lstStyle/>
        <a:p>
          <a:endParaRPr lang="en-IN"/>
        </a:p>
      </dgm:t>
    </dgm:pt>
    <dgm:pt modelId="{8479C368-629F-4AB3-9EC7-B776F15D4B77}">
      <dgm:prSet phldrT="[Text]" phldr="0"/>
      <dgm:spPr/>
      <dgm:t>
        <a:bodyPr/>
        <a:lstStyle/>
        <a:p>
          <a:r>
            <a:rPr lang="en-US" dirty="0"/>
            <a:t>Compute Switching Probability and Assimilate </a:t>
          </a:r>
        </a:p>
      </dgm:t>
    </dgm:pt>
    <dgm:pt modelId="{7CACD292-D181-40B3-A2C6-46F523DA9C92}" type="parTrans" cxnId="{8438226F-91B0-4A59-8CF1-63CE38148647}">
      <dgm:prSet/>
      <dgm:spPr/>
      <dgm:t>
        <a:bodyPr/>
        <a:lstStyle/>
        <a:p>
          <a:endParaRPr lang="en-IN"/>
        </a:p>
      </dgm:t>
    </dgm:pt>
    <dgm:pt modelId="{69C0AFF2-7B19-4D71-AD2B-EA9561724780}" type="sibTrans" cxnId="{8438226F-91B0-4A59-8CF1-63CE38148647}">
      <dgm:prSet/>
      <dgm:spPr/>
      <dgm:t>
        <a:bodyPr/>
        <a:lstStyle/>
        <a:p>
          <a:endParaRPr lang="en-IN"/>
        </a:p>
      </dgm:t>
    </dgm:pt>
    <dgm:pt modelId="{2E3FD7AC-3FA3-49F6-80A3-848DD08732B3}" type="pres">
      <dgm:prSet presAssocID="{18B1465A-F615-4090-8C69-4DEE10DC117E}" presName="Name0" presStyleCnt="0">
        <dgm:presLayoutVars>
          <dgm:dir/>
          <dgm:resizeHandles/>
        </dgm:presLayoutVars>
      </dgm:prSet>
      <dgm:spPr/>
    </dgm:pt>
    <dgm:pt modelId="{D09E75E8-0C6C-4AF5-905D-04B89853919D}" type="pres">
      <dgm:prSet presAssocID="{F299A5B4-DED0-4DF6-A253-78DF5BF1321B}" presName="compNode" presStyleCnt="0"/>
      <dgm:spPr/>
    </dgm:pt>
    <dgm:pt modelId="{2124203D-8A2D-4683-BD67-D2FC71DFC634}" type="pres">
      <dgm:prSet presAssocID="{F299A5B4-DED0-4DF6-A253-78DF5BF1321B}" presName="dummyConnPt" presStyleCnt="0"/>
      <dgm:spPr/>
    </dgm:pt>
    <dgm:pt modelId="{101CAFD3-831F-4F71-B1C8-15DD825E8465}" type="pres">
      <dgm:prSet presAssocID="{F299A5B4-DED0-4DF6-A253-78DF5BF1321B}" presName="node" presStyleLbl="node1" presStyleIdx="0" presStyleCnt="6" custLinFactX="-33497" custLinFactNeighborX="-100000" custLinFactNeighborY="14560">
        <dgm:presLayoutVars>
          <dgm:bulletEnabled val="1"/>
        </dgm:presLayoutVars>
      </dgm:prSet>
      <dgm:spPr/>
    </dgm:pt>
    <dgm:pt modelId="{17B1A5E9-7C98-45A3-81FA-0E5149353BDB}" type="pres">
      <dgm:prSet presAssocID="{3AF601C0-EEFA-4971-90DF-5406FFF4B6F7}" presName="sibTrans" presStyleLbl="bgSibTrans2D1" presStyleIdx="0" presStyleCnt="5"/>
      <dgm:spPr/>
    </dgm:pt>
    <dgm:pt modelId="{7859451D-78C3-4427-9262-4B7598442939}" type="pres">
      <dgm:prSet presAssocID="{0408E7D3-C4AD-4908-B45C-89ED1CF9795D}" presName="compNode" presStyleCnt="0"/>
      <dgm:spPr/>
    </dgm:pt>
    <dgm:pt modelId="{084C556D-CD14-41EB-ABBC-FED798E5D54F}" type="pres">
      <dgm:prSet presAssocID="{0408E7D3-C4AD-4908-B45C-89ED1CF9795D}" presName="dummyConnPt" presStyleCnt="0"/>
      <dgm:spPr/>
    </dgm:pt>
    <dgm:pt modelId="{F32EA027-1894-4827-BCC6-47FDB4C8CB53}" type="pres">
      <dgm:prSet presAssocID="{0408E7D3-C4AD-4908-B45C-89ED1CF9795D}" presName="node" presStyleLbl="node1" presStyleIdx="1" presStyleCnt="6" custLinFactX="-33497" custLinFactY="4160" custLinFactNeighborX="-100000" custLinFactNeighborY="100000">
        <dgm:presLayoutVars>
          <dgm:bulletEnabled val="1"/>
        </dgm:presLayoutVars>
      </dgm:prSet>
      <dgm:spPr/>
    </dgm:pt>
    <dgm:pt modelId="{DAEAE010-1069-49BB-989A-D207CC67B50F}" type="pres">
      <dgm:prSet presAssocID="{345095EA-ABBA-44A8-9534-5DE0D14E7962}" presName="sibTrans" presStyleLbl="bgSibTrans2D1" presStyleIdx="1" presStyleCnt="5"/>
      <dgm:spPr/>
    </dgm:pt>
    <dgm:pt modelId="{22D761E0-82B0-4B3B-918C-ACF283B9539D}" type="pres">
      <dgm:prSet presAssocID="{3211FBFF-F87F-41EA-89E6-D9FBB8DED51E}" presName="compNode" presStyleCnt="0"/>
      <dgm:spPr/>
    </dgm:pt>
    <dgm:pt modelId="{61EB394D-7574-40E0-833B-64AAD2B386DC}" type="pres">
      <dgm:prSet presAssocID="{3211FBFF-F87F-41EA-89E6-D9FBB8DED51E}" presName="dummyConnPt" presStyleCnt="0"/>
      <dgm:spPr/>
    </dgm:pt>
    <dgm:pt modelId="{9B4E5C29-39A4-4383-ADE4-A15FDEFC15DE}" type="pres">
      <dgm:prSet presAssocID="{3211FBFF-F87F-41EA-89E6-D9FBB8DED51E}" presName="node" presStyleLbl="node1" presStyleIdx="2" presStyleCnt="6" custLinFactNeighborX="54179" custLinFactNeighborY="-20840">
        <dgm:presLayoutVars>
          <dgm:bulletEnabled val="1"/>
        </dgm:presLayoutVars>
      </dgm:prSet>
      <dgm:spPr/>
    </dgm:pt>
    <dgm:pt modelId="{2FFC49C0-D8FF-4DEB-8247-BB21051AFCA0}" type="pres">
      <dgm:prSet presAssocID="{714E15B7-A38C-4A23-BB66-5416EB5206CA}" presName="sibTrans" presStyleLbl="bgSibTrans2D1" presStyleIdx="2" presStyleCnt="5"/>
      <dgm:spPr/>
    </dgm:pt>
    <dgm:pt modelId="{C20E091E-ADFB-4571-A810-DD9B39C58BCC}" type="pres">
      <dgm:prSet presAssocID="{F732BC3E-F426-47DA-8D8B-3C7856820D1A}" presName="compNode" presStyleCnt="0"/>
      <dgm:spPr/>
    </dgm:pt>
    <dgm:pt modelId="{19F6FA0B-D3F4-4AFC-B8A0-A004C0C42E28}" type="pres">
      <dgm:prSet presAssocID="{F732BC3E-F426-47DA-8D8B-3C7856820D1A}" presName="dummyConnPt" presStyleCnt="0"/>
      <dgm:spPr/>
    </dgm:pt>
    <dgm:pt modelId="{1E977E05-34FF-4C4B-9C15-E67A524BB05E}" type="pres">
      <dgm:prSet presAssocID="{F732BC3E-F426-47DA-8D8B-3C7856820D1A}" presName="node" presStyleLbl="node1" presStyleIdx="3" presStyleCnt="6" custLinFactY="-100000" custLinFactNeighborX="-78821" custLinFactNeighborY="-135440">
        <dgm:presLayoutVars>
          <dgm:bulletEnabled val="1"/>
        </dgm:presLayoutVars>
      </dgm:prSet>
      <dgm:spPr/>
    </dgm:pt>
    <dgm:pt modelId="{7C6B8AF8-0252-4B1D-8ED7-24F54E1D79B8}" type="pres">
      <dgm:prSet presAssocID="{822A70D3-2CCC-4126-A02C-56DAE13D755C}" presName="sibTrans" presStyleLbl="bgSibTrans2D1" presStyleIdx="3" presStyleCnt="5"/>
      <dgm:spPr/>
    </dgm:pt>
    <dgm:pt modelId="{BD8F0C9F-16A0-4060-B4C0-E2F182ABD346}" type="pres">
      <dgm:prSet presAssocID="{7A40F3FF-9875-4B69-ACA8-6947A6EF37C6}" presName="compNode" presStyleCnt="0"/>
      <dgm:spPr/>
    </dgm:pt>
    <dgm:pt modelId="{66EA806E-8D6F-4B40-BBF4-A9A5E7474771}" type="pres">
      <dgm:prSet presAssocID="{7A40F3FF-9875-4B69-ACA8-6947A6EF37C6}" presName="dummyConnPt" presStyleCnt="0"/>
      <dgm:spPr/>
    </dgm:pt>
    <dgm:pt modelId="{4486D615-5463-4A26-9CC8-37D4F47AC8E2}" type="pres">
      <dgm:prSet presAssocID="{7A40F3FF-9875-4B69-ACA8-6947A6EF37C6}" presName="node" presStyleLbl="node1" presStyleIdx="4" presStyleCnt="6" custLinFactX="21626" custLinFactY="-10440" custLinFactNeighborX="100000" custLinFactNeighborY="-100000">
        <dgm:presLayoutVars>
          <dgm:bulletEnabled val="1"/>
        </dgm:presLayoutVars>
      </dgm:prSet>
      <dgm:spPr/>
    </dgm:pt>
    <dgm:pt modelId="{782A4D68-D12C-4AA1-AE58-CEAF8E69E5FF}" type="pres">
      <dgm:prSet presAssocID="{887759C9-92C0-4848-A856-18D8FF7E9C3C}" presName="sibTrans" presStyleLbl="bgSibTrans2D1" presStyleIdx="4" presStyleCnt="5"/>
      <dgm:spPr/>
    </dgm:pt>
    <dgm:pt modelId="{0D3114AE-2D75-4B70-A166-4C989EFFA0E1}" type="pres">
      <dgm:prSet presAssocID="{8479C368-629F-4AB3-9EC7-B776F15D4B77}" presName="compNode" presStyleCnt="0"/>
      <dgm:spPr/>
    </dgm:pt>
    <dgm:pt modelId="{AE58D5FD-1B03-4DB8-98A1-9AF721C78780}" type="pres">
      <dgm:prSet presAssocID="{8479C368-629F-4AB3-9EC7-B776F15D4B77}" presName="dummyConnPt" presStyleCnt="0"/>
      <dgm:spPr/>
    </dgm:pt>
    <dgm:pt modelId="{656087FC-D265-4D37-A536-4B3098C0546A}" type="pres">
      <dgm:prSet presAssocID="{8479C368-629F-4AB3-9EC7-B776F15D4B77}" presName="node" presStyleLbl="node1" presStyleIdx="5" presStyleCnt="6" custLinFactX="21168" custLinFactY="100000" custLinFactNeighborX="100000" custLinFactNeighborY="129160">
        <dgm:presLayoutVars>
          <dgm:bulletEnabled val="1"/>
        </dgm:presLayoutVars>
      </dgm:prSet>
      <dgm:spPr/>
    </dgm:pt>
  </dgm:ptLst>
  <dgm:cxnLst>
    <dgm:cxn modelId="{BC505101-A77D-4FF4-B105-F0AE34ED7443}" type="presOf" srcId="{18B1465A-F615-4090-8C69-4DEE10DC117E}" destId="{2E3FD7AC-3FA3-49F6-80A3-848DD08732B3}" srcOrd="0" destOrd="0" presId="urn:microsoft.com/office/officeart/2005/8/layout/bProcess4"/>
    <dgm:cxn modelId="{C6534915-10F1-482C-A49E-4C18C5DFC964}" type="presOf" srcId="{F732BC3E-F426-47DA-8D8B-3C7856820D1A}" destId="{1E977E05-34FF-4C4B-9C15-E67A524BB05E}" srcOrd="0" destOrd="0" presId="urn:microsoft.com/office/officeart/2005/8/layout/bProcess4"/>
    <dgm:cxn modelId="{A0F8C919-D20E-432C-8345-356207EF0E21}" type="presOf" srcId="{3211FBFF-F87F-41EA-89E6-D9FBB8DED51E}" destId="{9B4E5C29-39A4-4383-ADE4-A15FDEFC15DE}" srcOrd="0" destOrd="0" presId="urn:microsoft.com/office/officeart/2005/8/layout/bProcess4"/>
    <dgm:cxn modelId="{1AC49C1B-7584-4CDD-87A5-7B896706A33F}" type="presOf" srcId="{7A40F3FF-9875-4B69-ACA8-6947A6EF37C6}" destId="{4486D615-5463-4A26-9CC8-37D4F47AC8E2}" srcOrd="0" destOrd="0" presId="urn:microsoft.com/office/officeart/2005/8/layout/bProcess4"/>
    <dgm:cxn modelId="{342B053C-76CC-49CC-B142-0123A723A9E5}" type="presOf" srcId="{345095EA-ABBA-44A8-9534-5DE0D14E7962}" destId="{DAEAE010-1069-49BB-989A-D207CC67B50F}" srcOrd="0" destOrd="0" presId="urn:microsoft.com/office/officeart/2005/8/layout/bProcess4"/>
    <dgm:cxn modelId="{DCD16F61-F984-47EB-8559-6D60445712EC}" srcId="{18B1465A-F615-4090-8C69-4DEE10DC117E}" destId="{3211FBFF-F87F-41EA-89E6-D9FBB8DED51E}" srcOrd="2" destOrd="0" parTransId="{A5040DBF-709F-4B8E-A2C4-2D89BF849B1F}" sibTransId="{714E15B7-A38C-4A23-BB66-5416EB5206CA}"/>
    <dgm:cxn modelId="{4622A744-C190-4B0D-955B-4A8F89C3AAF2}" srcId="{18B1465A-F615-4090-8C69-4DEE10DC117E}" destId="{7A40F3FF-9875-4B69-ACA8-6947A6EF37C6}" srcOrd="4" destOrd="0" parTransId="{EA9B213C-CAEF-43C2-AE3D-080ADCC1CDFA}" sibTransId="{887759C9-92C0-4848-A856-18D8FF7E9C3C}"/>
    <dgm:cxn modelId="{8438226F-91B0-4A59-8CF1-63CE38148647}" srcId="{18B1465A-F615-4090-8C69-4DEE10DC117E}" destId="{8479C368-629F-4AB3-9EC7-B776F15D4B77}" srcOrd="5" destOrd="0" parTransId="{7CACD292-D181-40B3-A2C6-46F523DA9C92}" sibTransId="{69C0AFF2-7B19-4D71-AD2B-EA9561724780}"/>
    <dgm:cxn modelId="{E7793D74-3496-4380-A043-3EFC5667D789}" srcId="{18B1465A-F615-4090-8C69-4DEE10DC117E}" destId="{F299A5B4-DED0-4DF6-A253-78DF5BF1321B}" srcOrd="0" destOrd="0" parTransId="{ACAB03D6-B7BE-4997-851E-EFF998333AD5}" sibTransId="{3AF601C0-EEFA-4971-90DF-5406FFF4B6F7}"/>
    <dgm:cxn modelId="{AA7E1C75-2759-4D8A-89EB-775B959A2CA8}" type="presOf" srcId="{0408E7D3-C4AD-4908-B45C-89ED1CF9795D}" destId="{F32EA027-1894-4827-BCC6-47FDB4C8CB53}" srcOrd="0" destOrd="0" presId="urn:microsoft.com/office/officeart/2005/8/layout/bProcess4"/>
    <dgm:cxn modelId="{4970FA56-CBCE-4E52-8B16-91A60883C52A}" srcId="{18B1465A-F615-4090-8C69-4DEE10DC117E}" destId="{0408E7D3-C4AD-4908-B45C-89ED1CF9795D}" srcOrd="1" destOrd="0" parTransId="{DDB6AA6B-9134-461A-B1C1-320FAA866167}" sibTransId="{345095EA-ABBA-44A8-9534-5DE0D14E7962}"/>
    <dgm:cxn modelId="{FFB6FD9F-820D-4147-99E9-315F26D03791}" srcId="{18B1465A-F615-4090-8C69-4DEE10DC117E}" destId="{F732BC3E-F426-47DA-8D8B-3C7856820D1A}" srcOrd="3" destOrd="0" parTransId="{EA2C5780-A75A-4604-96FD-0B50A4611274}" sibTransId="{822A70D3-2CCC-4126-A02C-56DAE13D755C}"/>
    <dgm:cxn modelId="{01C9AFA6-13B6-416F-AEC4-ADC1885559F9}" type="presOf" srcId="{714E15B7-A38C-4A23-BB66-5416EB5206CA}" destId="{2FFC49C0-D8FF-4DEB-8247-BB21051AFCA0}" srcOrd="0" destOrd="0" presId="urn:microsoft.com/office/officeart/2005/8/layout/bProcess4"/>
    <dgm:cxn modelId="{3CEFC2AA-AD3F-4159-A33C-DA76896446C4}" type="presOf" srcId="{F299A5B4-DED0-4DF6-A253-78DF5BF1321B}" destId="{101CAFD3-831F-4F71-B1C8-15DD825E8465}" srcOrd="0" destOrd="0" presId="urn:microsoft.com/office/officeart/2005/8/layout/bProcess4"/>
    <dgm:cxn modelId="{53E8F3BE-4F82-47CB-A419-A9BFBCBBB144}" type="presOf" srcId="{887759C9-92C0-4848-A856-18D8FF7E9C3C}" destId="{782A4D68-D12C-4AA1-AE58-CEAF8E69E5FF}" srcOrd="0" destOrd="0" presId="urn:microsoft.com/office/officeart/2005/8/layout/bProcess4"/>
    <dgm:cxn modelId="{BB4181C1-1B33-4767-97B7-FFE849E54D33}" type="presOf" srcId="{8479C368-629F-4AB3-9EC7-B776F15D4B77}" destId="{656087FC-D265-4D37-A536-4B3098C0546A}" srcOrd="0" destOrd="0" presId="urn:microsoft.com/office/officeart/2005/8/layout/bProcess4"/>
    <dgm:cxn modelId="{1F4AD8E6-256A-483F-A33D-6533A6DC7BEC}" type="presOf" srcId="{822A70D3-2CCC-4126-A02C-56DAE13D755C}" destId="{7C6B8AF8-0252-4B1D-8ED7-24F54E1D79B8}" srcOrd="0" destOrd="0" presId="urn:microsoft.com/office/officeart/2005/8/layout/bProcess4"/>
    <dgm:cxn modelId="{A1BBDCEA-4393-4AAA-A336-02ABE0F2FD55}" type="presOf" srcId="{3AF601C0-EEFA-4971-90DF-5406FFF4B6F7}" destId="{17B1A5E9-7C98-45A3-81FA-0E5149353BDB}" srcOrd="0" destOrd="0" presId="urn:microsoft.com/office/officeart/2005/8/layout/bProcess4"/>
    <dgm:cxn modelId="{340DC21F-418F-4F58-9791-7E1388F26890}" type="presParOf" srcId="{2E3FD7AC-3FA3-49F6-80A3-848DD08732B3}" destId="{D09E75E8-0C6C-4AF5-905D-04B89853919D}" srcOrd="0" destOrd="0" presId="urn:microsoft.com/office/officeart/2005/8/layout/bProcess4"/>
    <dgm:cxn modelId="{FE5FFE99-E1CE-454D-951E-12A4F743257A}" type="presParOf" srcId="{D09E75E8-0C6C-4AF5-905D-04B89853919D}" destId="{2124203D-8A2D-4683-BD67-D2FC71DFC634}" srcOrd="0" destOrd="0" presId="urn:microsoft.com/office/officeart/2005/8/layout/bProcess4"/>
    <dgm:cxn modelId="{96FAE320-8E34-4470-9684-B1DCFF1FF091}" type="presParOf" srcId="{D09E75E8-0C6C-4AF5-905D-04B89853919D}" destId="{101CAFD3-831F-4F71-B1C8-15DD825E8465}" srcOrd="1" destOrd="0" presId="urn:microsoft.com/office/officeart/2005/8/layout/bProcess4"/>
    <dgm:cxn modelId="{4D66E699-1532-4830-8FF1-932EA47E23DF}" type="presParOf" srcId="{2E3FD7AC-3FA3-49F6-80A3-848DD08732B3}" destId="{17B1A5E9-7C98-45A3-81FA-0E5149353BDB}" srcOrd="1" destOrd="0" presId="urn:microsoft.com/office/officeart/2005/8/layout/bProcess4"/>
    <dgm:cxn modelId="{7EEA188A-908F-4222-BB10-8867939592EB}" type="presParOf" srcId="{2E3FD7AC-3FA3-49F6-80A3-848DD08732B3}" destId="{7859451D-78C3-4427-9262-4B7598442939}" srcOrd="2" destOrd="0" presId="urn:microsoft.com/office/officeart/2005/8/layout/bProcess4"/>
    <dgm:cxn modelId="{C9300DFD-153C-40D2-924A-1F3DDDB30D3D}" type="presParOf" srcId="{7859451D-78C3-4427-9262-4B7598442939}" destId="{084C556D-CD14-41EB-ABBC-FED798E5D54F}" srcOrd="0" destOrd="0" presId="urn:microsoft.com/office/officeart/2005/8/layout/bProcess4"/>
    <dgm:cxn modelId="{9EA08E06-690B-42A1-8807-B819F0D1FF15}" type="presParOf" srcId="{7859451D-78C3-4427-9262-4B7598442939}" destId="{F32EA027-1894-4827-BCC6-47FDB4C8CB53}" srcOrd="1" destOrd="0" presId="urn:microsoft.com/office/officeart/2005/8/layout/bProcess4"/>
    <dgm:cxn modelId="{B11C1491-DBFD-4589-A01D-869D7C60F0CC}" type="presParOf" srcId="{2E3FD7AC-3FA3-49F6-80A3-848DD08732B3}" destId="{DAEAE010-1069-49BB-989A-D207CC67B50F}" srcOrd="3" destOrd="0" presId="urn:microsoft.com/office/officeart/2005/8/layout/bProcess4"/>
    <dgm:cxn modelId="{77188DB3-29F6-4FD1-AB16-E556AAFD60E3}" type="presParOf" srcId="{2E3FD7AC-3FA3-49F6-80A3-848DD08732B3}" destId="{22D761E0-82B0-4B3B-918C-ACF283B9539D}" srcOrd="4" destOrd="0" presId="urn:microsoft.com/office/officeart/2005/8/layout/bProcess4"/>
    <dgm:cxn modelId="{BFA0477E-007D-44F0-B910-E004026EFD3C}" type="presParOf" srcId="{22D761E0-82B0-4B3B-918C-ACF283B9539D}" destId="{61EB394D-7574-40E0-833B-64AAD2B386DC}" srcOrd="0" destOrd="0" presId="urn:microsoft.com/office/officeart/2005/8/layout/bProcess4"/>
    <dgm:cxn modelId="{3C1CB6EA-6183-4B64-9D09-2ACE7382966C}" type="presParOf" srcId="{22D761E0-82B0-4B3B-918C-ACF283B9539D}" destId="{9B4E5C29-39A4-4383-ADE4-A15FDEFC15DE}" srcOrd="1" destOrd="0" presId="urn:microsoft.com/office/officeart/2005/8/layout/bProcess4"/>
    <dgm:cxn modelId="{961854AA-23CC-4370-A292-1A97B32D8B89}" type="presParOf" srcId="{2E3FD7AC-3FA3-49F6-80A3-848DD08732B3}" destId="{2FFC49C0-D8FF-4DEB-8247-BB21051AFCA0}" srcOrd="5" destOrd="0" presId="urn:microsoft.com/office/officeart/2005/8/layout/bProcess4"/>
    <dgm:cxn modelId="{49E6D375-DF23-46A8-9650-64CC0ADA1588}" type="presParOf" srcId="{2E3FD7AC-3FA3-49F6-80A3-848DD08732B3}" destId="{C20E091E-ADFB-4571-A810-DD9B39C58BCC}" srcOrd="6" destOrd="0" presId="urn:microsoft.com/office/officeart/2005/8/layout/bProcess4"/>
    <dgm:cxn modelId="{D61F3C74-05A5-485E-B884-019CA8DE11EF}" type="presParOf" srcId="{C20E091E-ADFB-4571-A810-DD9B39C58BCC}" destId="{19F6FA0B-D3F4-4AFC-B8A0-A004C0C42E28}" srcOrd="0" destOrd="0" presId="urn:microsoft.com/office/officeart/2005/8/layout/bProcess4"/>
    <dgm:cxn modelId="{D04F405D-3447-4A89-8F72-60B71F780056}" type="presParOf" srcId="{C20E091E-ADFB-4571-A810-DD9B39C58BCC}" destId="{1E977E05-34FF-4C4B-9C15-E67A524BB05E}" srcOrd="1" destOrd="0" presId="urn:microsoft.com/office/officeart/2005/8/layout/bProcess4"/>
    <dgm:cxn modelId="{DF882D09-91A5-430A-99B2-A42CE8ACFA90}" type="presParOf" srcId="{2E3FD7AC-3FA3-49F6-80A3-848DD08732B3}" destId="{7C6B8AF8-0252-4B1D-8ED7-24F54E1D79B8}" srcOrd="7" destOrd="0" presId="urn:microsoft.com/office/officeart/2005/8/layout/bProcess4"/>
    <dgm:cxn modelId="{299DE6C7-A1DC-45DE-8B26-332201F29B77}" type="presParOf" srcId="{2E3FD7AC-3FA3-49F6-80A3-848DD08732B3}" destId="{BD8F0C9F-16A0-4060-B4C0-E2F182ABD346}" srcOrd="8" destOrd="0" presId="urn:microsoft.com/office/officeart/2005/8/layout/bProcess4"/>
    <dgm:cxn modelId="{FB381858-66B3-4AFA-8405-05D1F2A57692}" type="presParOf" srcId="{BD8F0C9F-16A0-4060-B4C0-E2F182ABD346}" destId="{66EA806E-8D6F-4B40-BBF4-A9A5E7474771}" srcOrd="0" destOrd="0" presId="urn:microsoft.com/office/officeart/2005/8/layout/bProcess4"/>
    <dgm:cxn modelId="{2B1ACBE0-16AA-40B1-B4F0-D294F55E0970}" type="presParOf" srcId="{BD8F0C9F-16A0-4060-B4C0-E2F182ABD346}" destId="{4486D615-5463-4A26-9CC8-37D4F47AC8E2}" srcOrd="1" destOrd="0" presId="urn:microsoft.com/office/officeart/2005/8/layout/bProcess4"/>
    <dgm:cxn modelId="{2C06F364-0C6E-4C57-9555-F6064D75C0E8}" type="presParOf" srcId="{2E3FD7AC-3FA3-49F6-80A3-848DD08732B3}" destId="{782A4D68-D12C-4AA1-AE58-CEAF8E69E5FF}" srcOrd="9" destOrd="0" presId="urn:microsoft.com/office/officeart/2005/8/layout/bProcess4"/>
    <dgm:cxn modelId="{7A622158-5864-4B33-A897-3DEFE08553D8}" type="presParOf" srcId="{2E3FD7AC-3FA3-49F6-80A3-848DD08732B3}" destId="{0D3114AE-2D75-4B70-A166-4C989EFFA0E1}" srcOrd="10" destOrd="0" presId="urn:microsoft.com/office/officeart/2005/8/layout/bProcess4"/>
    <dgm:cxn modelId="{18080CFE-0956-433D-885B-6B9E5F854EB9}" type="presParOf" srcId="{0D3114AE-2D75-4B70-A166-4C989EFFA0E1}" destId="{AE58D5FD-1B03-4DB8-98A1-9AF721C78780}" srcOrd="0" destOrd="0" presId="urn:microsoft.com/office/officeart/2005/8/layout/bProcess4"/>
    <dgm:cxn modelId="{0B19DD05-4BEF-416B-B7D7-BE6F823798AD}" type="presParOf" srcId="{0D3114AE-2D75-4B70-A166-4C989EFFA0E1}" destId="{656087FC-D265-4D37-A536-4B3098C0546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B1465A-F615-4090-8C69-4DEE10DC117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99A5B4-DED0-4DF6-A253-78DF5BF1321B}">
      <dgm:prSet phldrT="[Text]" phldr="0"/>
      <dgm:spPr/>
      <dgm:t>
        <a:bodyPr/>
        <a:lstStyle/>
        <a:p>
          <a:r>
            <a:rPr lang="en-US" dirty="0"/>
            <a:t>Select agent-</a:t>
          </a:r>
          <a:r>
            <a:rPr lang="en-US" dirty="0" err="1"/>
            <a:t>i</a:t>
          </a:r>
          <a:r>
            <a:rPr lang="en-US" dirty="0"/>
            <a:t> and one of its neighbor</a:t>
          </a:r>
          <a:endParaRPr lang="en-IN" dirty="0"/>
        </a:p>
      </dgm:t>
    </dgm:pt>
    <dgm:pt modelId="{ACAB03D6-B7BE-4997-851E-EFF998333AD5}" type="parTrans" cxnId="{E7793D74-3496-4380-A043-3EFC5667D789}">
      <dgm:prSet/>
      <dgm:spPr/>
      <dgm:t>
        <a:bodyPr/>
        <a:lstStyle/>
        <a:p>
          <a:endParaRPr lang="en-IN"/>
        </a:p>
      </dgm:t>
    </dgm:pt>
    <dgm:pt modelId="{3AF601C0-EEFA-4971-90DF-5406FFF4B6F7}" type="sibTrans" cxnId="{E7793D74-3496-4380-A043-3EFC5667D789}">
      <dgm:prSet/>
      <dgm:spPr/>
      <dgm:t>
        <a:bodyPr/>
        <a:lstStyle/>
        <a:p>
          <a:endParaRPr lang="en-IN"/>
        </a:p>
      </dgm:t>
    </dgm:pt>
    <dgm:pt modelId="{0408E7D3-C4AD-4908-B45C-89ED1CF9795D}">
      <dgm:prSet phldrT="[Tex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DDB6AA6B-9134-461A-B1C1-320FAA866167}" type="parTrans" cxnId="{4970FA56-CBCE-4E52-8B16-91A60883C52A}">
      <dgm:prSet/>
      <dgm:spPr/>
      <dgm:t>
        <a:bodyPr/>
        <a:lstStyle/>
        <a:p>
          <a:endParaRPr lang="en-IN"/>
        </a:p>
      </dgm:t>
    </dgm:pt>
    <dgm:pt modelId="{345095EA-ABBA-44A8-9534-5DE0D14E7962}" type="sibTrans" cxnId="{4970FA56-CBCE-4E52-8B16-91A60883C52A}">
      <dgm:prSet/>
      <dgm:spPr/>
      <dgm:t>
        <a:bodyPr/>
        <a:lstStyle/>
        <a:p>
          <a:endParaRPr lang="en-IN"/>
        </a:p>
      </dgm:t>
    </dgm:pt>
    <dgm:pt modelId="{3211FBFF-F87F-41EA-89E6-D9FBB8DED51E}">
      <dgm:prSet phldrT="[Text]" phldr="0"/>
      <dgm:spPr/>
      <dgm:t>
        <a:bodyPr/>
        <a:lstStyle/>
        <a:p>
          <a:r>
            <a:rPr lang="en-US" dirty="0"/>
            <a:t>Check Interaction</a:t>
          </a:r>
        </a:p>
        <a:p>
          <a:r>
            <a:rPr lang="en-IN" dirty="0"/>
            <a:t>Pick random feature F</a:t>
          </a:r>
        </a:p>
      </dgm:t>
    </dgm:pt>
    <dgm:pt modelId="{A5040DBF-709F-4B8E-A2C4-2D89BF849B1F}" type="parTrans" cxnId="{DCD16F61-F984-47EB-8559-6D60445712EC}">
      <dgm:prSet/>
      <dgm:spPr/>
      <dgm:t>
        <a:bodyPr/>
        <a:lstStyle/>
        <a:p>
          <a:endParaRPr lang="en-IN"/>
        </a:p>
      </dgm:t>
    </dgm:pt>
    <dgm:pt modelId="{714E15B7-A38C-4A23-BB66-5416EB5206CA}" type="sibTrans" cxnId="{DCD16F61-F984-47EB-8559-6D60445712EC}">
      <dgm:prSet/>
      <dgm:spPr/>
      <dgm:t>
        <a:bodyPr/>
        <a:lstStyle/>
        <a:p>
          <a:endParaRPr lang="en-IN"/>
        </a:p>
      </dgm:t>
    </dgm:pt>
    <dgm:pt modelId="{F732BC3E-F426-47DA-8D8B-3C7856820D1A}">
      <dgm:prSet phldrT="[Text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EA2C5780-A75A-4604-96FD-0B50A4611274}" type="parTrans" cxnId="{FFB6FD9F-820D-4147-99E9-315F26D03791}">
      <dgm:prSet/>
      <dgm:spPr/>
      <dgm:t>
        <a:bodyPr/>
        <a:lstStyle/>
        <a:p>
          <a:endParaRPr lang="en-IN"/>
        </a:p>
      </dgm:t>
    </dgm:pt>
    <dgm:pt modelId="{822A70D3-2CCC-4126-A02C-56DAE13D755C}" type="sibTrans" cxnId="{FFB6FD9F-820D-4147-99E9-315F26D03791}">
      <dgm:prSet/>
      <dgm:spPr/>
      <dgm:t>
        <a:bodyPr/>
        <a:lstStyle/>
        <a:p>
          <a:endParaRPr lang="en-IN"/>
        </a:p>
      </dgm:t>
    </dgm:pt>
    <dgm:pt modelId="{7A40F3FF-9875-4B69-ACA8-6947A6EF37C6}">
      <dgm:prSet phldrT="[Text]"/>
      <dgm:spPr>
        <a:blipFill>
          <a:blip xmlns:r="http://schemas.openxmlformats.org/officeDocument/2006/relationships" r:embed="rId3"/>
          <a:stretch>
            <a:fillRect r="-2500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EA9B213C-CAEF-43C2-AE3D-080ADCC1CDFA}" type="parTrans" cxnId="{4622A744-C190-4B0D-955B-4A8F89C3AAF2}">
      <dgm:prSet/>
      <dgm:spPr/>
      <dgm:t>
        <a:bodyPr/>
        <a:lstStyle/>
        <a:p>
          <a:endParaRPr lang="en-IN"/>
        </a:p>
      </dgm:t>
    </dgm:pt>
    <dgm:pt modelId="{887759C9-92C0-4848-A856-18D8FF7E9C3C}" type="sibTrans" cxnId="{4622A744-C190-4B0D-955B-4A8F89C3AAF2}">
      <dgm:prSet/>
      <dgm:spPr/>
      <dgm:t>
        <a:bodyPr/>
        <a:lstStyle/>
        <a:p>
          <a:endParaRPr lang="en-IN"/>
        </a:p>
      </dgm:t>
    </dgm:pt>
    <dgm:pt modelId="{8479C368-629F-4AB3-9EC7-B776F15D4B77}">
      <dgm:prSet phldrT="[Text]" phldr="0"/>
      <dgm:spPr/>
      <dgm:t>
        <a:bodyPr/>
        <a:lstStyle/>
        <a:p>
          <a:r>
            <a:rPr lang="en-US" dirty="0"/>
            <a:t>Compute Switching Probability and Assimilate </a:t>
          </a:r>
        </a:p>
      </dgm:t>
    </dgm:pt>
    <dgm:pt modelId="{7CACD292-D181-40B3-A2C6-46F523DA9C92}" type="parTrans" cxnId="{8438226F-91B0-4A59-8CF1-63CE38148647}">
      <dgm:prSet/>
      <dgm:spPr/>
      <dgm:t>
        <a:bodyPr/>
        <a:lstStyle/>
        <a:p>
          <a:endParaRPr lang="en-IN"/>
        </a:p>
      </dgm:t>
    </dgm:pt>
    <dgm:pt modelId="{69C0AFF2-7B19-4D71-AD2B-EA9561724780}" type="sibTrans" cxnId="{8438226F-91B0-4A59-8CF1-63CE38148647}">
      <dgm:prSet/>
      <dgm:spPr/>
      <dgm:t>
        <a:bodyPr/>
        <a:lstStyle/>
        <a:p>
          <a:endParaRPr lang="en-IN"/>
        </a:p>
      </dgm:t>
    </dgm:pt>
    <dgm:pt modelId="{2E3FD7AC-3FA3-49F6-80A3-848DD08732B3}" type="pres">
      <dgm:prSet presAssocID="{18B1465A-F615-4090-8C69-4DEE10DC117E}" presName="Name0" presStyleCnt="0">
        <dgm:presLayoutVars>
          <dgm:dir/>
          <dgm:resizeHandles/>
        </dgm:presLayoutVars>
      </dgm:prSet>
      <dgm:spPr/>
    </dgm:pt>
    <dgm:pt modelId="{D09E75E8-0C6C-4AF5-905D-04B89853919D}" type="pres">
      <dgm:prSet presAssocID="{F299A5B4-DED0-4DF6-A253-78DF5BF1321B}" presName="compNode" presStyleCnt="0"/>
      <dgm:spPr/>
    </dgm:pt>
    <dgm:pt modelId="{2124203D-8A2D-4683-BD67-D2FC71DFC634}" type="pres">
      <dgm:prSet presAssocID="{F299A5B4-DED0-4DF6-A253-78DF5BF1321B}" presName="dummyConnPt" presStyleCnt="0"/>
      <dgm:spPr/>
    </dgm:pt>
    <dgm:pt modelId="{101CAFD3-831F-4F71-B1C8-15DD825E8465}" type="pres">
      <dgm:prSet presAssocID="{F299A5B4-DED0-4DF6-A253-78DF5BF1321B}" presName="node" presStyleLbl="node1" presStyleIdx="0" presStyleCnt="6" custLinFactX="-33497" custLinFactNeighborX="-100000" custLinFactNeighborY="14560">
        <dgm:presLayoutVars>
          <dgm:bulletEnabled val="1"/>
        </dgm:presLayoutVars>
      </dgm:prSet>
      <dgm:spPr/>
    </dgm:pt>
    <dgm:pt modelId="{17B1A5E9-7C98-45A3-81FA-0E5149353BDB}" type="pres">
      <dgm:prSet presAssocID="{3AF601C0-EEFA-4971-90DF-5406FFF4B6F7}" presName="sibTrans" presStyleLbl="bgSibTrans2D1" presStyleIdx="0" presStyleCnt="5"/>
      <dgm:spPr/>
    </dgm:pt>
    <dgm:pt modelId="{7859451D-78C3-4427-9262-4B7598442939}" type="pres">
      <dgm:prSet presAssocID="{0408E7D3-C4AD-4908-B45C-89ED1CF9795D}" presName="compNode" presStyleCnt="0"/>
      <dgm:spPr/>
    </dgm:pt>
    <dgm:pt modelId="{084C556D-CD14-41EB-ABBC-FED798E5D54F}" type="pres">
      <dgm:prSet presAssocID="{0408E7D3-C4AD-4908-B45C-89ED1CF9795D}" presName="dummyConnPt" presStyleCnt="0"/>
      <dgm:spPr/>
    </dgm:pt>
    <dgm:pt modelId="{F32EA027-1894-4827-BCC6-47FDB4C8CB53}" type="pres">
      <dgm:prSet presAssocID="{0408E7D3-C4AD-4908-B45C-89ED1CF9795D}" presName="node" presStyleLbl="node1" presStyleIdx="1" presStyleCnt="6" custLinFactX="-33497" custLinFactY="4160" custLinFactNeighborX="-100000" custLinFactNeighborY="100000">
        <dgm:presLayoutVars>
          <dgm:bulletEnabled val="1"/>
        </dgm:presLayoutVars>
      </dgm:prSet>
      <dgm:spPr/>
    </dgm:pt>
    <dgm:pt modelId="{DAEAE010-1069-49BB-989A-D207CC67B50F}" type="pres">
      <dgm:prSet presAssocID="{345095EA-ABBA-44A8-9534-5DE0D14E7962}" presName="sibTrans" presStyleLbl="bgSibTrans2D1" presStyleIdx="1" presStyleCnt="5"/>
      <dgm:spPr/>
    </dgm:pt>
    <dgm:pt modelId="{22D761E0-82B0-4B3B-918C-ACF283B9539D}" type="pres">
      <dgm:prSet presAssocID="{3211FBFF-F87F-41EA-89E6-D9FBB8DED51E}" presName="compNode" presStyleCnt="0"/>
      <dgm:spPr/>
    </dgm:pt>
    <dgm:pt modelId="{61EB394D-7574-40E0-833B-64AAD2B386DC}" type="pres">
      <dgm:prSet presAssocID="{3211FBFF-F87F-41EA-89E6-D9FBB8DED51E}" presName="dummyConnPt" presStyleCnt="0"/>
      <dgm:spPr/>
    </dgm:pt>
    <dgm:pt modelId="{9B4E5C29-39A4-4383-ADE4-A15FDEFC15DE}" type="pres">
      <dgm:prSet presAssocID="{3211FBFF-F87F-41EA-89E6-D9FBB8DED51E}" presName="node" presStyleLbl="node1" presStyleIdx="2" presStyleCnt="6" custLinFactNeighborX="54179" custLinFactNeighborY="-20840">
        <dgm:presLayoutVars>
          <dgm:bulletEnabled val="1"/>
        </dgm:presLayoutVars>
      </dgm:prSet>
      <dgm:spPr/>
    </dgm:pt>
    <dgm:pt modelId="{2FFC49C0-D8FF-4DEB-8247-BB21051AFCA0}" type="pres">
      <dgm:prSet presAssocID="{714E15B7-A38C-4A23-BB66-5416EB5206CA}" presName="sibTrans" presStyleLbl="bgSibTrans2D1" presStyleIdx="2" presStyleCnt="5"/>
      <dgm:spPr/>
    </dgm:pt>
    <dgm:pt modelId="{C20E091E-ADFB-4571-A810-DD9B39C58BCC}" type="pres">
      <dgm:prSet presAssocID="{F732BC3E-F426-47DA-8D8B-3C7856820D1A}" presName="compNode" presStyleCnt="0"/>
      <dgm:spPr/>
    </dgm:pt>
    <dgm:pt modelId="{19F6FA0B-D3F4-4AFC-B8A0-A004C0C42E28}" type="pres">
      <dgm:prSet presAssocID="{F732BC3E-F426-47DA-8D8B-3C7856820D1A}" presName="dummyConnPt" presStyleCnt="0"/>
      <dgm:spPr/>
    </dgm:pt>
    <dgm:pt modelId="{1E977E05-34FF-4C4B-9C15-E67A524BB05E}" type="pres">
      <dgm:prSet presAssocID="{F732BC3E-F426-47DA-8D8B-3C7856820D1A}" presName="node" presStyleLbl="node1" presStyleIdx="3" presStyleCnt="6" custLinFactY="-100000" custLinFactNeighborX="-78821" custLinFactNeighborY="-135440">
        <dgm:presLayoutVars>
          <dgm:bulletEnabled val="1"/>
        </dgm:presLayoutVars>
      </dgm:prSet>
      <dgm:spPr/>
    </dgm:pt>
    <dgm:pt modelId="{7C6B8AF8-0252-4B1D-8ED7-24F54E1D79B8}" type="pres">
      <dgm:prSet presAssocID="{822A70D3-2CCC-4126-A02C-56DAE13D755C}" presName="sibTrans" presStyleLbl="bgSibTrans2D1" presStyleIdx="3" presStyleCnt="5"/>
      <dgm:spPr/>
    </dgm:pt>
    <dgm:pt modelId="{BD8F0C9F-16A0-4060-B4C0-E2F182ABD346}" type="pres">
      <dgm:prSet presAssocID="{7A40F3FF-9875-4B69-ACA8-6947A6EF37C6}" presName="compNode" presStyleCnt="0"/>
      <dgm:spPr/>
    </dgm:pt>
    <dgm:pt modelId="{66EA806E-8D6F-4B40-BBF4-A9A5E7474771}" type="pres">
      <dgm:prSet presAssocID="{7A40F3FF-9875-4B69-ACA8-6947A6EF37C6}" presName="dummyConnPt" presStyleCnt="0"/>
      <dgm:spPr/>
    </dgm:pt>
    <dgm:pt modelId="{4486D615-5463-4A26-9CC8-37D4F47AC8E2}" type="pres">
      <dgm:prSet presAssocID="{7A40F3FF-9875-4B69-ACA8-6947A6EF37C6}" presName="node" presStyleLbl="node1" presStyleIdx="4" presStyleCnt="6" custLinFactX="21626" custLinFactY="-10440" custLinFactNeighborX="100000" custLinFactNeighborY="-100000">
        <dgm:presLayoutVars>
          <dgm:bulletEnabled val="1"/>
        </dgm:presLayoutVars>
      </dgm:prSet>
      <dgm:spPr/>
    </dgm:pt>
    <dgm:pt modelId="{782A4D68-D12C-4AA1-AE58-CEAF8E69E5FF}" type="pres">
      <dgm:prSet presAssocID="{887759C9-92C0-4848-A856-18D8FF7E9C3C}" presName="sibTrans" presStyleLbl="bgSibTrans2D1" presStyleIdx="4" presStyleCnt="5"/>
      <dgm:spPr/>
    </dgm:pt>
    <dgm:pt modelId="{0D3114AE-2D75-4B70-A166-4C989EFFA0E1}" type="pres">
      <dgm:prSet presAssocID="{8479C368-629F-4AB3-9EC7-B776F15D4B77}" presName="compNode" presStyleCnt="0"/>
      <dgm:spPr/>
    </dgm:pt>
    <dgm:pt modelId="{AE58D5FD-1B03-4DB8-98A1-9AF721C78780}" type="pres">
      <dgm:prSet presAssocID="{8479C368-629F-4AB3-9EC7-B776F15D4B77}" presName="dummyConnPt" presStyleCnt="0"/>
      <dgm:spPr/>
    </dgm:pt>
    <dgm:pt modelId="{656087FC-D265-4D37-A536-4B3098C0546A}" type="pres">
      <dgm:prSet presAssocID="{8479C368-629F-4AB3-9EC7-B776F15D4B77}" presName="node" presStyleLbl="node1" presStyleIdx="5" presStyleCnt="6" custLinFactX="21168" custLinFactY="100000" custLinFactNeighborX="100000" custLinFactNeighborY="129160">
        <dgm:presLayoutVars>
          <dgm:bulletEnabled val="1"/>
        </dgm:presLayoutVars>
      </dgm:prSet>
      <dgm:spPr/>
    </dgm:pt>
  </dgm:ptLst>
  <dgm:cxnLst>
    <dgm:cxn modelId="{BC505101-A77D-4FF4-B105-F0AE34ED7443}" type="presOf" srcId="{18B1465A-F615-4090-8C69-4DEE10DC117E}" destId="{2E3FD7AC-3FA3-49F6-80A3-848DD08732B3}" srcOrd="0" destOrd="0" presId="urn:microsoft.com/office/officeart/2005/8/layout/bProcess4"/>
    <dgm:cxn modelId="{C6534915-10F1-482C-A49E-4C18C5DFC964}" type="presOf" srcId="{F732BC3E-F426-47DA-8D8B-3C7856820D1A}" destId="{1E977E05-34FF-4C4B-9C15-E67A524BB05E}" srcOrd="0" destOrd="0" presId="urn:microsoft.com/office/officeart/2005/8/layout/bProcess4"/>
    <dgm:cxn modelId="{A0F8C919-D20E-432C-8345-356207EF0E21}" type="presOf" srcId="{3211FBFF-F87F-41EA-89E6-D9FBB8DED51E}" destId="{9B4E5C29-39A4-4383-ADE4-A15FDEFC15DE}" srcOrd="0" destOrd="0" presId="urn:microsoft.com/office/officeart/2005/8/layout/bProcess4"/>
    <dgm:cxn modelId="{1AC49C1B-7584-4CDD-87A5-7B896706A33F}" type="presOf" srcId="{7A40F3FF-9875-4B69-ACA8-6947A6EF37C6}" destId="{4486D615-5463-4A26-9CC8-37D4F47AC8E2}" srcOrd="0" destOrd="0" presId="urn:microsoft.com/office/officeart/2005/8/layout/bProcess4"/>
    <dgm:cxn modelId="{342B053C-76CC-49CC-B142-0123A723A9E5}" type="presOf" srcId="{345095EA-ABBA-44A8-9534-5DE0D14E7962}" destId="{DAEAE010-1069-49BB-989A-D207CC67B50F}" srcOrd="0" destOrd="0" presId="urn:microsoft.com/office/officeart/2005/8/layout/bProcess4"/>
    <dgm:cxn modelId="{DCD16F61-F984-47EB-8559-6D60445712EC}" srcId="{18B1465A-F615-4090-8C69-4DEE10DC117E}" destId="{3211FBFF-F87F-41EA-89E6-D9FBB8DED51E}" srcOrd="2" destOrd="0" parTransId="{A5040DBF-709F-4B8E-A2C4-2D89BF849B1F}" sibTransId="{714E15B7-A38C-4A23-BB66-5416EB5206CA}"/>
    <dgm:cxn modelId="{4622A744-C190-4B0D-955B-4A8F89C3AAF2}" srcId="{18B1465A-F615-4090-8C69-4DEE10DC117E}" destId="{7A40F3FF-9875-4B69-ACA8-6947A6EF37C6}" srcOrd="4" destOrd="0" parTransId="{EA9B213C-CAEF-43C2-AE3D-080ADCC1CDFA}" sibTransId="{887759C9-92C0-4848-A856-18D8FF7E9C3C}"/>
    <dgm:cxn modelId="{8438226F-91B0-4A59-8CF1-63CE38148647}" srcId="{18B1465A-F615-4090-8C69-4DEE10DC117E}" destId="{8479C368-629F-4AB3-9EC7-B776F15D4B77}" srcOrd="5" destOrd="0" parTransId="{7CACD292-D181-40B3-A2C6-46F523DA9C92}" sibTransId="{69C0AFF2-7B19-4D71-AD2B-EA9561724780}"/>
    <dgm:cxn modelId="{E7793D74-3496-4380-A043-3EFC5667D789}" srcId="{18B1465A-F615-4090-8C69-4DEE10DC117E}" destId="{F299A5B4-DED0-4DF6-A253-78DF5BF1321B}" srcOrd="0" destOrd="0" parTransId="{ACAB03D6-B7BE-4997-851E-EFF998333AD5}" sibTransId="{3AF601C0-EEFA-4971-90DF-5406FFF4B6F7}"/>
    <dgm:cxn modelId="{AA7E1C75-2759-4D8A-89EB-775B959A2CA8}" type="presOf" srcId="{0408E7D3-C4AD-4908-B45C-89ED1CF9795D}" destId="{F32EA027-1894-4827-BCC6-47FDB4C8CB53}" srcOrd="0" destOrd="0" presId="urn:microsoft.com/office/officeart/2005/8/layout/bProcess4"/>
    <dgm:cxn modelId="{4970FA56-CBCE-4E52-8B16-91A60883C52A}" srcId="{18B1465A-F615-4090-8C69-4DEE10DC117E}" destId="{0408E7D3-C4AD-4908-B45C-89ED1CF9795D}" srcOrd="1" destOrd="0" parTransId="{DDB6AA6B-9134-461A-B1C1-320FAA866167}" sibTransId="{345095EA-ABBA-44A8-9534-5DE0D14E7962}"/>
    <dgm:cxn modelId="{FFB6FD9F-820D-4147-99E9-315F26D03791}" srcId="{18B1465A-F615-4090-8C69-4DEE10DC117E}" destId="{F732BC3E-F426-47DA-8D8B-3C7856820D1A}" srcOrd="3" destOrd="0" parTransId="{EA2C5780-A75A-4604-96FD-0B50A4611274}" sibTransId="{822A70D3-2CCC-4126-A02C-56DAE13D755C}"/>
    <dgm:cxn modelId="{01C9AFA6-13B6-416F-AEC4-ADC1885559F9}" type="presOf" srcId="{714E15B7-A38C-4A23-BB66-5416EB5206CA}" destId="{2FFC49C0-D8FF-4DEB-8247-BB21051AFCA0}" srcOrd="0" destOrd="0" presId="urn:microsoft.com/office/officeart/2005/8/layout/bProcess4"/>
    <dgm:cxn modelId="{3CEFC2AA-AD3F-4159-A33C-DA76896446C4}" type="presOf" srcId="{F299A5B4-DED0-4DF6-A253-78DF5BF1321B}" destId="{101CAFD3-831F-4F71-B1C8-15DD825E8465}" srcOrd="0" destOrd="0" presId="urn:microsoft.com/office/officeart/2005/8/layout/bProcess4"/>
    <dgm:cxn modelId="{53E8F3BE-4F82-47CB-A419-A9BFBCBBB144}" type="presOf" srcId="{887759C9-92C0-4848-A856-18D8FF7E9C3C}" destId="{782A4D68-D12C-4AA1-AE58-CEAF8E69E5FF}" srcOrd="0" destOrd="0" presId="urn:microsoft.com/office/officeart/2005/8/layout/bProcess4"/>
    <dgm:cxn modelId="{BB4181C1-1B33-4767-97B7-FFE849E54D33}" type="presOf" srcId="{8479C368-629F-4AB3-9EC7-B776F15D4B77}" destId="{656087FC-D265-4D37-A536-4B3098C0546A}" srcOrd="0" destOrd="0" presId="urn:microsoft.com/office/officeart/2005/8/layout/bProcess4"/>
    <dgm:cxn modelId="{1F4AD8E6-256A-483F-A33D-6533A6DC7BEC}" type="presOf" srcId="{822A70D3-2CCC-4126-A02C-56DAE13D755C}" destId="{7C6B8AF8-0252-4B1D-8ED7-24F54E1D79B8}" srcOrd="0" destOrd="0" presId="urn:microsoft.com/office/officeart/2005/8/layout/bProcess4"/>
    <dgm:cxn modelId="{A1BBDCEA-4393-4AAA-A336-02ABE0F2FD55}" type="presOf" srcId="{3AF601C0-EEFA-4971-90DF-5406FFF4B6F7}" destId="{17B1A5E9-7C98-45A3-81FA-0E5149353BDB}" srcOrd="0" destOrd="0" presId="urn:microsoft.com/office/officeart/2005/8/layout/bProcess4"/>
    <dgm:cxn modelId="{340DC21F-418F-4F58-9791-7E1388F26890}" type="presParOf" srcId="{2E3FD7AC-3FA3-49F6-80A3-848DD08732B3}" destId="{D09E75E8-0C6C-4AF5-905D-04B89853919D}" srcOrd="0" destOrd="0" presId="urn:microsoft.com/office/officeart/2005/8/layout/bProcess4"/>
    <dgm:cxn modelId="{FE5FFE99-E1CE-454D-951E-12A4F743257A}" type="presParOf" srcId="{D09E75E8-0C6C-4AF5-905D-04B89853919D}" destId="{2124203D-8A2D-4683-BD67-D2FC71DFC634}" srcOrd="0" destOrd="0" presId="urn:microsoft.com/office/officeart/2005/8/layout/bProcess4"/>
    <dgm:cxn modelId="{96FAE320-8E34-4470-9684-B1DCFF1FF091}" type="presParOf" srcId="{D09E75E8-0C6C-4AF5-905D-04B89853919D}" destId="{101CAFD3-831F-4F71-B1C8-15DD825E8465}" srcOrd="1" destOrd="0" presId="urn:microsoft.com/office/officeart/2005/8/layout/bProcess4"/>
    <dgm:cxn modelId="{4D66E699-1532-4830-8FF1-932EA47E23DF}" type="presParOf" srcId="{2E3FD7AC-3FA3-49F6-80A3-848DD08732B3}" destId="{17B1A5E9-7C98-45A3-81FA-0E5149353BDB}" srcOrd="1" destOrd="0" presId="urn:microsoft.com/office/officeart/2005/8/layout/bProcess4"/>
    <dgm:cxn modelId="{7EEA188A-908F-4222-BB10-8867939592EB}" type="presParOf" srcId="{2E3FD7AC-3FA3-49F6-80A3-848DD08732B3}" destId="{7859451D-78C3-4427-9262-4B7598442939}" srcOrd="2" destOrd="0" presId="urn:microsoft.com/office/officeart/2005/8/layout/bProcess4"/>
    <dgm:cxn modelId="{C9300DFD-153C-40D2-924A-1F3DDDB30D3D}" type="presParOf" srcId="{7859451D-78C3-4427-9262-4B7598442939}" destId="{084C556D-CD14-41EB-ABBC-FED798E5D54F}" srcOrd="0" destOrd="0" presId="urn:microsoft.com/office/officeart/2005/8/layout/bProcess4"/>
    <dgm:cxn modelId="{9EA08E06-690B-42A1-8807-B819F0D1FF15}" type="presParOf" srcId="{7859451D-78C3-4427-9262-4B7598442939}" destId="{F32EA027-1894-4827-BCC6-47FDB4C8CB53}" srcOrd="1" destOrd="0" presId="urn:microsoft.com/office/officeart/2005/8/layout/bProcess4"/>
    <dgm:cxn modelId="{B11C1491-DBFD-4589-A01D-869D7C60F0CC}" type="presParOf" srcId="{2E3FD7AC-3FA3-49F6-80A3-848DD08732B3}" destId="{DAEAE010-1069-49BB-989A-D207CC67B50F}" srcOrd="3" destOrd="0" presId="urn:microsoft.com/office/officeart/2005/8/layout/bProcess4"/>
    <dgm:cxn modelId="{77188DB3-29F6-4FD1-AB16-E556AAFD60E3}" type="presParOf" srcId="{2E3FD7AC-3FA3-49F6-80A3-848DD08732B3}" destId="{22D761E0-82B0-4B3B-918C-ACF283B9539D}" srcOrd="4" destOrd="0" presId="urn:microsoft.com/office/officeart/2005/8/layout/bProcess4"/>
    <dgm:cxn modelId="{BFA0477E-007D-44F0-B910-E004026EFD3C}" type="presParOf" srcId="{22D761E0-82B0-4B3B-918C-ACF283B9539D}" destId="{61EB394D-7574-40E0-833B-64AAD2B386DC}" srcOrd="0" destOrd="0" presId="urn:microsoft.com/office/officeart/2005/8/layout/bProcess4"/>
    <dgm:cxn modelId="{3C1CB6EA-6183-4B64-9D09-2ACE7382966C}" type="presParOf" srcId="{22D761E0-82B0-4B3B-918C-ACF283B9539D}" destId="{9B4E5C29-39A4-4383-ADE4-A15FDEFC15DE}" srcOrd="1" destOrd="0" presId="urn:microsoft.com/office/officeart/2005/8/layout/bProcess4"/>
    <dgm:cxn modelId="{961854AA-23CC-4370-A292-1A97B32D8B89}" type="presParOf" srcId="{2E3FD7AC-3FA3-49F6-80A3-848DD08732B3}" destId="{2FFC49C0-D8FF-4DEB-8247-BB21051AFCA0}" srcOrd="5" destOrd="0" presId="urn:microsoft.com/office/officeart/2005/8/layout/bProcess4"/>
    <dgm:cxn modelId="{49E6D375-DF23-46A8-9650-64CC0ADA1588}" type="presParOf" srcId="{2E3FD7AC-3FA3-49F6-80A3-848DD08732B3}" destId="{C20E091E-ADFB-4571-A810-DD9B39C58BCC}" srcOrd="6" destOrd="0" presId="urn:microsoft.com/office/officeart/2005/8/layout/bProcess4"/>
    <dgm:cxn modelId="{D61F3C74-05A5-485E-B884-019CA8DE11EF}" type="presParOf" srcId="{C20E091E-ADFB-4571-A810-DD9B39C58BCC}" destId="{19F6FA0B-D3F4-4AFC-B8A0-A004C0C42E28}" srcOrd="0" destOrd="0" presId="urn:microsoft.com/office/officeart/2005/8/layout/bProcess4"/>
    <dgm:cxn modelId="{D04F405D-3447-4A89-8F72-60B71F780056}" type="presParOf" srcId="{C20E091E-ADFB-4571-A810-DD9B39C58BCC}" destId="{1E977E05-34FF-4C4B-9C15-E67A524BB05E}" srcOrd="1" destOrd="0" presId="urn:microsoft.com/office/officeart/2005/8/layout/bProcess4"/>
    <dgm:cxn modelId="{DF882D09-91A5-430A-99B2-A42CE8ACFA90}" type="presParOf" srcId="{2E3FD7AC-3FA3-49F6-80A3-848DD08732B3}" destId="{7C6B8AF8-0252-4B1D-8ED7-24F54E1D79B8}" srcOrd="7" destOrd="0" presId="urn:microsoft.com/office/officeart/2005/8/layout/bProcess4"/>
    <dgm:cxn modelId="{299DE6C7-A1DC-45DE-8B26-332201F29B77}" type="presParOf" srcId="{2E3FD7AC-3FA3-49F6-80A3-848DD08732B3}" destId="{BD8F0C9F-16A0-4060-B4C0-E2F182ABD346}" srcOrd="8" destOrd="0" presId="urn:microsoft.com/office/officeart/2005/8/layout/bProcess4"/>
    <dgm:cxn modelId="{FB381858-66B3-4AFA-8405-05D1F2A57692}" type="presParOf" srcId="{BD8F0C9F-16A0-4060-B4C0-E2F182ABD346}" destId="{66EA806E-8D6F-4B40-BBF4-A9A5E7474771}" srcOrd="0" destOrd="0" presId="urn:microsoft.com/office/officeart/2005/8/layout/bProcess4"/>
    <dgm:cxn modelId="{2B1ACBE0-16AA-40B1-B4F0-D294F55E0970}" type="presParOf" srcId="{BD8F0C9F-16A0-4060-B4C0-E2F182ABD346}" destId="{4486D615-5463-4A26-9CC8-37D4F47AC8E2}" srcOrd="1" destOrd="0" presId="urn:microsoft.com/office/officeart/2005/8/layout/bProcess4"/>
    <dgm:cxn modelId="{2C06F364-0C6E-4C57-9555-F6064D75C0E8}" type="presParOf" srcId="{2E3FD7AC-3FA3-49F6-80A3-848DD08732B3}" destId="{782A4D68-D12C-4AA1-AE58-CEAF8E69E5FF}" srcOrd="9" destOrd="0" presId="urn:microsoft.com/office/officeart/2005/8/layout/bProcess4"/>
    <dgm:cxn modelId="{7A622158-5864-4B33-A897-3DEFE08553D8}" type="presParOf" srcId="{2E3FD7AC-3FA3-49F6-80A3-848DD08732B3}" destId="{0D3114AE-2D75-4B70-A166-4C989EFFA0E1}" srcOrd="10" destOrd="0" presId="urn:microsoft.com/office/officeart/2005/8/layout/bProcess4"/>
    <dgm:cxn modelId="{18080CFE-0956-433D-885B-6B9E5F854EB9}" type="presParOf" srcId="{0D3114AE-2D75-4B70-A166-4C989EFFA0E1}" destId="{AE58D5FD-1B03-4DB8-98A1-9AF721C78780}" srcOrd="0" destOrd="0" presId="urn:microsoft.com/office/officeart/2005/8/layout/bProcess4"/>
    <dgm:cxn modelId="{0B19DD05-4BEF-416B-B7D7-BE6F823798AD}" type="presParOf" srcId="{0D3114AE-2D75-4B70-A166-4C989EFFA0E1}" destId="{656087FC-D265-4D37-A536-4B3098C0546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1A5E9-7C98-45A3-81FA-0E5149353BDB}">
      <dsp:nvSpPr>
        <dsp:cNvPr id="0" name=""/>
        <dsp:cNvSpPr/>
      </dsp:nvSpPr>
      <dsp:spPr>
        <a:xfrm rot="5400000">
          <a:off x="-504194" y="1617575"/>
          <a:ext cx="2493257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CAFD3-831F-4F71-B1C8-15DD825E8465}">
      <dsp:nvSpPr>
        <dsp:cNvPr id="0" name=""/>
        <dsp:cNvSpPr/>
      </dsp:nvSpPr>
      <dsp:spPr>
        <a:xfrm>
          <a:off x="350761" y="170073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Select agent-</a:t>
          </a:r>
          <a:r>
            <a:rPr lang="en-US" sz="1600" kern="1200" dirty="0" err="1"/>
            <a:t>i</a:t>
          </a:r>
          <a:r>
            <a:rPr lang="en-US" sz="1600" kern="1200" dirty="0"/>
            <a:t> and one of its neighbor</a:t>
          </a:r>
          <a:endParaRPr lang="en-IN" sz="1600" kern="1200" dirty="0"/>
        </a:p>
      </dsp:txBody>
      <dsp:txXfrm>
        <a:off x="384881" y="204193"/>
        <a:ext cx="1873335" cy="1096705"/>
      </dsp:txXfrm>
    </dsp:sp>
    <dsp:sp modelId="{DAEAE010-1069-49BB-989A-D207CC67B50F}">
      <dsp:nvSpPr>
        <dsp:cNvPr id="0" name=""/>
        <dsp:cNvSpPr/>
      </dsp:nvSpPr>
      <dsp:spPr>
        <a:xfrm>
          <a:off x="745791" y="2867561"/>
          <a:ext cx="3637156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EA027-1894-4827-BCC6-47FDB4C8CB53}">
      <dsp:nvSpPr>
        <dsp:cNvPr id="0" name=""/>
        <dsp:cNvSpPr/>
      </dsp:nvSpPr>
      <dsp:spPr>
        <a:xfrm>
          <a:off x="350761" y="2670046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Interaction Probability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IN" sz="160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</m:oMath>
            </m:oMathPara>
          </a14:m>
          <a:endParaRPr lang="en-IN" sz="1600" kern="1200" dirty="0"/>
        </a:p>
      </dsp:txBody>
      <dsp:txXfrm>
        <a:off x="384881" y="2704166"/>
        <a:ext cx="1873335" cy="1096705"/>
      </dsp:txXfrm>
    </dsp:sp>
    <dsp:sp modelId="{2FFC49C0-D8FF-4DEB-8247-BB21051AFCA0}">
      <dsp:nvSpPr>
        <dsp:cNvPr id="0" name=""/>
        <dsp:cNvSpPr/>
      </dsp:nvSpPr>
      <dsp:spPr>
        <a:xfrm rot="16200000">
          <a:off x="3139676" y="1617575"/>
          <a:ext cx="2493257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E5C29-39A4-4383-ADE4-A15FDEFC15DE}">
      <dsp:nvSpPr>
        <dsp:cNvPr id="0" name=""/>
        <dsp:cNvSpPr/>
      </dsp:nvSpPr>
      <dsp:spPr>
        <a:xfrm>
          <a:off x="3994632" y="2670046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Check Interaction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Pick random feature F</a:t>
          </a:r>
        </a:p>
      </dsp:txBody>
      <dsp:txXfrm>
        <a:off x="4028752" y="2704166"/>
        <a:ext cx="1873335" cy="1096705"/>
      </dsp:txXfrm>
    </dsp:sp>
    <dsp:sp modelId="{7C6B8AF8-0252-4B1D-8ED7-24F54E1D79B8}">
      <dsp:nvSpPr>
        <dsp:cNvPr id="0" name=""/>
        <dsp:cNvSpPr/>
      </dsp:nvSpPr>
      <dsp:spPr>
        <a:xfrm>
          <a:off x="4389662" y="367588"/>
          <a:ext cx="3885114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77E05-34FF-4C4B-9C15-E67A524BB05E}">
      <dsp:nvSpPr>
        <dsp:cNvPr id="0" name=""/>
        <dsp:cNvSpPr/>
      </dsp:nvSpPr>
      <dsp:spPr>
        <a:xfrm>
          <a:off x="3994632" y="170073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Survey agent-</a:t>
          </a:r>
          <a:r>
            <a:rPr lang="en-US" sz="1600" kern="1200" dirty="0" err="1"/>
            <a:t>i</a:t>
          </a:r>
          <a:r>
            <a:rPr lang="en-US" sz="1600" kern="1200" dirty="0"/>
            <a:t>  Neighborhood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𝑂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𝑖</m:t>
                  </m:r>
                </m:sub>
              </m:sSub>
              <m:r>
                <a:rPr lang="en-US" sz="1600" b="0" i="1" kern="1200" smtClean="0">
                  <a:latin typeface="Cambria Math" panose="02040503050406030204" pitchFamily="18" charset="0"/>
                </a:rPr>
                <m:t>(</m:t>
              </m:r>
              <m:sSubSup>
                <m:sSubSupPr>
                  <m:ctrlPr>
                    <a:rPr lang="en-US" sz="1600" i="1" kern="1200" smtClean="0">
                      <a:latin typeface="Cambria Math" panose="02040503050406030204" pitchFamily="18" charset="0"/>
                    </a:rPr>
                  </m:ctrlPr>
                </m:sSubSupPr>
                <m:e>
                  <m:r>
                    <a:rPr lang="en-US" sz="160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𝑗</m:t>
                  </m:r>
                </m:sub>
                <m:sup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𝑓</m:t>
                  </m:r>
                </m:sup>
              </m:sSubSup>
              <m:r>
                <a:rPr lang="en-US" sz="16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1600" kern="1200" dirty="0"/>
            <a:t> and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6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𝑂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𝑖</m:t>
                  </m:r>
                </m:sub>
              </m:sSub>
              <m:r>
                <a:rPr lang="en-US" sz="1600" b="0" i="1" kern="1200" smtClean="0">
                  <a:latin typeface="Cambria Math" panose="02040503050406030204" pitchFamily="18" charset="0"/>
                </a:rPr>
                <m:t>(</m:t>
              </m:r>
              <m:sSubSup>
                <m:sSubSupPr>
                  <m:ctrlPr>
                    <a:rPr lang="en-US" sz="1600" i="1" kern="1200" smtClean="0">
                      <a:latin typeface="Cambria Math" panose="02040503050406030204" pitchFamily="18" charset="0"/>
                    </a:rPr>
                  </m:ctrlPr>
                </m:sSubSupPr>
                <m:e>
                  <m:r>
                    <a:rPr lang="en-US" sz="160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𝑖</m:t>
                  </m:r>
                </m:sub>
                <m:sup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𝑓</m:t>
                  </m:r>
                </m:sup>
              </m:sSubSup>
              <m:r>
                <a:rPr lang="en-US" sz="16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1600" kern="1200" dirty="0"/>
            <a:t> </a:t>
          </a:r>
          <a:endParaRPr lang="en-IN" sz="1600" kern="1200" dirty="0"/>
        </a:p>
      </dsp:txBody>
      <dsp:txXfrm>
        <a:off x="4028752" y="204193"/>
        <a:ext cx="1873335" cy="1096705"/>
      </dsp:txXfrm>
    </dsp:sp>
    <dsp:sp modelId="{782A4D68-D12C-4AA1-AE58-CEAF8E69E5FF}">
      <dsp:nvSpPr>
        <dsp:cNvPr id="0" name=""/>
        <dsp:cNvSpPr/>
      </dsp:nvSpPr>
      <dsp:spPr>
        <a:xfrm rot="5412261">
          <a:off x="7027052" y="1617575"/>
          <a:ext cx="2493273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6D615-5463-4A26-9CC8-37D4F47AC8E2}">
      <dsp:nvSpPr>
        <dsp:cNvPr id="0" name=""/>
        <dsp:cNvSpPr/>
      </dsp:nvSpPr>
      <dsp:spPr>
        <a:xfrm>
          <a:off x="7886462" y="170073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Switching Probability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Sup>
                  <m:sSubSupPr>
                    <m:ctrlPr>
                      <a:rPr lang="en-US" sz="1600" i="1" kern="1200" smtClean="0">
                        <a:latin typeface="Cambria Math" panose="02040503050406030204" pitchFamily="18" charset="0"/>
                      </a:rPr>
                    </m:ctrlPr>
                  </m:sSubSupPr>
                  <m:e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𝑄</m:t>
                    </m:r>
                  </m:e>
                  <m:sub>
                    <m:r>
                      <a:rPr lang="en-US" sz="16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kern="12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𝑗</m:t>
                    </m:r>
                  </m:sub>
                  <m:sup>
                    <m:r>
                      <a:rPr lang="en-US" sz="1600" b="0" i="1" kern="1200" smtClean="0">
                        <a:latin typeface="Cambria Math" panose="02040503050406030204" pitchFamily="18" charset="0"/>
                      </a:rPr>
                      <m:t>𝑓</m:t>
                    </m:r>
                  </m:sup>
                </m:sSubSup>
              </m:oMath>
            </m:oMathPara>
          </a14:m>
          <a:endParaRPr lang="en-IN" sz="1600" kern="1200" dirty="0"/>
        </a:p>
      </dsp:txBody>
      <dsp:txXfrm>
        <a:off x="7920582" y="204193"/>
        <a:ext cx="1873335" cy="1096705"/>
      </dsp:txXfrm>
    </dsp:sp>
    <dsp:sp modelId="{656087FC-D265-4D37-A536-4B3098C0546A}">
      <dsp:nvSpPr>
        <dsp:cNvPr id="0" name=""/>
        <dsp:cNvSpPr/>
      </dsp:nvSpPr>
      <dsp:spPr>
        <a:xfrm>
          <a:off x="7877570" y="2670046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Assimilation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Agent-</a:t>
          </a:r>
          <a:r>
            <a:rPr lang="en-US" sz="1600" kern="1200" dirty="0" err="1"/>
            <a:t>i</a:t>
          </a:r>
          <a:r>
            <a:rPr lang="en-US" sz="1600" kern="1200" dirty="0"/>
            <a:t> adopts </a:t>
          </a:r>
          <a14:m xmlns:a14="http://schemas.microsoft.com/office/drawing/2010/main">
            <m:oMath xmlns:m="http://schemas.openxmlformats.org/officeDocument/2006/math">
              <m:sSubSup>
                <m:sSubSupPr>
                  <m:ctrlPr>
                    <a:rPr lang="en-US" sz="1600" i="1" kern="1200" smtClean="0">
                      <a:latin typeface="Cambria Math" panose="02040503050406030204" pitchFamily="18" charset="0"/>
                    </a:rPr>
                  </m:ctrlPr>
                </m:sSubSupPr>
                <m:e>
                  <m:r>
                    <a:rPr lang="en-US" sz="160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𝜎</m:t>
                  </m:r>
                </m:e>
                <m:sub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𝑗</m:t>
                  </m:r>
                </m:sub>
                <m:sup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𝑓</m:t>
                  </m:r>
                </m:sup>
              </m:sSubSup>
            </m:oMath>
          </a14:m>
          <a:r>
            <a:rPr lang="en-US" sz="1600" kern="1200" dirty="0"/>
            <a:t> </a:t>
          </a:r>
        </a:p>
      </dsp:txBody>
      <dsp:txXfrm>
        <a:off x="7911690" y="2704166"/>
        <a:ext cx="1873335" cy="10967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1A5E9-7C98-45A3-81FA-0E5149353BDB}">
      <dsp:nvSpPr>
        <dsp:cNvPr id="0" name=""/>
        <dsp:cNvSpPr/>
      </dsp:nvSpPr>
      <dsp:spPr>
        <a:xfrm rot="5400000">
          <a:off x="-504194" y="1617575"/>
          <a:ext cx="2493257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CAFD3-831F-4F71-B1C8-15DD825E8465}">
      <dsp:nvSpPr>
        <dsp:cNvPr id="0" name=""/>
        <dsp:cNvSpPr/>
      </dsp:nvSpPr>
      <dsp:spPr>
        <a:xfrm>
          <a:off x="350761" y="170073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Select agent-</a:t>
          </a:r>
          <a:r>
            <a:rPr lang="en-US" sz="1700" kern="1200" dirty="0" err="1"/>
            <a:t>i</a:t>
          </a:r>
          <a:r>
            <a:rPr lang="en-US" sz="1700" kern="1200" dirty="0"/>
            <a:t> and one of its neighbor</a:t>
          </a:r>
          <a:endParaRPr lang="en-IN" sz="1700" kern="1200" dirty="0"/>
        </a:p>
      </dsp:txBody>
      <dsp:txXfrm>
        <a:off x="384881" y="204193"/>
        <a:ext cx="1873335" cy="1096705"/>
      </dsp:txXfrm>
    </dsp:sp>
    <dsp:sp modelId="{DAEAE010-1069-49BB-989A-D207CC67B50F}">
      <dsp:nvSpPr>
        <dsp:cNvPr id="0" name=""/>
        <dsp:cNvSpPr/>
      </dsp:nvSpPr>
      <dsp:spPr>
        <a:xfrm>
          <a:off x="745791" y="2867561"/>
          <a:ext cx="3637156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EA027-1894-4827-BCC6-47FDB4C8CB53}">
      <dsp:nvSpPr>
        <dsp:cNvPr id="0" name=""/>
        <dsp:cNvSpPr/>
      </dsp:nvSpPr>
      <dsp:spPr>
        <a:xfrm>
          <a:off x="350761" y="2670046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Interaction Probability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IN" sz="170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700" b="0" i="1" kern="1200" smtClean="0"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lang="en-US" sz="1700" b="0" i="1" kern="120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700" b="0" i="1" kern="120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700" b="0" i="1" kern="1200" smtClean="0">
                        <a:latin typeface="Cambria Math" panose="02040503050406030204" pitchFamily="18" charset="0"/>
                      </a:rPr>
                      <m:t>𝑗</m:t>
                    </m:r>
                  </m:sub>
                </m:sSub>
              </m:oMath>
            </m:oMathPara>
          </a14:m>
          <a:endParaRPr lang="en-IN" sz="1700" kern="1200" dirty="0"/>
        </a:p>
      </dsp:txBody>
      <dsp:txXfrm>
        <a:off x="384881" y="2704166"/>
        <a:ext cx="1873335" cy="1096705"/>
      </dsp:txXfrm>
    </dsp:sp>
    <dsp:sp modelId="{2FFC49C0-D8FF-4DEB-8247-BB21051AFCA0}">
      <dsp:nvSpPr>
        <dsp:cNvPr id="0" name=""/>
        <dsp:cNvSpPr/>
      </dsp:nvSpPr>
      <dsp:spPr>
        <a:xfrm rot="16200000">
          <a:off x="3139676" y="1617575"/>
          <a:ext cx="2493257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E5C29-39A4-4383-ADE4-A15FDEFC15DE}">
      <dsp:nvSpPr>
        <dsp:cNvPr id="0" name=""/>
        <dsp:cNvSpPr/>
      </dsp:nvSpPr>
      <dsp:spPr>
        <a:xfrm>
          <a:off x="3994632" y="2670046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Check Interaction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Pick random feature F</a:t>
          </a:r>
        </a:p>
      </dsp:txBody>
      <dsp:txXfrm>
        <a:off x="4028752" y="2704166"/>
        <a:ext cx="1873335" cy="1096705"/>
      </dsp:txXfrm>
    </dsp:sp>
    <dsp:sp modelId="{7C6B8AF8-0252-4B1D-8ED7-24F54E1D79B8}">
      <dsp:nvSpPr>
        <dsp:cNvPr id="0" name=""/>
        <dsp:cNvSpPr/>
      </dsp:nvSpPr>
      <dsp:spPr>
        <a:xfrm>
          <a:off x="4389662" y="367588"/>
          <a:ext cx="3885114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977E05-34FF-4C4B-9C15-E67A524BB05E}">
      <dsp:nvSpPr>
        <dsp:cNvPr id="0" name=""/>
        <dsp:cNvSpPr/>
      </dsp:nvSpPr>
      <dsp:spPr>
        <a:xfrm>
          <a:off x="3994632" y="170073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Survey agent-i’s  Neighborhood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7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700" b="0" i="1" kern="1200" smtClean="0">
                      <a:latin typeface="Cambria Math" panose="02040503050406030204" pitchFamily="18" charset="0"/>
                    </a:rPr>
                    <m:t>𝑂</m:t>
                  </m:r>
                </m:e>
                <m:sub>
                  <m:r>
                    <a:rPr lang="en-US" sz="1700" b="0" i="1" kern="1200" smtClean="0">
                      <a:latin typeface="Cambria Math" panose="02040503050406030204" pitchFamily="18" charset="0"/>
                    </a:rPr>
                    <m:t>𝑖</m:t>
                  </m:r>
                </m:sub>
              </m:sSub>
              <m:r>
                <a:rPr lang="en-US" sz="1700" b="0" i="1" kern="1200" smtClean="0">
                  <a:latin typeface="Cambria Math" panose="02040503050406030204" pitchFamily="18" charset="0"/>
                </a:rPr>
                <m:t>(</m:t>
              </m:r>
              <m:sSubSup>
                <m:sSubSupPr>
                  <m:ctrlPr>
                    <a:rPr lang="en-US" sz="1700" i="1" kern="1200" smtClean="0">
                      <a:latin typeface="Cambria Math" panose="02040503050406030204" pitchFamily="18" charset="0"/>
                    </a:rPr>
                  </m:ctrlPr>
                </m:sSubSupPr>
                <m:e>
                  <m:r>
                    <a:rPr lang="en-US" sz="170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𝜎</m:t>
                  </m:r>
                </m:e>
                <m:sub>
                  <m:r>
                    <a:rPr lang="en-US" sz="1700" b="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𝑖</m:t>
                  </m:r>
                </m:sub>
                <m:sup>
                  <m:r>
                    <a:rPr lang="en-US" sz="1700" b="0" i="1" kern="1200" smtClean="0">
                      <a:latin typeface="Cambria Math" panose="02040503050406030204" pitchFamily="18" charset="0"/>
                    </a:rPr>
                    <m:t>𝑓</m:t>
                  </m:r>
                </m:sup>
              </m:sSubSup>
              <m:r>
                <a:rPr lang="en-US" sz="17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1700" kern="1200" dirty="0"/>
            <a:t> </a:t>
          </a:r>
          <a:endParaRPr lang="en-IN" sz="1700" kern="1200" dirty="0"/>
        </a:p>
      </dsp:txBody>
      <dsp:txXfrm>
        <a:off x="4028752" y="204193"/>
        <a:ext cx="1873335" cy="1096705"/>
      </dsp:txXfrm>
    </dsp:sp>
    <dsp:sp modelId="{782A4D68-D12C-4AA1-AE58-CEAF8E69E5FF}">
      <dsp:nvSpPr>
        <dsp:cNvPr id="0" name=""/>
        <dsp:cNvSpPr/>
      </dsp:nvSpPr>
      <dsp:spPr>
        <a:xfrm rot="5412261">
          <a:off x="7027052" y="1617575"/>
          <a:ext cx="2493273" cy="17474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6D615-5463-4A26-9CC8-37D4F47AC8E2}">
      <dsp:nvSpPr>
        <dsp:cNvPr id="0" name=""/>
        <dsp:cNvSpPr/>
      </dsp:nvSpPr>
      <dsp:spPr>
        <a:xfrm>
          <a:off x="7886462" y="170073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Survey agent-j’s  Neighborhood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7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700" b="0" i="1" kern="1200" smtClean="0">
                      <a:latin typeface="Cambria Math" panose="02040503050406030204" pitchFamily="18" charset="0"/>
                    </a:rPr>
                    <m:t>𝑂</m:t>
                  </m:r>
                </m:e>
                <m:sub>
                  <m:r>
                    <a:rPr lang="en-US" sz="1700" b="0" i="1" kern="1200" smtClean="0">
                      <a:latin typeface="Cambria Math" panose="02040503050406030204" pitchFamily="18" charset="0"/>
                    </a:rPr>
                    <m:t>𝑗</m:t>
                  </m:r>
                </m:sub>
              </m:sSub>
              <m:r>
                <a:rPr lang="en-US" sz="1700" b="0" i="1" kern="1200" smtClean="0">
                  <a:latin typeface="Cambria Math" panose="02040503050406030204" pitchFamily="18" charset="0"/>
                </a:rPr>
                <m:t>(</m:t>
              </m:r>
              <m:sSubSup>
                <m:sSubSupPr>
                  <m:ctrlPr>
                    <a:rPr lang="en-US" sz="1700" i="1" kern="1200" smtClean="0">
                      <a:latin typeface="Cambria Math" panose="02040503050406030204" pitchFamily="18" charset="0"/>
                    </a:rPr>
                  </m:ctrlPr>
                </m:sSubSupPr>
                <m:e>
                  <m:r>
                    <a:rPr lang="en-US" sz="170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𝜎</m:t>
                  </m:r>
                </m:e>
                <m:sub>
                  <m:r>
                    <a:rPr lang="en-US" sz="1700" b="0" i="1" kern="120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m:t>𝑗</m:t>
                  </m:r>
                </m:sub>
                <m:sup>
                  <m:r>
                    <a:rPr lang="en-US" sz="1700" b="0" i="1" kern="1200" smtClean="0">
                      <a:latin typeface="Cambria Math" panose="02040503050406030204" pitchFamily="18" charset="0"/>
                    </a:rPr>
                    <m:t>𝑓</m:t>
                  </m:r>
                </m:sup>
              </m:sSubSup>
              <m:r>
                <a:rPr lang="en-US" sz="1700" b="0" i="1" kern="1200" smtClean="0">
                  <a:latin typeface="Cambria Math" panose="02040503050406030204" pitchFamily="18" charset="0"/>
                </a:rPr>
                <m:t>)</m:t>
              </m:r>
            </m:oMath>
          </a14:m>
          <a:r>
            <a:rPr lang="en-US" sz="1700" kern="1200" dirty="0"/>
            <a:t> </a:t>
          </a:r>
          <a:endParaRPr lang="en-IN" sz="1700" kern="1200" dirty="0"/>
        </a:p>
      </dsp:txBody>
      <dsp:txXfrm>
        <a:off x="7920582" y="204193"/>
        <a:ext cx="1873335" cy="1096705"/>
      </dsp:txXfrm>
    </dsp:sp>
    <dsp:sp modelId="{656087FC-D265-4D37-A536-4B3098C0546A}">
      <dsp:nvSpPr>
        <dsp:cNvPr id="0" name=""/>
        <dsp:cNvSpPr/>
      </dsp:nvSpPr>
      <dsp:spPr>
        <a:xfrm>
          <a:off x="7877570" y="2670046"/>
          <a:ext cx="1941575" cy="11649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Compute Switching Probability and Assimilate </a:t>
          </a:r>
        </a:p>
      </dsp:txBody>
      <dsp:txXfrm>
        <a:off x="7911690" y="2704166"/>
        <a:ext cx="1873335" cy="10967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5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30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37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24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7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39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6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63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8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7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2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7945-0D29-A53A-8636-9D08A0603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b="1" dirty="0"/>
              <a:t>Cultural Dissemination: An</a:t>
            </a:r>
            <a:br>
              <a:rPr lang="en-IN" sz="4400" b="1" dirty="0"/>
            </a:br>
            <a:r>
              <a:rPr lang="en-IN" sz="4400" b="1" dirty="0"/>
              <a:t>Agent-Based Model with Social</a:t>
            </a:r>
            <a:br>
              <a:rPr lang="en-IN" sz="4400" b="1" dirty="0"/>
            </a:br>
            <a:r>
              <a:rPr lang="en-IN" sz="4400" b="1" dirty="0"/>
              <a:t>Influence </a:t>
            </a:r>
            <a:r>
              <a:rPr lang="en-IN" sz="4400" dirty="0"/>
              <a:t>and Extended Interaction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9DCF3-E525-9500-8A4C-114F9CBC9D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Based on: </a:t>
            </a:r>
            <a:r>
              <a:rPr lang="en-US" i="1" dirty="0"/>
              <a:t>Cultural Dissemination: An Agent-Based Model with Social Influence (JASSS 2021)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9244B-C3C5-8329-3A9A-4AD17838005E}"/>
              </a:ext>
            </a:extLst>
          </p:cNvPr>
          <p:cNvSpPr txBox="1"/>
          <p:nvPr/>
        </p:nvSpPr>
        <p:spPr>
          <a:xfrm>
            <a:off x="7487293" y="4997303"/>
            <a:ext cx="2984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MOTIKI VENKATA SRIRAJ</a:t>
            </a:r>
          </a:p>
          <a:p>
            <a:r>
              <a:rPr lang="en-US" dirty="0"/>
              <a:t>SC25M062</a:t>
            </a:r>
          </a:p>
          <a:p>
            <a:r>
              <a:rPr lang="en-US" dirty="0"/>
              <a:t>M.TECH - DSP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24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2281-C8FF-07FD-BA29-14D0BFED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1"/>
            <a:ext cx="10058400" cy="1326413"/>
          </a:xfrm>
        </p:spPr>
        <p:txBody>
          <a:bodyPr>
            <a:normAutofit/>
          </a:bodyPr>
          <a:lstStyle/>
          <a:p>
            <a:r>
              <a:rPr lang="en-US" sz="3200" dirty="0"/>
              <a:t>Why Study Cultural Dissemination?</a:t>
            </a:r>
            <a:endParaRPr lang="en-IN" sz="32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B0F96A3-3F96-E7D3-9D56-87FE8A16D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975" y="1979720"/>
            <a:ext cx="10058400" cy="41924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Spread</a:t>
            </a:r>
          </a:p>
          <a:p>
            <a:pPr lvl="1"/>
            <a:r>
              <a:rPr lang="en-US" sz="2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Ideas, opinions and cultural traits propagate through societies via interactions</a:t>
            </a:r>
            <a:endParaRPr lang="en-US" sz="2400" b="1" dirty="0">
              <a:solidFill>
                <a:srgbClr val="111C3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r>
              <a:rPr lang="en-US" sz="28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Influence</a:t>
            </a:r>
          </a:p>
          <a:p>
            <a:pPr lvl="1"/>
            <a:r>
              <a:rPr lang="en-US" sz="2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context shapes whether change occurs or not</a:t>
            </a:r>
            <a:endParaRPr lang="en-US" sz="2400" dirty="0"/>
          </a:p>
          <a:p>
            <a:r>
              <a:rPr lang="en-US" sz="28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Parallels</a:t>
            </a:r>
            <a:endParaRPr lang="en-US" sz="2800" dirty="0"/>
          </a:p>
          <a:p>
            <a:pPr lvl="1"/>
            <a:r>
              <a:rPr lang="en-US" sz="24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Polarization, echo chambers, stubbornness.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5168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D25A-8668-F0AE-B206-DF8BCB918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The Axelrod Model (1997)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6CCE-E128-BEE7-64A7-7DDD9FAC3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principles: Homophily + Assimilation → Absorbing states</a:t>
            </a:r>
          </a:p>
          <a:p>
            <a:endParaRPr lang="en-US" sz="2600" b="1" dirty="0"/>
          </a:p>
          <a:p>
            <a:r>
              <a:rPr lang="en-US" sz="26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Homophily</a:t>
            </a:r>
            <a:r>
              <a:rPr lang="en-US" sz="2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similar neighbors interact</a:t>
            </a:r>
            <a:endParaRPr lang="en-IN" sz="2600" dirty="0"/>
          </a:p>
          <a:p>
            <a:r>
              <a:rPr lang="en-US" sz="26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Assimilation</a:t>
            </a:r>
            <a:r>
              <a:rPr lang="en-US" sz="2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when agents interact, one adopts the other's trait on a random unshared feature</a:t>
            </a:r>
          </a:p>
          <a:p>
            <a:r>
              <a:rPr lang="en-US" sz="26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state</a:t>
            </a:r>
            <a:r>
              <a:rPr lang="en-US" sz="26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no further interaction possible between agents — the system "freezes"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99285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5BC5-BC6B-AE0A-4ED1-FC4A2DEA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Axelrod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F399F9-E2D8-2ECD-E9D0-58080E3F1B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5908001" cy="4050792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3A4A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Agents on 2D grid, each with F features, each feature taking one of Q traits</a:t>
                </a: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is the interaction probability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 is the overlap or similarity.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F399F9-E2D8-2ECD-E9D0-58080E3F1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5908001" cy="4050792"/>
              </a:xfrm>
              <a:blipFill>
                <a:blip r:embed="rId2"/>
                <a:stretch>
                  <a:fillRect l="-516" t="-1504" r="-6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D4B9E87-4006-1007-90D8-84C50362A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044" y="2647974"/>
            <a:ext cx="3743900" cy="36352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B106A8-68AA-8691-0DD9-AE8B0BB2E641}"/>
              </a:ext>
            </a:extLst>
          </p:cNvPr>
          <p:cNvSpPr txBox="1"/>
          <p:nvPr/>
        </p:nvSpPr>
        <p:spPr>
          <a:xfrm>
            <a:off x="7291044" y="2278642"/>
            <a:ext cx="3922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A5B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Neumann Neighborhood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C34A16-BB83-FDE7-F237-074D6052F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530" y="2717101"/>
            <a:ext cx="2038635" cy="962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AF28A5-60EF-0F16-1C80-08B488FFC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4530" y="3679260"/>
            <a:ext cx="1810003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55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C58B-4C4F-C5D2-10D8-DB58EA2E1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the Axelrod Model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F9AF0-F666-AD9D-390F-BAB2FA87A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 Interaction Only</a:t>
            </a:r>
          </a:p>
          <a:p>
            <a:endParaRPr lang="en-US" sz="1100" dirty="0"/>
          </a:p>
          <a:p>
            <a:r>
              <a:rPr lang="en-US" sz="2600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Neighborhood Influence</a:t>
            </a:r>
          </a:p>
          <a:p>
            <a:endParaRPr lang="en-US" sz="1100" dirty="0"/>
          </a:p>
          <a:p>
            <a:r>
              <a:rPr lang="en-IN" sz="2600" dirty="0"/>
              <a:t>Mono-culture as grid size increases</a:t>
            </a:r>
          </a:p>
          <a:p>
            <a:endParaRPr lang="en-IN" sz="1000" dirty="0"/>
          </a:p>
          <a:p>
            <a:r>
              <a:rPr lang="en-IN" sz="2600" dirty="0"/>
              <a:t>One-to-one communication</a:t>
            </a:r>
          </a:p>
          <a:p>
            <a:endParaRPr lang="en-IN" sz="1000" dirty="0"/>
          </a:p>
          <a:p>
            <a:r>
              <a:rPr lang="en-IN" sz="2600" dirty="0"/>
              <a:t>Heterogeneity also depends on ratio of Q/F</a:t>
            </a:r>
          </a:p>
        </p:txBody>
      </p:sp>
    </p:spTree>
    <p:extLst>
      <p:ext uri="{BB962C8B-B14F-4D97-AF65-F5344CB8AC3E}">
        <p14:creationId xmlns:p14="http://schemas.microsoft.com/office/powerpoint/2010/main" val="330786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F198-E484-7831-6F06-DED1919B4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BF45F1-B64C-93EE-6EE6-E5082C1E74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8549172"/>
              </p:ext>
            </p:extLst>
          </p:nvPr>
        </p:nvGraphicFramePr>
        <p:xfrm>
          <a:off x="1063752" y="2093976"/>
          <a:ext cx="4962525" cy="3100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5ACD9C1-046A-967F-DB9A-AA070BB270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754793"/>
              </p:ext>
            </p:extLst>
          </p:nvPr>
        </p:nvGraphicFramePr>
        <p:xfrm>
          <a:off x="6291262" y="20939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4650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1D72-765C-E6E5-C24C-9256E7E3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Influence Model (Baseline)</a:t>
            </a:r>
            <a:endParaRPr lang="en-IN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E8450A-435D-C4D6-68C1-FFBD0325B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/>
                  <a:t>Key Modifications:</a:t>
                </a:r>
              </a:p>
              <a:p>
                <a:pPr lvl="1"/>
                <a:r>
                  <a:rPr lang="en-US" sz="2400" dirty="0">
                    <a:solidFill>
                      <a:srgbClr val="3A4A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local consensus </a:t>
                </a:r>
                <a:r>
                  <a:rPr lang="en-US" sz="2400" dirty="0" err="1">
                    <a:solidFill>
                      <a:srgbClr val="3A4A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w.r.t.</a:t>
                </a:r>
                <a:r>
                  <a:rPr lang="en-US" sz="2400" dirty="0">
                    <a:solidFill>
                      <a:srgbClr val="3A4A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neighborhood of agent-</a:t>
                </a:r>
                <a:r>
                  <a:rPr lang="en-US" sz="2400" dirty="0" err="1">
                    <a:solidFill>
                      <a:srgbClr val="3A4A6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</a:t>
                </a:r>
                <a:endParaRPr lang="en-US" sz="2600" dirty="0"/>
              </a:p>
              <a:p>
                <a:r>
                  <a:rPr lang="en-US" sz="2800" dirty="0"/>
                  <a:t>Switching Probability</a:t>
                </a:r>
              </a:p>
              <a:p>
                <a:endParaRPr lang="en-US" sz="2800" dirty="0"/>
              </a:p>
              <a:p>
                <a:endParaRPr lang="en-US" sz="28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</a:t>
                </a:r>
                <a:r>
                  <a:rPr lang="en-IN" dirty="0"/>
                  <a:t>the occurrence of trait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marL="274320" lvl="1" indent="0">
                  <a:buNone/>
                </a:pPr>
                <a:endParaRPr lang="en-US" sz="2800" dirty="0">
                  <a:solidFill>
                    <a:srgbClr val="3A4A6B"/>
                  </a:solidFill>
                  <a:latin typeface="Calibri" pitchFamily="34" charset="0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E8450A-435D-C4D6-68C1-FFBD0325B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8" t="-2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F4A370F-02B9-C822-A93B-8E748FEA8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8128" y="3534717"/>
            <a:ext cx="3143689" cy="1066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890F3-23DC-BB37-250B-ED2E1B023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957" y="4629098"/>
            <a:ext cx="2638793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7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603AD-1CB6-7A01-0FEE-B0B28DB6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CAC5201-62FA-A0D5-D953-FC192FAA46F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2799270"/>
                  </p:ext>
                </p:extLst>
              </p:nvPr>
            </p:nvGraphicFramePr>
            <p:xfrm>
              <a:off x="719091" y="2093976"/>
              <a:ext cx="10409284" cy="40782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CAC5201-62FA-A0D5-D953-FC192FAA46F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2799270"/>
                  </p:ext>
                </p:extLst>
              </p:nvPr>
            </p:nvGraphicFramePr>
            <p:xfrm>
              <a:off x="719091" y="2093976"/>
              <a:ext cx="10409284" cy="40782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7368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10BE-CFB2-4CA1-D6FC-D92B554B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751E4-269B-89D9-68B2-2B72D781AC0A}"/>
              </a:ext>
            </a:extLst>
          </p:cNvPr>
          <p:cNvSpPr txBox="1"/>
          <p:nvPr/>
        </p:nvSpPr>
        <p:spPr>
          <a:xfrm>
            <a:off x="1260629" y="2093975"/>
            <a:ext cx="5264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Simulation Parameters: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Grid Size - </a:t>
            </a:r>
            <a:r>
              <a:rPr lang="en-US" sz="2400" dirty="0">
                <a:latin typeface="Calibri" pitchFamily="34" charset="0"/>
                <a:cs typeface="Calibri" pitchFamily="34" charset="-120"/>
              </a:rPr>
              <a:t>[5, 10, 15, 20, 25,30]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Features (F) –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Traits per Feature (Q) –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Repetitions -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Termination -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Absorbing state reached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DD49D-783E-E60F-EF72-16419EF81409}"/>
              </a:ext>
            </a:extLst>
          </p:cNvPr>
          <p:cNvSpPr txBox="1"/>
          <p:nvPr/>
        </p:nvSpPr>
        <p:spPr>
          <a:xfrm>
            <a:off x="6525087" y="2093974"/>
            <a:ext cx="5264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Metrics Tracked: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Number of frozen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Largest zone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Events to absorption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Interactions to absorption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Zone size distribution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72117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60B6-5C92-F15A-64A9-87DDF387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1385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Replication Results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84AA19-8C6A-07A3-6983-7A00D8CBA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752715"/>
              </p:ext>
            </p:extLst>
          </p:nvPr>
        </p:nvGraphicFramePr>
        <p:xfrm>
          <a:off x="1063751" y="5335734"/>
          <a:ext cx="924803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4019">
                  <a:extLst>
                    <a:ext uri="{9D8B030D-6E8A-4147-A177-3AD203B41FA5}">
                      <a16:colId xmlns:a16="http://schemas.microsoft.com/office/drawing/2014/main" val="1173762877"/>
                    </a:ext>
                  </a:extLst>
                </a:gridCol>
                <a:gridCol w="4624019">
                  <a:extLst>
                    <a:ext uri="{9D8B030D-6E8A-4147-A177-3AD203B41FA5}">
                      <a16:colId xmlns:a16="http://schemas.microsoft.com/office/drawing/2014/main" val="3233431491"/>
                    </a:ext>
                  </a:extLst>
                </a:gridCol>
              </a:tblGrid>
              <a:tr h="315919">
                <a:tc>
                  <a:txBody>
                    <a:bodyPr/>
                    <a:lstStyle/>
                    <a:p>
                      <a:r>
                        <a:rPr lang="en-US" dirty="0"/>
                        <a:t>SI Model needs ~6x fewer interactions to absorption 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Assumption: SI model avoids monoculture entirely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6222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F5B546-CB19-93B9-F0BB-19DF60EF7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466871"/>
              </p:ext>
            </p:extLst>
          </p:nvPr>
        </p:nvGraphicFramePr>
        <p:xfrm>
          <a:off x="1063748" y="1813991"/>
          <a:ext cx="9248036" cy="3230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009">
                  <a:extLst>
                    <a:ext uri="{9D8B030D-6E8A-4147-A177-3AD203B41FA5}">
                      <a16:colId xmlns:a16="http://schemas.microsoft.com/office/drawing/2014/main" val="3364157888"/>
                    </a:ext>
                  </a:extLst>
                </a:gridCol>
                <a:gridCol w="2312009">
                  <a:extLst>
                    <a:ext uri="{9D8B030D-6E8A-4147-A177-3AD203B41FA5}">
                      <a16:colId xmlns:a16="http://schemas.microsoft.com/office/drawing/2014/main" val="1753755288"/>
                    </a:ext>
                  </a:extLst>
                </a:gridCol>
                <a:gridCol w="2312009">
                  <a:extLst>
                    <a:ext uri="{9D8B030D-6E8A-4147-A177-3AD203B41FA5}">
                      <a16:colId xmlns:a16="http://schemas.microsoft.com/office/drawing/2014/main" val="3298021159"/>
                    </a:ext>
                  </a:extLst>
                </a:gridCol>
                <a:gridCol w="2312009">
                  <a:extLst>
                    <a:ext uri="{9D8B030D-6E8A-4147-A177-3AD203B41FA5}">
                      <a16:colId xmlns:a16="http://schemas.microsoft.com/office/drawing/2014/main" val="1147829451"/>
                    </a:ext>
                  </a:extLst>
                </a:gridCol>
              </a:tblGrid>
              <a:tr h="921399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Axelrod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Influence Model (Paper)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Influence Model (Simulations)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461"/>
                  </a:ext>
                </a:extLst>
              </a:tr>
              <a:tr h="3736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frozen zones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627168"/>
                  </a:ext>
                </a:extLst>
              </a:tr>
              <a:tr h="6449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events to 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23.5M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4.63M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701096"/>
                  </a:ext>
                </a:extLst>
              </a:tr>
              <a:tr h="6449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interactions to 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1.8M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375K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280K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549225"/>
                  </a:ext>
                </a:extLst>
              </a:tr>
              <a:tr h="6449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zones per 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~3.8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27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9E1DC5-992E-CC5F-E4FB-72BD70BA8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18805"/>
              </p:ext>
            </p:extLst>
          </p:nvPr>
        </p:nvGraphicFramePr>
        <p:xfrm>
          <a:off x="1063747" y="1320818"/>
          <a:ext cx="924803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8035">
                  <a:extLst>
                    <a:ext uri="{9D8B030D-6E8A-4147-A177-3AD203B41FA5}">
                      <a16:colId xmlns:a16="http://schemas.microsoft.com/office/drawing/2014/main" val="315981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Social Influence vs Axelrod – 30x30 grid, F=5, Q=10, 100 runs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58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787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CCB8B-58AE-F97D-9948-F2A7EE6E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46514"/>
          </a:xfrm>
        </p:spPr>
        <p:txBody>
          <a:bodyPr/>
          <a:lstStyle/>
          <a:p>
            <a:r>
              <a:rPr lang="en-US" dirty="0"/>
              <a:t>Observations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39BEBB-535A-752B-759A-EEDD555D8D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1735176"/>
              </p:ext>
            </p:extLst>
          </p:nvPr>
        </p:nvGraphicFramePr>
        <p:xfrm>
          <a:off x="1069848" y="222365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760A66-25F4-CCA7-A7A5-5CA0AFCEE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37662"/>
              </p:ext>
            </p:extLst>
          </p:nvPr>
        </p:nvGraphicFramePr>
        <p:xfrm>
          <a:off x="5697896" y="222365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21502D4-4F9F-9609-2DDC-B8C6B5BD9E3A}"/>
              </a:ext>
            </a:extLst>
          </p:cNvPr>
          <p:cNvSpPr txBox="1"/>
          <p:nvPr/>
        </p:nvSpPr>
        <p:spPr>
          <a:xfrm>
            <a:off x="1125896" y="1736969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Axelrod Model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69921-AC9B-0693-374F-EB6AA00A1ED7}"/>
              </a:ext>
            </a:extLst>
          </p:cNvPr>
          <p:cNvSpPr txBox="1"/>
          <p:nvPr/>
        </p:nvSpPr>
        <p:spPr>
          <a:xfrm>
            <a:off x="6096000" y="1736969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 Model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73C117-FDFA-B887-7BB5-EF3102B60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4010"/>
              </p:ext>
            </p:extLst>
          </p:nvPr>
        </p:nvGraphicFramePr>
        <p:xfrm>
          <a:off x="1577848" y="4966856"/>
          <a:ext cx="8128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431035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 the grid size increases the number of frozen zones decreases in Axelrod model while it increases in SI model.</a:t>
                      </a:r>
                      <a:endParaRPr lang="en-IN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927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982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3623-C5A0-E78B-9C0A-21D3A641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00285"/>
          </a:xfrm>
        </p:spPr>
        <p:txBody>
          <a:bodyPr>
            <a:normAutofit/>
          </a:bodyPr>
          <a:lstStyle/>
          <a:p>
            <a:r>
              <a:rPr lang="en-IN" sz="4400" b="1" dirty="0"/>
              <a:t>Heterogeneity and lattice size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9116D-BAEE-A366-FD21-569307BCE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82064"/>
            <a:ext cx="4416553" cy="4050792"/>
          </a:xfrm>
        </p:spPr>
        <p:txBody>
          <a:bodyPr/>
          <a:lstStyle/>
          <a:p>
            <a:r>
              <a:rPr lang="en-IN" dirty="0"/>
              <a:t>100 trials were </a:t>
            </a:r>
            <a:r>
              <a:rPr lang="en-US" dirty="0"/>
              <a:t>conducted for each lattice width from 2 to 22; </a:t>
            </a:r>
          </a:p>
          <a:p>
            <a:r>
              <a:rPr lang="en-US" dirty="0"/>
              <a:t>50 trials each for lattice widths from 24 to 40; </a:t>
            </a:r>
          </a:p>
          <a:p>
            <a:r>
              <a:rPr lang="en-US" dirty="0"/>
              <a:t>20 trials for each width from 50 to 100; </a:t>
            </a:r>
          </a:p>
          <a:p>
            <a:r>
              <a:rPr lang="en-US" dirty="0"/>
              <a:t>10 trials for lattice width 120. </a:t>
            </a:r>
          </a:p>
          <a:p>
            <a:r>
              <a:rPr lang="en-US" dirty="0"/>
              <a:t>All trials were conducted with F = 5 features and Q = 10 trait values, until an absorbing state was reached.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BCBCC6-E6BA-6CA7-C677-9FCEF517B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1882064"/>
            <a:ext cx="5894772" cy="33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61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A205-E20F-72D2-1E44-252D881C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44673"/>
          </a:xfrm>
        </p:spPr>
        <p:txBody>
          <a:bodyPr/>
          <a:lstStyle/>
          <a:p>
            <a:r>
              <a:rPr lang="en-US" dirty="0"/>
              <a:t>Influencing Factors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1F386-A5E4-02A1-0F50-58A82E9C9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32682"/>
            <a:ext cx="10058400" cy="2803302"/>
          </a:xfrm>
        </p:spPr>
        <p:txBody>
          <a:bodyPr>
            <a:normAutofit/>
          </a:bodyPr>
          <a:lstStyle/>
          <a:p>
            <a:r>
              <a:rPr lang="en-US" dirty="0"/>
              <a:t>Dominant Regions Effect:</a:t>
            </a:r>
          </a:p>
          <a:p>
            <a:pPr lvl="1"/>
            <a:r>
              <a:rPr lang="en-US" dirty="0"/>
              <a:t>Favoring homogeneity as larger cultural regions absorb smaller cultural regions during interactions</a:t>
            </a:r>
          </a:p>
          <a:p>
            <a:r>
              <a:rPr lang="en-US" dirty="0"/>
              <a:t>Multiplicity Effect:</a:t>
            </a:r>
          </a:p>
          <a:p>
            <a:pPr lvl="1"/>
            <a:r>
              <a:rPr lang="en-US" dirty="0"/>
              <a:t>Favoring heterogeneity as lattice size is increased</a:t>
            </a:r>
          </a:p>
          <a:p>
            <a:r>
              <a:rPr lang="en-US" dirty="0"/>
              <a:t>Zone Robustness Effect:</a:t>
            </a:r>
          </a:p>
          <a:p>
            <a:pPr lvl="1"/>
            <a:r>
              <a:rPr lang="en-US" dirty="0"/>
              <a:t>SI hardens zone boundaries 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— agents surrounded by same-trait neighbors are much less likely to switch</a:t>
            </a:r>
            <a:endParaRPr lang="en-IN" dirty="0"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5518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9CC6-9438-6175-6779-C0620C28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58241"/>
          </a:xfrm>
        </p:spPr>
        <p:txBody>
          <a:bodyPr/>
          <a:lstStyle/>
          <a:p>
            <a:r>
              <a:rPr lang="en-US" dirty="0"/>
              <a:t>Behavior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3328F-D36F-F98C-0383-B034126FE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4172505"/>
            <a:ext cx="10058400" cy="923278"/>
          </a:xfrm>
        </p:spPr>
        <p:txBody>
          <a:bodyPr/>
          <a:lstStyle/>
          <a:p>
            <a:r>
              <a:rPr lang="en-US" dirty="0"/>
              <a:t>Simulations resulted in a mono-culture in 75% of the runs for the Axelrod Model and in 90% of the runs for the Social Influence Model.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F1A30-699A-1283-54D4-8999412E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169" y="1740766"/>
            <a:ext cx="7630590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23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1CD9B-B046-091D-9F86-F100A8D94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124E0-63A3-DC18-F440-64E6A1CF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44673"/>
          </a:xfrm>
        </p:spPr>
        <p:txBody>
          <a:bodyPr/>
          <a:lstStyle/>
          <a:p>
            <a:r>
              <a:rPr lang="en-US" dirty="0"/>
              <a:t>Highlights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3C422-CAA4-7A90-E11B-BA6201F6E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846555"/>
            <a:ext cx="10058400" cy="1882066"/>
          </a:xfrm>
        </p:spPr>
        <p:txBody>
          <a:bodyPr>
            <a:normAutofit/>
          </a:bodyPr>
          <a:lstStyle/>
          <a:p>
            <a:r>
              <a:rPr lang="en-US" dirty="0"/>
              <a:t>Assumption: Combination of  zone robustness with multiplicity effect will lead to more diversity  in SI Model.</a:t>
            </a:r>
          </a:p>
          <a:p>
            <a:pPr marL="0" indent="0">
              <a:buNone/>
            </a:pPr>
            <a:endParaRPr lang="en-IN" sz="1000" dirty="0"/>
          </a:p>
          <a:p>
            <a:r>
              <a:rPr lang="en-IN" dirty="0"/>
              <a:t>Observations: Dominant regions effect is stronger in the SI model </a:t>
            </a:r>
            <a:r>
              <a:rPr lang="en-US" dirty="0"/>
              <a:t>(mono-culture in 90% of test runs vs 75% for Axelrod)</a:t>
            </a:r>
            <a:r>
              <a:rPr lang="en-IN" dirty="0"/>
              <a:t> .</a:t>
            </a:r>
          </a:p>
          <a:p>
            <a:endParaRPr lang="en-IN" sz="1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6CB397-75FB-C89E-DFBA-69A4F7B8A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692817"/>
              </p:ext>
            </p:extLst>
          </p:nvPr>
        </p:nvGraphicFramePr>
        <p:xfrm>
          <a:off x="1063752" y="3728621"/>
          <a:ext cx="10058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3833573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dirty="0"/>
                        <a:t>The more you care about what your neighbors think, the more diverse society becomes in the long run.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dirty="0"/>
                        <a:t>The boundary dynamics between two competing cultural regions is modeled as a random walk. The probability that a region absorbs another scales directly with relative size.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608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465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1D18-5414-7FBC-339E-AEF05C8F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BF45F1-B64C-93EE-6EE6-E5082C1E74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6531080"/>
              </p:ext>
            </p:extLst>
          </p:nvPr>
        </p:nvGraphicFramePr>
        <p:xfrm>
          <a:off x="1063752" y="2093976"/>
          <a:ext cx="4962525" cy="3100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5ACD9C1-046A-967F-DB9A-AA070BB270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6297689"/>
              </p:ext>
            </p:extLst>
          </p:nvPr>
        </p:nvGraphicFramePr>
        <p:xfrm>
          <a:off x="5892927" y="2093976"/>
          <a:ext cx="5229225" cy="2890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39651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7962-37DB-DA9C-44A2-D77F0397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231294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ea typeface="Cambria" pitchFamily="34" charset="-122"/>
                <a:cs typeface="Cambria" pitchFamily="34" charset="-120"/>
              </a:rPr>
              <a:t>Extension 1 –</a:t>
            </a:r>
            <a:br>
              <a:rPr lang="en-US" sz="5400" b="1" u="sng" dirty="0">
                <a:solidFill>
                  <a:schemeClr val="tx1"/>
                </a:solidFill>
                <a:ea typeface="Cambria" pitchFamily="34" charset="-122"/>
                <a:cs typeface="Cambria" pitchFamily="34" charset="-120"/>
              </a:rPr>
            </a:br>
            <a:br>
              <a:rPr lang="en-US" sz="5400" b="1" dirty="0">
                <a:solidFill>
                  <a:schemeClr val="tx1"/>
                </a:solidFill>
                <a:ea typeface="Cambria" pitchFamily="34" charset="-122"/>
                <a:cs typeface="Cambria" pitchFamily="34" charset="-120"/>
              </a:rPr>
            </a:br>
            <a:r>
              <a:rPr lang="en-US" sz="5400" b="1" dirty="0">
                <a:solidFill>
                  <a:schemeClr val="tx1"/>
                </a:solidFill>
                <a:ea typeface="Cambria" pitchFamily="34" charset="-122"/>
                <a:cs typeface="Cambria" pitchFamily="34" charset="-120"/>
              </a:rPr>
              <a:t>Modified Social Influence: Dual-Support Rule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7AD30-1226-E1CF-D1BC-BE2A5551E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agents-</a:t>
            </a:r>
            <a:r>
              <a:rPr lang="en-US" dirty="0" err="1"/>
              <a:t>i</a:t>
            </a:r>
            <a:r>
              <a:rPr lang="en-US" dirty="0"/>
              <a:t> consult both neighborhoods before deciding?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016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944F-4640-D1B5-8672-668AFDD25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89061"/>
          </a:xfrm>
        </p:spPr>
        <p:txBody>
          <a:bodyPr/>
          <a:lstStyle/>
          <a:p>
            <a:r>
              <a:rPr lang="en-US" dirty="0"/>
              <a:t>Inspiration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B905A0-15B1-46F1-94B6-AC928F732B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6662940"/>
                  </p:ext>
                </p:extLst>
              </p:nvPr>
            </p:nvGraphicFramePr>
            <p:xfrm>
              <a:off x="1069848" y="1565980"/>
              <a:ext cx="10213669" cy="26558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3669">
                      <a:extLst>
                        <a:ext uri="{9D8B030D-6E8A-4147-A177-3AD203B41FA5}">
                          <a16:colId xmlns:a16="http://schemas.microsoft.com/office/drawing/2014/main" val="1696195337"/>
                        </a:ext>
                      </a:extLst>
                    </a:gridCol>
                  </a:tblGrid>
                  <a:tr h="1043126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Original Rule:</a:t>
                          </a:r>
                          <a:endParaRPr lang="en-US" dirty="0"/>
                        </a:p>
                        <a:p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When agent-</a:t>
                          </a:r>
                          <a:r>
                            <a:rPr lang="en-US" dirty="0" err="1">
                              <a:solidFill>
                                <a:schemeClr val="bg1"/>
                              </a:solidFill>
                              <a:latin typeface="+mn-lt"/>
                            </a:rPr>
                            <a:t>i</a:t>
                          </a:r>
                          <a:r>
                            <a:rPr lang="en-US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 considers adopting trait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IN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from neighbour</a:t>
                          </a:r>
                          <a:r>
                            <a:rPr lang="en-US" sz="1800" dirty="0">
                              <a:solidFill>
                                <a:schemeClr val="bg1"/>
                              </a:solidFill>
                              <a:latin typeface="+mn-lt"/>
                              <a:ea typeface="Calibri" pitchFamily="34" charset="-122"/>
                              <a:cs typeface="Calibri" pitchFamily="34" charset="-120"/>
                            </a:rPr>
                            <a:t>j, it surveys only its own neighborhood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cs typeface="Calibri" pitchFamily="34" charset="-12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solidFill>
                                <a:schemeClr val="bg1"/>
                              </a:solidFill>
                              <a:latin typeface="+mn-lt"/>
                              <a:ea typeface="Calibri" pitchFamily="34" charset="-122"/>
                              <a:cs typeface="Calibri" pitchFamily="34" charset="-120"/>
                            </a:rPr>
                            <a:t>:</a:t>
                          </a:r>
                          <a:r>
                            <a:rPr lang="en-IN" dirty="0">
                              <a:solidFill>
                                <a:schemeClr val="bg1"/>
                              </a:solidFill>
                              <a:latin typeface="+mn-lt"/>
                            </a:rPr>
                            <a:t> </a:t>
                          </a:r>
                        </a:p>
                        <a:p>
                          <a:endParaRPr lang="en-IN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endParaRPr lang="en-IN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endParaRPr lang="en-IN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endParaRPr lang="en-IN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r>
                            <a:rPr lang="en-IN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Limitation: </a:t>
                          </a:r>
                          <a:r>
                            <a:rPr lang="en-US" sz="1800" i="0" dirty="0">
                              <a:solidFill>
                                <a:schemeClr val="bg1"/>
                              </a:solidFill>
                              <a:latin typeface="+mn-lt"/>
                              <a:ea typeface="Calibri" pitchFamily="34" charset="-122"/>
                              <a:cs typeface="Calibri" pitchFamily="34" charset="-120"/>
                            </a:rPr>
                            <a:t>Only agent-i's neighborhood matters. The social context of agent-j is completely ignored</a:t>
                          </a:r>
                          <a:endParaRPr lang="en-IN" i="0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2208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CB905A0-15B1-46F1-94B6-AC928F732B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06662940"/>
                  </p:ext>
                </p:extLst>
              </p:nvPr>
            </p:nvGraphicFramePr>
            <p:xfrm>
              <a:off x="1069848" y="1565980"/>
              <a:ext cx="10213669" cy="26558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13669">
                      <a:extLst>
                        <a:ext uri="{9D8B030D-6E8A-4147-A177-3AD203B41FA5}">
                          <a16:colId xmlns:a16="http://schemas.microsoft.com/office/drawing/2014/main" val="1696195337"/>
                        </a:ext>
                      </a:extLst>
                    </a:gridCol>
                  </a:tblGrid>
                  <a:tr h="265582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" t="-1144" r="-298" b="-36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20896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3D8A61-BDC4-162E-BE5B-84E455B1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088870"/>
              </p:ext>
            </p:extLst>
          </p:nvPr>
        </p:nvGraphicFramePr>
        <p:xfrm>
          <a:off x="1069848" y="4429957"/>
          <a:ext cx="10142649" cy="1384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2649">
                  <a:extLst>
                    <a:ext uri="{9D8B030D-6E8A-4147-A177-3AD203B41FA5}">
                      <a16:colId xmlns:a16="http://schemas.microsoft.com/office/drawing/2014/main" val="1696195337"/>
                    </a:ext>
                  </a:extLst>
                </a:gridCol>
              </a:tblGrid>
              <a:tr h="138491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Real world insights:</a:t>
                      </a:r>
                    </a:p>
                    <a:p>
                      <a:endParaRPr lang="en-US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person can change your mind if their community strongly agrees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Two-sided local consensus → more realistic social dynamics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20896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36F7C8D-5FC4-4639-A456-FFB4E724D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171" y="2365529"/>
            <a:ext cx="314368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58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92221-C70D-D709-DFA4-E446779E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51205"/>
          </a:xfrm>
        </p:spPr>
        <p:txBody>
          <a:bodyPr/>
          <a:lstStyle/>
          <a:p>
            <a:r>
              <a:rPr lang="en-US" dirty="0"/>
              <a:t>New Interaction Rule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19DBB65-A63D-AD39-A3FE-5E568AED7F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5724193"/>
                  </p:ext>
                </p:extLst>
              </p:nvPr>
            </p:nvGraphicFramePr>
            <p:xfrm>
              <a:off x="1069849" y="1891517"/>
              <a:ext cx="4842680" cy="3239775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{5C22544A-7EE6-4342-B048-85BDC9FD1C3A}</a:tableStyleId>
                  </a:tblPr>
                  <a:tblGrid>
                    <a:gridCol w="4842680">
                      <a:extLst>
                        <a:ext uri="{9D8B030D-6E8A-4147-A177-3AD203B41FA5}">
                          <a16:colId xmlns:a16="http://schemas.microsoft.com/office/drawing/2014/main" val="4292111156"/>
                        </a:ext>
                      </a:extLst>
                    </a:gridCol>
                  </a:tblGrid>
                  <a:tr h="3239775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Baseline:</a:t>
                          </a:r>
                        </a:p>
                        <a:p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p>
                                </m:sSub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p>
                                    </m:sSub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8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p>
                                    </m:sSub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dirty="0"/>
                        </a:p>
                        <a:p>
                          <a:endParaRPr lang="en-IN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US" sz="1800" i="1" dirty="0">
                              <a:solidFill>
                                <a:schemeClr val="bg1"/>
                              </a:solidFill>
                              <a:latin typeface="+mn-lt"/>
                              <a:ea typeface="Calibri" pitchFamily="34" charset="-122"/>
                              <a:cs typeface="Calibri" pitchFamily="34" charset="-120"/>
                            </a:rPr>
                            <a:t>Only agent i's neighborhood is considered.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pPr marL="0" indent="0">
                            <a:buNone/>
                          </a:pPr>
                          <a:r>
                            <a:rPr lang="en-US" sz="1800" i="1" dirty="0">
                              <a:solidFill>
                                <a:schemeClr val="bg1"/>
                              </a:solidFill>
                              <a:latin typeface="+mn-lt"/>
                              <a:ea typeface="Calibri" pitchFamily="34" charset="-122"/>
                              <a:cs typeface="Calibri" pitchFamily="34" charset="-120"/>
                            </a:rPr>
                            <a:t>Agent j's social context = ignored.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90418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19DBB65-A63D-AD39-A3FE-5E568AED7F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5724193"/>
                  </p:ext>
                </p:extLst>
              </p:nvPr>
            </p:nvGraphicFramePr>
            <p:xfrm>
              <a:off x="1069849" y="1891517"/>
              <a:ext cx="4842680" cy="3239775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{5C22544A-7EE6-4342-B048-85BDC9FD1C3A}</a:tableStyleId>
                  </a:tblPr>
                  <a:tblGrid>
                    <a:gridCol w="4842680">
                      <a:extLst>
                        <a:ext uri="{9D8B030D-6E8A-4147-A177-3AD203B41FA5}">
                          <a16:colId xmlns:a16="http://schemas.microsoft.com/office/drawing/2014/main" val="4292111156"/>
                        </a:ext>
                      </a:extLst>
                    </a:gridCol>
                  </a:tblGrid>
                  <a:tr h="32397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6" t="-940" r="-629" b="-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90418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6DA7CB9-6F60-1AF3-D56F-73B3589E60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6416393"/>
                  </p:ext>
                </p:extLst>
              </p:nvPr>
            </p:nvGraphicFramePr>
            <p:xfrm>
              <a:off x="6096000" y="1891517"/>
              <a:ext cx="4842680" cy="3239775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{5C22544A-7EE6-4342-B048-85BDC9FD1C3A}</a:tableStyleId>
                  </a:tblPr>
                  <a:tblGrid>
                    <a:gridCol w="4842680">
                      <a:extLst>
                        <a:ext uri="{9D8B030D-6E8A-4147-A177-3AD203B41FA5}">
                          <a16:colId xmlns:a16="http://schemas.microsoft.com/office/drawing/2014/main" val="4292111156"/>
                        </a:ext>
                      </a:extLst>
                    </a:gridCol>
                  </a:tblGrid>
                  <a:tr h="3239775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Extension 1:</a:t>
                          </a:r>
                        </a:p>
                        <a:p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p>
                                </m:sSubSup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p>
                                    </m:sSub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8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8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sz="1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sup>
                                    </m:sSub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IN" dirty="0"/>
                        </a:p>
                        <a:p>
                          <a:endParaRPr lang="en-IN" dirty="0"/>
                        </a:p>
                        <a:p>
                          <a:pPr marL="0" indent="0">
                            <a:buNone/>
                          </a:pPr>
                          <a:r>
                            <a:rPr lang="en-US" sz="1800" i="0" dirty="0">
                              <a:solidFill>
                                <a:schemeClr val="bg1"/>
                              </a:solidFill>
                              <a:latin typeface="+mn-lt"/>
                              <a:ea typeface="Calibri" pitchFamily="34" charset="-122"/>
                              <a:cs typeface="Calibri" pitchFamily="34" charset="-120"/>
                            </a:rPr>
                            <a:t>Both neighborhoods are considered.</a:t>
                          </a:r>
                          <a:endParaRPr lang="en-US" sz="1800" i="0" dirty="0">
                            <a:solidFill>
                              <a:schemeClr val="bg1"/>
                            </a:solidFill>
                            <a:latin typeface="+mn-lt"/>
                          </a:endParaRPr>
                        </a:p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90418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A6DA7CB9-6F60-1AF3-D56F-73B3589E605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6416393"/>
                  </p:ext>
                </p:extLst>
              </p:nvPr>
            </p:nvGraphicFramePr>
            <p:xfrm>
              <a:off x="6096000" y="1891517"/>
              <a:ext cx="4842680" cy="3239775"/>
            </p:xfrm>
            <a:graphic>
              <a:graphicData uri="http://schemas.openxmlformats.org/drawingml/2006/table">
                <a:tbl>
                  <a:tblPr firstRow="1" bandRow="1">
                    <a:effectLst/>
                    <a:tableStyleId>{5C22544A-7EE6-4342-B048-85BDC9FD1C3A}</a:tableStyleId>
                  </a:tblPr>
                  <a:tblGrid>
                    <a:gridCol w="4842680">
                      <a:extLst>
                        <a:ext uri="{9D8B030D-6E8A-4147-A177-3AD203B41FA5}">
                          <a16:colId xmlns:a16="http://schemas.microsoft.com/office/drawing/2014/main" val="4292111156"/>
                        </a:ext>
                      </a:extLst>
                    </a:gridCol>
                  </a:tblGrid>
                  <a:tr h="32397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2" t="-940" r="-503" b="-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90418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8947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D23E-6FC7-DD91-B1DB-690FF2F6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57737"/>
          </a:xfrm>
        </p:spPr>
        <p:txBody>
          <a:bodyPr/>
          <a:lstStyle/>
          <a:p>
            <a:r>
              <a:rPr lang="en-US" dirty="0"/>
              <a:t>Effective Global Influence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D7EF7-3A10-4E87-5EB0-AE8FA68F5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56232"/>
            <a:ext cx="10058400" cy="15444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Even though the model is local this can emerge when: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Networks are highly connected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Many overlapping neighborhoods leads to global influence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Two-sided local consensus, more realistic social dynamics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00A807-00C2-42B8-8333-223CCFEFD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36917"/>
              </p:ext>
            </p:extLst>
          </p:nvPr>
        </p:nvGraphicFramePr>
        <p:xfrm>
          <a:off x="1069847" y="3614496"/>
          <a:ext cx="10058400" cy="1544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201948887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687072515"/>
                    </a:ext>
                  </a:extLst>
                </a:gridCol>
              </a:tblGrid>
              <a:tr h="15444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Echo Chamber Effect</a:t>
                      </a:r>
                    </a:p>
                    <a:p>
                      <a:pPr algn="ctr"/>
                      <a:endParaRPr lang="en-IN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High Support groups lead to stable competing regions 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Group Reinforcement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Strongly held groups resonate each other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921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334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15724-9A09-EDDA-F5E0-48EDB772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97ED-D2E9-603A-33E9-7B599DFBD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Modified SI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684FD77-7E92-5202-97A4-81D2F28E06D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55751854"/>
                  </p:ext>
                </p:extLst>
              </p:nvPr>
            </p:nvGraphicFramePr>
            <p:xfrm>
              <a:off x="719091" y="2093976"/>
              <a:ext cx="10409284" cy="40782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684FD77-7E92-5202-97A4-81D2F28E06D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55751854"/>
                  </p:ext>
                </p:extLst>
              </p:nvPr>
            </p:nvGraphicFramePr>
            <p:xfrm>
              <a:off x="719091" y="2093976"/>
              <a:ext cx="10409284" cy="40782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177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AB72C-7F1F-41E7-6181-A228047F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7639-5862-A039-3F8E-8016E434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11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Setup: Extension 1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9903F-1F69-A5A4-85DA-9473AD183B4B}"/>
              </a:ext>
            </a:extLst>
          </p:cNvPr>
          <p:cNvSpPr txBox="1"/>
          <p:nvPr/>
        </p:nvSpPr>
        <p:spPr>
          <a:xfrm>
            <a:off x="1260629" y="2093975"/>
            <a:ext cx="5264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Simulation Parameters: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Grid Size - </a:t>
            </a:r>
            <a:r>
              <a:rPr lang="en-US" sz="2400" dirty="0">
                <a:latin typeface="Calibri" pitchFamily="34" charset="0"/>
                <a:cs typeface="Calibri" pitchFamily="34" charset="-120"/>
              </a:rPr>
              <a:t>[5, 10, 15, 20, 25,30]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Features (F) –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Traits per Feature (Q) –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Repetitions -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Termination - 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Absorbing state reached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79AEB1-E41B-CCEC-EBF0-449CEE574E76}"/>
              </a:ext>
            </a:extLst>
          </p:cNvPr>
          <p:cNvSpPr txBox="1"/>
          <p:nvPr/>
        </p:nvSpPr>
        <p:spPr>
          <a:xfrm>
            <a:off x="6525087" y="2093974"/>
            <a:ext cx="5264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Metrics Tracked: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Number of frozen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Largest zone fraction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Events to absorption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Interactions to absorption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cs typeface="Calibri" pitchFamily="34" charset="-120"/>
              </a:rPr>
              <a:t>Zone size distribution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4201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999E-0029-3D7C-E472-E81E0AE7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626675"/>
            <a:ext cx="10058400" cy="1122226"/>
          </a:xfrm>
        </p:spPr>
        <p:txBody>
          <a:bodyPr/>
          <a:lstStyle/>
          <a:p>
            <a:r>
              <a:rPr lang="en-US" dirty="0"/>
              <a:t>Results: Modified SI Model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A9CAE7-6558-130E-8FF3-F9D3D7004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999731"/>
              </p:ext>
            </p:extLst>
          </p:nvPr>
        </p:nvGraphicFramePr>
        <p:xfrm>
          <a:off x="1066801" y="2367280"/>
          <a:ext cx="100583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1723310961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2983196293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95641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Influence Model (Simulations)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Modified SI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18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frozen zones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833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events to 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4.63M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28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interactions to 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280K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275K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75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zones per 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81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033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ECC8-8B4A-2F30-CEE7-AE4ACA910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Extension-1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A760A66-25F4-CCA7-A7A5-5CA0AFCEE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689074"/>
              </p:ext>
            </p:extLst>
          </p:nvPr>
        </p:nvGraphicFramePr>
        <p:xfrm>
          <a:off x="1069848" y="27853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37A04D-9CDE-AFA2-5465-CCAA18DA44BC}"/>
              </a:ext>
            </a:extLst>
          </p:cNvPr>
          <p:cNvSpPr txBox="1"/>
          <p:nvPr/>
        </p:nvSpPr>
        <p:spPr>
          <a:xfrm>
            <a:off x="1069848" y="2093976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 Model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17DFB-AFE7-6DDC-7BDF-C383CADAAC65}"/>
              </a:ext>
            </a:extLst>
          </p:cNvPr>
          <p:cNvSpPr txBox="1"/>
          <p:nvPr/>
        </p:nvSpPr>
        <p:spPr>
          <a:xfrm>
            <a:off x="6550154" y="2135445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Modified SI Model</a:t>
            </a:r>
            <a:endParaRPr lang="en-IN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D4DB78D-FF84-9EA2-0532-1662A6F86E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3875620"/>
              </p:ext>
            </p:extLst>
          </p:nvPr>
        </p:nvGraphicFramePr>
        <p:xfrm>
          <a:off x="6096000" y="278421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6843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A62D-5778-5A50-BA83-2A043F0A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D186-65B0-6BDA-2FE2-B9D63DD8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Extension-1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682B8-FAF2-9A6D-638D-E5AF360C336F}"/>
              </a:ext>
            </a:extLst>
          </p:cNvPr>
          <p:cNvSpPr txBox="1"/>
          <p:nvPr/>
        </p:nvSpPr>
        <p:spPr>
          <a:xfrm>
            <a:off x="1069848" y="2093976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 Model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97C0E-871E-FC30-5841-CE72D7F4982F}"/>
              </a:ext>
            </a:extLst>
          </p:cNvPr>
          <p:cNvSpPr txBox="1"/>
          <p:nvPr/>
        </p:nvSpPr>
        <p:spPr>
          <a:xfrm>
            <a:off x="6550154" y="2135445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Modified SI Model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B58CD82-E6EC-52B7-3A58-4D5BB35758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4088428"/>
              </p:ext>
            </p:extLst>
          </p:nvPr>
        </p:nvGraphicFramePr>
        <p:xfrm>
          <a:off x="6550154" y="29185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A1E9571-0CEA-1674-B343-C2EE59B1C0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1277809"/>
              </p:ext>
            </p:extLst>
          </p:nvPr>
        </p:nvGraphicFramePr>
        <p:xfrm>
          <a:off x="1069846" y="291853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6841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384C8-CB93-233D-29C2-F53D151B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0DC0-5214-421C-4D41-84F3058A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5ED783-F5C0-1E28-9A95-4CE931752B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968288"/>
              </p:ext>
            </p:extLst>
          </p:nvPr>
        </p:nvGraphicFramePr>
        <p:xfrm>
          <a:off x="1063752" y="20939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51BD24E-B041-1826-CB34-7130A11EE1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4612060"/>
              </p:ext>
            </p:extLst>
          </p:nvPr>
        </p:nvGraphicFramePr>
        <p:xfrm>
          <a:off x="6096000" y="20939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6F655C-54F4-723C-FC14-4849B7559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562010"/>
              </p:ext>
            </p:extLst>
          </p:nvPr>
        </p:nvGraphicFramePr>
        <p:xfrm>
          <a:off x="1063752" y="4837176"/>
          <a:ext cx="9604248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4248">
                  <a:extLst>
                    <a:ext uri="{9D8B030D-6E8A-4147-A177-3AD203B41FA5}">
                      <a16:colId xmlns:a16="http://schemas.microsoft.com/office/drawing/2014/main" val="3816476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The first plot tracks both models identically.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en-US" sz="10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b="1" dirty="0"/>
                        <a:t>But in second plot, Modified SI</a:t>
                      </a:r>
                      <a:r>
                        <a:rPr lang="en-US" dirty="0"/>
                        <a:t> model maintains a presence of cultures at much higher interaction counts compared to the standard SI Model.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60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450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339D-E2D8-1834-E2DE-5E3C16D1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6F97-A24E-8CFB-1BD0-F6AA6405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231294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>
                    <a:lumMod val="75000"/>
                  </a:schemeClr>
                </a:solidFill>
                <a:ea typeface="Cambria" pitchFamily="34" charset="-122"/>
                <a:cs typeface="Cambria" pitchFamily="34" charset="-120"/>
              </a:rPr>
              <a:t>Extension 2 –</a:t>
            </a:r>
            <a:br>
              <a:rPr lang="en-US" sz="5400" b="1" u="sng" dirty="0">
                <a:solidFill>
                  <a:schemeClr val="tx1"/>
                </a:solidFill>
                <a:ea typeface="Cambria" pitchFamily="34" charset="-122"/>
                <a:cs typeface="Cambria" pitchFamily="34" charset="-120"/>
              </a:rPr>
            </a:br>
            <a:br>
              <a:rPr lang="en-US" sz="5400" b="1" dirty="0">
                <a:solidFill>
                  <a:schemeClr val="tx1"/>
                </a:solidFill>
                <a:ea typeface="Cambria" pitchFamily="34" charset="-122"/>
                <a:cs typeface="Cambria" pitchFamily="34" charset="-120"/>
              </a:rPr>
            </a:br>
            <a:r>
              <a:rPr lang="en-US" sz="5400" b="1" dirty="0">
                <a:solidFill>
                  <a:schemeClr val="tx1"/>
                </a:solidFill>
                <a:ea typeface="Cambria" pitchFamily="34" charset="-122"/>
                <a:cs typeface="Cambria" pitchFamily="34" charset="-120"/>
              </a:rPr>
              <a:t>Stubborn Agents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282C7-7ACD-41B4-F324-8922D1713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a percentage of agents are unwilling to interact?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44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B3B91-D2C8-F071-E167-535023B9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06817"/>
          </a:xfrm>
        </p:spPr>
        <p:txBody>
          <a:bodyPr>
            <a:normAutofit/>
          </a:bodyPr>
          <a:lstStyle/>
          <a:p>
            <a:r>
              <a:rPr lang="en-US" sz="4400" dirty="0"/>
              <a:t>Extension-2: Stubborn Agents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352CC-3C11-E489-01A3-F6B03DC91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151572"/>
            <a:ext cx="10058400" cy="3020627"/>
          </a:xfrm>
        </p:spPr>
        <p:txBody>
          <a:bodyPr/>
          <a:lstStyle/>
          <a:p>
            <a:pPr marL="0" indent="0">
              <a:buNone/>
            </a:pPr>
            <a:r>
              <a:rPr lang="en-US" sz="2500" dirty="0">
                <a:solidFill>
                  <a:schemeClr val="accent1">
                    <a:lumMod val="75000"/>
                  </a:schemeClr>
                </a:solidFill>
              </a:rPr>
              <a:t>Implementation Details</a:t>
            </a:r>
          </a:p>
          <a:p>
            <a:r>
              <a:rPr lang="en-US" sz="1900" dirty="0"/>
              <a:t>Stubborn agents are selected uniformly at random time t=0</a:t>
            </a:r>
          </a:p>
          <a:p>
            <a:r>
              <a:rPr lang="en-US" sz="1900" dirty="0"/>
              <a:t>They participate normally in interaction selection (events counted)</a:t>
            </a:r>
          </a:p>
          <a:p>
            <a:r>
              <a:rPr lang="en-US" sz="1900" dirty="0"/>
              <a:t>When selected as agent-</a:t>
            </a:r>
            <a:r>
              <a:rPr lang="en-US" sz="1900" dirty="0" err="1"/>
              <a:t>i</a:t>
            </a:r>
            <a:r>
              <a:rPr lang="en-US" sz="1900" dirty="0"/>
              <a:t>: Q = 0 – no trait change</a:t>
            </a:r>
          </a:p>
          <a:p>
            <a:r>
              <a:rPr lang="en-US" sz="1900" dirty="0"/>
              <a:t>When selected as neighbor-j can influence agent-</a:t>
            </a:r>
            <a:r>
              <a:rPr lang="en-US" sz="1900" dirty="0" err="1"/>
              <a:t>i</a:t>
            </a:r>
            <a:r>
              <a:rPr lang="en-US" sz="1900" dirty="0"/>
              <a:t> normally </a:t>
            </a:r>
          </a:p>
          <a:p>
            <a:r>
              <a:rPr lang="en-US" sz="1900" dirty="0"/>
              <a:t>Stubborn fraction varies from 0 to 40%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C06312-7603-47E8-F502-BFB888F00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62000"/>
              </p:ext>
            </p:extLst>
          </p:nvPr>
        </p:nvGraphicFramePr>
        <p:xfrm>
          <a:off x="1063751" y="1614330"/>
          <a:ext cx="10139868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9868">
                  <a:extLst>
                    <a:ext uri="{9D8B030D-6E8A-4147-A177-3AD203B41FA5}">
                      <a16:colId xmlns:a16="http://schemas.microsoft.com/office/drawing/2014/main" val="2211724389"/>
                    </a:ext>
                  </a:extLst>
                </a:gridCol>
              </a:tblGrid>
              <a:tr h="100681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Definition: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stubborn agent has its switching probability Q overridden to 0 — it participates in interactions but never changes its trait values. A fraction p of agents are designated stubborn at initialization.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47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896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85A1-5179-B899-AD9C-FAFF125F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39982"/>
          </a:xfrm>
        </p:spPr>
        <p:txBody>
          <a:bodyPr/>
          <a:lstStyle/>
          <a:p>
            <a:r>
              <a:rPr lang="en-US" dirty="0"/>
              <a:t>Expected Effects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29EB-19A9-F46D-1084-E76673029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Stubborn agents create indestructible single-agent zones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Propagation barriers </a:t>
            </a:r>
            <a:r>
              <a:rPr lang="en-US" dirty="0"/>
              <a:t>– chains of stubborn agents can permanently separate cultural regions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Slow convergence </a:t>
            </a:r>
            <a:r>
              <a:rPr lang="en-US" dirty="0"/>
              <a:t>– or possibly no convergence in some configurations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Increased fragmentation </a:t>
            </a:r>
            <a:r>
              <a:rPr lang="en-US" dirty="0"/>
              <a:t>– more small frozen zones anchored to stubborn structures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1041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C384A-0DD0-23C1-4B33-8761D938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37636"/>
          </a:xfrm>
        </p:spPr>
        <p:txBody>
          <a:bodyPr/>
          <a:lstStyle/>
          <a:p>
            <a:r>
              <a:rPr lang="en-US" dirty="0"/>
              <a:t>Results: Stubborn Agents</a:t>
            </a: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67FA7E8-5D3B-A3C4-5D88-3A230433D2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3262161"/>
              </p:ext>
            </p:extLst>
          </p:nvPr>
        </p:nvGraphicFramePr>
        <p:xfrm>
          <a:off x="1069848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4729E8-FD8F-7F62-1B38-4BE6C27339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8776794"/>
              </p:ext>
            </p:extLst>
          </p:nvPr>
        </p:nvGraphicFramePr>
        <p:xfrm>
          <a:off x="6550152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87160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D478-C91C-A4F5-C553-D0BA490E0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DCE7-D4C7-81B5-C02F-F1B4A2B0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37636"/>
          </a:xfrm>
        </p:spPr>
        <p:txBody>
          <a:bodyPr/>
          <a:lstStyle/>
          <a:p>
            <a:r>
              <a:rPr lang="en-US" dirty="0"/>
              <a:t>Results: Stubborn Agents</a:t>
            </a:r>
            <a:endParaRPr lang="en-IN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EEF68D7-C0B2-391D-69E8-A56432C46A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7055067"/>
              </p:ext>
            </p:extLst>
          </p:nvPr>
        </p:nvGraphicFramePr>
        <p:xfrm>
          <a:off x="1069848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546950E-EB3D-8F14-C101-5B8192A6D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9585503"/>
              </p:ext>
            </p:extLst>
          </p:nvPr>
        </p:nvGraphicFramePr>
        <p:xfrm>
          <a:off x="6550152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19437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73FC-F363-DDE5-1181-078A89258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99780"/>
          </a:xfrm>
        </p:spPr>
        <p:txBody>
          <a:bodyPr/>
          <a:lstStyle/>
          <a:p>
            <a:r>
              <a:rPr lang="en-US" dirty="0"/>
              <a:t>Results: Stubborn Agents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8F827F-D9E0-4B41-AAA1-FED1F3BDE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5823728"/>
              </p:ext>
            </p:extLst>
          </p:nvPr>
        </p:nvGraphicFramePr>
        <p:xfrm>
          <a:off x="1069846" y="2133406"/>
          <a:ext cx="10058399" cy="25911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9647">
                  <a:extLst>
                    <a:ext uri="{9D8B030D-6E8A-4147-A177-3AD203B41FA5}">
                      <a16:colId xmlns:a16="http://schemas.microsoft.com/office/drawing/2014/main" val="2225792420"/>
                    </a:ext>
                  </a:extLst>
                </a:gridCol>
                <a:gridCol w="433393">
                  <a:extLst>
                    <a:ext uri="{9D8B030D-6E8A-4147-A177-3AD203B41FA5}">
                      <a16:colId xmlns:a16="http://schemas.microsoft.com/office/drawing/2014/main" val="4257116438"/>
                    </a:ext>
                  </a:extLst>
                </a:gridCol>
                <a:gridCol w="433393">
                  <a:extLst>
                    <a:ext uri="{9D8B030D-6E8A-4147-A177-3AD203B41FA5}">
                      <a16:colId xmlns:a16="http://schemas.microsoft.com/office/drawing/2014/main" val="1021236130"/>
                    </a:ext>
                  </a:extLst>
                </a:gridCol>
                <a:gridCol w="592757">
                  <a:extLst>
                    <a:ext uri="{9D8B030D-6E8A-4147-A177-3AD203B41FA5}">
                      <a16:colId xmlns:a16="http://schemas.microsoft.com/office/drawing/2014/main" val="896111973"/>
                    </a:ext>
                  </a:extLst>
                </a:gridCol>
                <a:gridCol w="789046">
                  <a:extLst>
                    <a:ext uri="{9D8B030D-6E8A-4147-A177-3AD203B41FA5}">
                      <a16:colId xmlns:a16="http://schemas.microsoft.com/office/drawing/2014/main" val="3910540982"/>
                    </a:ext>
                  </a:extLst>
                </a:gridCol>
                <a:gridCol w="866785">
                  <a:extLst>
                    <a:ext uri="{9D8B030D-6E8A-4147-A177-3AD203B41FA5}">
                      <a16:colId xmlns:a16="http://schemas.microsoft.com/office/drawing/2014/main" val="4052275323"/>
                    </a:ext>
                  </a:extLst>
                </a:gridCol>
                <a:gridCol w="537368">
                  <a:extLst>
                    <a:ext uri="{9D8B030D-6E8A-4147-A177-3AD203B41FA5}">
                      <a16:colId xmlns:a16="http://schemas.microsoft.com/office/drawing/2014/main" val="408556573"/>
                    </a:ext>
                  </a:extLst>
                </a:gridCol>
                <a:gridCol w="981449">
                  <a:extLst>
                    <a:ext uri="{9D8B030D-6E8A-4147-A177-3AD203B41FA5}">
                      <a16:colId xmlns:a16="http://schemas.microsoft.com/office/drawing/2014/main" val="51897403"/>
                    </a:ext>
                  </a:extLst>
                </a:gridCol>
                <a:gridCol w="791961">
                  <a:extLst>
                    <a:ext uri="{9D8B030D-6E8A-4147-A177-3AD203B41FA5}">
                      <a16:colId xmlns:a16="http://schemas.microsoft.com/office/drawing/2014/main" val="1612519841"/>
                    </a:ext>
                  </a:extLst>
                </a:gridCol>
                <a:gridCol w="752121">
                  <a:extLst>
                    <a:ext uri="{9D8B030D-6E8A-4147-A177-3AD203B41FA5}">
                      <a16:colId xmlns:a16="http://schemas.microsoft.com/office/drawing/2014/main" val="2717890835"/>
                    </a:ext>
                  </a:extLst>
                </a:gridCol>
                <a:gridCol w="667580">
                  <a:extLst>
                    <a:ext uri="{9D8B030D-6E8A-4147-A177-3AD203B41FA5}">
                      <a16:colId xmlns:a16="http://schemas.microsoft.com/office/drawing/2014/main" val="3311697551"/>
                    </a:ext>
                  </a:extLst>
                </a:gridCol>
                <a:gridCol w="793905">
                  <a:extLst>
                    <a:ext uri="{9D8B030D-6E8A-4147-A177-3AD203B41FA5}">
                      <a16:colId xmlns:a16="http://schemas.microsoft.com/office/drawing/2014/main" val="1980471581"/>
                    </a:ext>
                  </a:extLst>
                </a:gridCol>
                <a:gridCol w="981449">
                  <a:extLst>
                    <a:ext uri="{9D8B030D-6E8A-4147-A177-3AD203B41FA5}">
                      <a16:colId xmlns:a16="http://schemas.microsoft.com/office/drawing/2014/main" val="1303440060"/>
                    </a:ext>
                  </a:extLst>
                </a:gridCol>
                <a:gridCol w="737545">
                  <a:extLst>
                    <a:ext uri="{9D8B030D-6E8A-4147-A177-3AD203B41FA5}">
                      <a16:colId xmlns:a16="http://schemas.microsoft.com/office/drawing/2014/main" val="874558738"/>
                    </a:ext>
                  </a:extLst>
                </a:gridCol>
              </a:tblGrid>
              <a:tr h="7368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epsilon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Q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F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alpha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stability-window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stubborn-fraction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grid-size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interaction-rate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number-of-regions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unique-cultures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active-links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event-count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interaction-count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largest-region-fraction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899615387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0.001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0.0949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303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270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779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1797000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170726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0.0668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566623486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0.001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0.08475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430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407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854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1748000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148416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0.0297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411045848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0.001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0.071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503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488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826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1566000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111289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0.0204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94955238"/>
                  </a:ext>
                </a:extLst>
              </a:tr>
              <a:tr h="463585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0.001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0.4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30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0.0571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571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561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795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1442000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>
                          <a:effectLst/>
                        </a:rPr>
                        <a:t>82482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0" dirty="0">
                          <a:effectLst/>
                        </a:rPr>
                        <a:t>0.0144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242603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87357E-7BEE-3E20-DF5E-79DB1C4B7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354331"/>
              </p:ext>
            </p:extLst>
          </p:nvPr>
        </p:nvGraphicFramePr>
        <p:xfrm>
          <a:off x="1069846" y="5073587"/>
          <a:ext cx="100583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399">
                  <a:extLst>
                    <a:ext uri="{9D8B030D-6E8A-4147-A177-3AD203B41FA5}">
                      <a16:colId xmlns:a16="http://schemas.microsoft.com/office/drawing/2014/main" val="30645755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dirty="0"/>
                        <a:t>The diversity of society is directly proportional to the ration of stubborn agents.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166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25798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BC1A-F00D-5274-C734-F4E4E156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11003"/>
          </a:xfrm>
        </p:spPr>
        <p:txBody>
          <a:bodyPr/>
          <a:lstStyle/>
          <a:p>
            <a:r>
              <a:rPr lang="en-US" dirty="0"/>
              <a:t>Comparative Observations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036320-43AE-86B1-D1A9-F412A6542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849824"/>
              </p:ext>
            </p:extLst>
          </p:nvPr>
        </p:nvGraphicFramePr>
        <p:xfrm>
          <a:off x="1069848" y="1826259"/>
          <a:ext cx="10058400" cy="351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89936405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2457133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54726511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350720738"/>
                    </a:ext>
                  </a:extLst>
                </a:gridCol>
              </a:tblGrid>
              <a:tr h="1003578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Axelrod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Social Influence Model (Simulations)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Modified SI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884457"/>
                  </a:ext>
                </a:extLst>
              </a:tr>
              <a:tr h="4070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frozen zones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80070"/>
                  </a:ext>
                </a:extLst>
              </a:tr>
              <a:tr h="702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events to 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4.63M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83809"/>
                  </a:ext>
                </a:extLst>
              </a:tr>
              <a:tr h="702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interactions to absorption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1.8M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280K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275K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937260"/>
                  </a:ext>
                </a:extLst>
              </a:tr>
              <a:tr h="702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3A4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Single-agent zones per run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49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9120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A0CB-0E08-51B8-3CD2-7B4E9237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89061"/>
          </a:xfrm>
        </p:spPr>
        <p:txBody>
          <a:bodyPr>
            <a:normAutofit/>
          </a:bodyPr>
          <a:lstStyle/>
          <a:p>
            <a:r>
              <a:rPr lang="en-IN" sz="3600" dirty="0"/>
              <a:t>Real-World Implications and Parallels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ECFF3-1B5C-7D9D-B762-20027A944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99033"/>
            <a:ext cx="4549717" cy="4473167"/>
          </a:xfrm>
        </p:spPr>
        <p:txBody>
          <a:bodyPr/>
          <a:lstStyle/>
          <a:p>
            <a:r>
              <a:rPr lang="en-IN" dirty="0"/>
              <a:t>Political polarization</a:t>
            </a:r>
          </a:p>
          <a:p>
            <a:pPr lvl="1"/>
            <a:r>
              <a:rPr lang="en-IN" dirty="0"/>
              <a:t>Red States </a:t>
            </a:r>
          </a:p>
          <a:p>
            <a:pPr lvl="1"/>
            <a:r>
              <a:rPr lang="en-IN" dirty="0"/>
              <a:t>Blue States</a:t>
            </a:r>
          </a:p>
          <a:p>
            <a:pPr lvl="1"/>
            <a:r>
              <a:rPr lang="en-IN" dirty="0"/>
              <a:t>Swing States</a:t>
            </a:r>
          </a:p>
          <a:p>
            <a:r>
              <a:rPr lang="en-IN" dirty="0"/>
              <a:t>Political polarization can be associated with SI logic. Local reinforcement of opinions.</a:t>
            </a:r>
          </a:p>
          <a:p>
            <a:r>
              <a:rPr lang="en-IN" dirty="0"/>
              <a:t>Also some form of stubbornness is included.</a:t>
            </a:r>
          </a:p>
          <a:p>
            <a:pPr marL="274320" lvl="1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1032" name="Picture 8" descr="Electoral Map with 8 swing states. Based on polling in late August, 2024">
            <a:extLst>
              <a:ext uri="{FF2B5EF4-FFF2-40B4-BE49-F238E27FC236}">
                <a16:creationId xmlns:a16="http://schemas.microsoft.com/office/drawing/2014/main" id="{9BA97741-F7B9-C4DE-3D65-4D96C0C28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254" y="1699033"/>
            <a:ext cx="5362898" cy="345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01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07E4-134D-37E3-7217-B5F107789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13B2-342C-CA3D-4E83-0497B120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89061"/>
          </a:xfrm>
        </p:spPr>
        <p:txBody>
          <a:bodyPr>
            <a:normAutofit/>
          </a:bodyPr>
          <a:lstStyle/>
          <a:p>
            <a:r>
              <a:rPr lang="en-IN" sz="3600" dirty="0"/>
              <a:t>Real-World Implications and Parallels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ADC71-650A-F7AF-CEE3-E06381D34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06353"/>
            <a:ext cx="5026152" cy="41658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Global Trend - </a:t>
            </a:r>
            <a:r>
              <a:rPr lang="en-IN" dirty="0" err="1"/>
              <a:t>Labubu</a:t>
            </a:r>
            <a:r>
              <a:rPr lang="en-IN" dirty="0"/>
              <a:t> Doll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IN" sz="6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dirty="0"/>
              <a:t>Many overlapping neighborhoods leads to global influence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Spread of information similar to ripples</a:t>
            </a:r>
          </a:p>
          <a:p>
            <a:pPr marL="274320" lvl="1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The Modified SI model describes how the local changes results in global cascades.</a:t>
            </a:r>
          </a:p>
        </p:txBody>
      </p:sp>
      <p:pic>
        <p:nvPicPr>
          <p:cNvPr id="2050" name="Picture 2" descr="Pop Mart LABUBU The Monsters Fall In Wild Vinyl Plush Doll">
            <a:extLst>
              <a:ext uri="{FF2B5EF4-FFF2-40B4-BE49-F238E27FC236}">
                <a16:creationId xmlns:a16="http://schemas.microsoft.com/office/drawing/2014/main" id="{01625915-64F9-AC31-7F11-1A2A248E2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852" y="2006353"/>
            <a:ext cx="4051300" cy="405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267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176B3-030E-7F62-7FBB-FD8ED74E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71306"/>
          </a:xfrm>
        </p:spPr>
        <p:txBody>
          <a:bodyPr>
            <a:normAutofit/>
          </a:bodyPr>
          <a:lstStyle/>
          <a:p>
            <a:r>
              <a:rPr lang="en-IN" sz="3600" dirty="0"/>
              <a:t>Real-World Implications and Parallels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EAEB6-69CB-37BB-5B43-2C8939DFF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11045"/>
            <a:ext cx="10058400" cy="43611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study compiled by the </a:t>
            </a:r>
            <a:r>
              <a:rPr lang="en-US" i="1" dirty="0"/>
              <a:t>Wall Street Journal found that “</a:t>
            </a:r>
            <a:r>
              <a:rPr lang="en-US" b="1" dirty="0"/>
              <a:t>people living near lottery winners are significantly more likely to file for bankruptcy</a:t>
            </a:r>
            <a:r>
              <a:rPr lang="en-US" dirty="0"/>
              <a:t> ” due to social pressure to "keep up with the Joneses”.  (SI Model)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9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2007 study by Nicholas Christakis and James Fowler, published in the </a:t>
            </a:r>
            <a:r>
              <a:rPr lang="en-US" i="1" dirty="0"/>
              <a:t>New England Journal of Medicine</a:t>
            </a:r>
            <a:r>
              <a:rPr lang="en-US" dirty="0"/>
              <a:t>, analyzed data from the </a:t>
            </a:r>
            <a:r>
              <a:rPr lang="en-US" b="1" dirty="0"/>
              <a:t>Framingham Heart Study to </a:t>
            </a:r>
            <a:r>
              <a:rPr lang="en-US" dirty="0"/>
              <a:t>concluded that obesity spreads through social ties, with clusters of obese individuals extending up to </a:t>
            </a:r>
            <a:r>
              <a:rPr lang="en-US" b="1" dirty="0"/>
              <a:t>three degrees of separation. </a:t>
            </a:r>
            <a:r>
              <a:rPr lang="en-US" dirty="0"/>
              <a:t>(Modified SI Model)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9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Religious beliefs remain stable for centuries, </a:t>
            </a:r>
            <a:r>
              <a:rPr lang="en-IN" dirty="0"/>
              <a:t>even with globalization. (Multiple Models explains its effects)</a:t>
            </a:r>
          </a:p>
        </p:txBody>
      </p:sp>
    </p:spTree>
    <p:extLst>
      <p:ext uri="{BB962C8B-B14F-4D97-AF65-F5344CB8AC3E}">
        <p14:creationId xmlns:p14="http://schemas.microsoft.com/office/powerpoint/2010/main" val="2165240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0A29-7953-6724-56F6-DF7D01AC6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1DEFE-5FEF-100B-3488-0D1D6948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Does extension 1 slow down convergence?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Does it produce more stable competing cultural regions?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Does fragmentation increase beyond baseline SI model?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How do we compare across Axelrod, SI model, Extension 1 and Extension 2?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115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A516-8E19-313D-6DCF-7B2EBB69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37636"/>
          </a:xfrm>
        </p:spPr>
        <p:txBody>
          <a:bodyPr/>
          <a:lstStyle/>
          <a:p>
            <a:r>
              <a:rPr lang="en-US" dirty="0"/>
              <a:t>Conclusions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F2F67-4211-E314-30A6-473639628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22268"/>
            <a:ext cx="10058400" cy="2911876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Axelrod and Social Influence models, confirming heterogeneity amplification via neighborhood-based switching probability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Influence creates robust zones through a competition between dominant-regions effect and zone resistance to boundary infiltration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1 (Dual-Support) introduces group-level competing consensus — a novel mechanism explaining echo chambers and polarization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Extension2 (Stubborn Agents) increase fragmentation and can prevent convergence — modeling committed minorities in polarized systems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684413-5C45-64A3-3BE0-8FFEAE7F4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272239"/>
              </p:ext>
            </p:extLst>
          </p:nvPr>
        </p:nvGraphicFramePr>
        <p:xfrm>
          <a:off x="1063752" y="4634144"/>
          <a:ext cx="1005839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398">
                  <a:extLst>
                    <a:ext uri="{9D8B030D-6E8A-4147-A177-3AD203B41FA5}">
                      <a16:colId xmlns:a16="http://schemas.microsoft.com/office/drawing/2014/main" val="390905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Insight:</a:t>
                      </a:r>
                    </a:p>
                    <a:p>
                      <a:r>
                        <a:rPr lang="en-US" sz="2000" b="0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caring about your neighbors' opinions ultimately preserves diversity.</a:t>
                      </a:r>
                      <a:endParaRPr lang="en-IN" sz="2000" b="0" i="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0916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761FAF-58AD-A53C-00F0-D18EA9A69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945706"/>
              </p:ext>
            </p:extLst>
          </p:nvPr>
        </p:nvGraphicFramePr>
        <p:xfrm>
          <a:off x="1063751" y="5407076"/>
          <a:ext cx="100583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399">
                  <a:extLst>
                    <a:ext uri="{9D8B030D-6E8A-4147-A177-3AD203B41FA5}">
                      <a16:colId xmlns:a16="http://schemas.microsoft.com/office/drawing/2014/main" val="1767442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 Model explain why minorities survive and diversity exists.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87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775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272B-9A33-2AC0-A725-1B6A5DE9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042327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35A0D-4C21-25D3-6751-A7E0FB308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Nguyen, N., Chen, H., Jin, B., Quinn, W., Tyler, C., &amp; Landsberg, A. (2021). Cultural Dissemination: An Agent-Based Model with Social Influence. Journal of Artificial Societies and Social Simulation, 24(4)5. DOI: 10.18564/jasss.4633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Axelrod, R. (1997). The dissemination of culture: A model with local convergence and global polarization. Journal of Conflict Resolution, 41(2), 203–226.</a:t>
            </a:r>
          </a:p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Hegselmann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R. &amp; Krause, U. (2002). Opinion dynamics and bounded confidence. Journal of Artificial Societies and Social Simulation, 5(3), 2.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/>
          </a:p>
          <a:p>
            <a:r>
              <a:rPr lang="en-US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code: https://www.comses.net/codebases/dda2d2ac-0cf9-46f6-a213-e0a9a30378ed/releases/1.0.0/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885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2530</TotalTime>
  <Words>1857</Words>
  <Application>Microsoft Office PowerPoint</Application>
  <PresentationFormat>Widescreen</PresentationFormat>
  <Paragraphs>415</Paragraphs>
  <Slides>39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Arial Black</vt:lpstr>
      <vt:lpstr>Calibri</vt:lpstr>
      <vt:lpstr>Cambria</vt:lpstr>
      <vt:lpstr>Cambria Math</vt:lpstr>
      <vt:lpstr>Wingdings</vt:lpstr>
      <vt:lpstr>Wood Type</vt:lpstr>
      <vt:lpstr>Cultural Dissemination: An Agent-Based Model with Social Influence and Extended Interaction Rules</vt:lpstr>
      <vt:lpstr>Why Study Cultural Dissemination?</vt:lpstr>
      <vt:lpstr>Background: The Axelrod Model (1997) </vt:lpstr>
      <vt:lpstr>The Axelrod Model</vt:lpstr>
      <vt:lpstr>Limitations of the Axelrod Model</vt:lpstr>
      <vt:lpstr>Results</vt:lpstr>
      <vt:lpstr>Social Influence Model (Baseline)</vt:lpstr>
      <vt:lpstr>Algorithm</vt:lpstr>
      <vt:lpstr>Experimental Setup</vt:lpstr>
      <vt:lpstr>Replication Results</vt:lpstr>
      <vt:lpstr>Observations</vt:lpstr>
      <vt:lpstr>Heterogeneity and lattice size</vt:lpstr>
      <vt:lpstr>Influencing Factors</vt:lpstr>
      <vt:lpstr>Behavior Analysis</vt:lpstr>
      <vt:lpstr>Highlights</vt:lpstr>
      <vt:lpstr>Observations</vt:lpstr>
      <vt:lpstr>Extension 1 –  Modified Social Influence: Dual-Support Rule</vt:lpstr>
      <vt:lpstr>Inspiration</vt:lpstr>
      <vt:lpstr>New Interaction Rule</vt:lpstr>
      <vt:lpstr>Effective Global Influence</vt:lpstr>
      <vt:lpstr>Algorithm: Modified SI Model</vt:lpstr>
      <vt:lpstr>Experimental Setup: Extension 1</vt:lpstr>
      <vt:lpstr>Results: Modified SI Model</vt:lpstr>
      <vt:lpstr>Results: Extension-1</vt:lpstr>
      <vt:lpstr>Results: Extension-1</vt:lpstr>
      <vt:lpstr>Observations</vt:lpstr>
      <vt:lpstr>Extension 2 –  Stubborn Agents</vt:lpstr>
      <vt:lpstr>Extension-2: Stubborn Agents</vt:lpstr>
      <vt:lpstr>Expected Effects</vt:lpstr>
      <vt:lpstr>Results: Stubborn Agents</vt:lpstr>
      <vt:lpstr>Results: Stubborn Agents</vt:lpstr>
      <vt:lpstr>Results: Stubborn Agents</vt:lpstr>
      <vt:lpstr>Comparative Observations</vt:lpstr>
      <vt:lpstr>Real-World Implications and Parallels</vt:lpstr>
      <vt:lpstr>Real-World Implications and Parallels</vt:lpstr>
      <vt:lpstr>Real-World Implications and Parallels</vt:lpstr>
      <vt:lpstr>Questions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venkatasriraj.m@outlook.com</dc:creator>
  <cp:lastModifiedBy>venkatasriraj.m@outlook.com</cp:lastModifiedBy>
  <cp:revision>18</cp:revision>
  <dcterms:created xsi:type="dcterms:W3CDTF">2026-03-22T15:34:47Z</dcterms:created>
  <dcterms:modified xsi:type="dcterms:W3CDTF">2026-04-13T10:00:07Z</dcterms:modified>
</cp:coreProperties>
</file>